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Je m’appelle Roland DJAGBA. Merci pour votre présence à cette réunion de cadrage. L’objectif est de clarifier ensemble le périmètre de la mission, la méthode, les rôles, les livrables et les prochaines étapes avec la HAUQE et GFA.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réunion n’a pas pour but de tout redire en détail. Elle sert à aligner les parties sur ce qui doit être fait, comment, par qui, avec quels livrables et selon quel calendrier.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n’est pas seulement informatique. Il est aussi organisationnel : il faut une information fiable, un modèle commun et un mécanisme de contrôle qui permet à la HAUQE d’agir rapidement.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vision est de dépasser l’archivage. Le système doit permettre de collecter, contrôler, suivre et produire des informations utiles à la décision.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 l’idée principale est simple : R1.3.5 construit l’outil ; R1.4.3 l’utilise pour sécuriser le contrôle. Les deux activités ne doivent pas être traitées séparément.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activité porte sur la construction technique et fonctionnelle de la base. Le résultat attendu est une application web structurée, exploitable et évolutive.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activité donne à la HAUQE les outils de contrôle : collecte, vérification, harmonisation, scoring et suivi. Elle s’appuie directement sur la base créée dans R1.3.5.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est volontairement progressive : cadrer, développer, outiller, intégrer, suivre, former. Les validations intermédiaires évitent les reprises tardives.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bien insister sur le fait que l’expert apporte l’appui technique, mais la réussite dépend de la disponibilité des informations, de la validation par la HAUQE et du suivi coordonné par GFA.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calendrier a été clarifié pour rester cohérent avec les 25 Homme/Jour. Les 6 jours terrain sont ciblés sur cadrage, outils, intégration et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fusionne livrables et résultats pour éviter les répétitions. Les livrables sont les produits ; les résultats sont les changements attendus pour la HAUQE.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l’objectif est d’obtenir les validations nécessaires et de sécuriser la collaboration. Je suis disponible pour intégrer les observations afin que l’outil soit utile, utilisable et durable.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B2848"/>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2848"/>
          </a:solidFill>
          <a:ln w="12700">
            <a:solidFill>
              <a:srgbClr val="0B2848">
                <a:alpha val="0"/>
              </a:srgbClr>
            </a:solidFill>
            <a:prstDash val="solid"/>
          </a:ln>
        </p:spPr>
      </p:sp>
      <p:sp>
        <p:nvSpPr>
          <p:cNvPr id="3" name="Shape 1"/>
          <p:cNvSpPr/>
          <p:nvPr/>
        </p:nvSpPr>
        <p:spPr>
          <a:xfrm>
            <a:off x="0" y="6711696"/>
            <a:ext cx="12191695" cy="146304"/>
          </a:xfrm>
          <a:prstGeom prst="rect">
            <a:avLst/>
          </a:prstGeom>
          <a:solidFill>
            <a:srgbClr val="00B7A8"/>
          </a:solidFill>
          <a:ln w="12700">
            <a:solidFill>
              <a:srgbClr val="00B7A8">
                <a:alpha val="0"/>
              </a:srgbClr>
            </a:solidFill>
            <a:prstDash val="solid"/>
          </a:ln>
        </p:spPr>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11480" y="457200"/>
            <a:ext cx="4937760" cy="274320"/>
          </a:xfrm>
          <a:prstGeom prst="rect">
            <a:avLst/>
          </a:prstGeom>
          <a:noFill/>
          <a:ln/>
        </p:spPr>
        <p:txBody>
          <a:bodyPr wrap="square" lIns="0" tIns="0" rIns="0" bIns="0" rtlCol="0" anchor="ctr"/>
          <a:lstStyle/>
          <a:p>
            <a:pPr indent="0" marL="0">
              <a:buNone/>
            </a:pPr>
            <a:r>
              <a:rPr lang="en-US" sz="1100" b="1" dirty="0">
                <a:solidFill>
                  <a:srgbClr val="00B7A8"/>
                </a:solidFill>
                <a:latin typeface="Aptos" pitchFamily="34" charset="0"/>
                <a:ea typeface="Aptos" pitchFamily="34" charset="-122"/>
                <a:cs typeface="Aptos" pitchFamily="34" charset="-120"/>
              </a:rPr>
              <a:t>RÉUNION DE CADRAGE</a:t>
            </a:r>
            <a:endParaRPr lang="en-US" sz="1100" dirty="0"/>
          </a:p>
        </p:txBody>
      </p:sp>
      <p:sp>
        <p:nvSpPr>
          <p:cNvPr id="3" name="Text 1"/>
          <p:cNvSpPr/>
          <p:nvPr/>
        </p:nvSpPr>
        <p:spPr>
          <a:xfrm>
            <a:off x="411480" y="758952"/>
            <a:ext cx="4754880" cy="228600"/>
          </a:xfrm>
          <a:prstGeom prst="rect">
            <a:avLst/>
          </a:prstGeom>
          <a:noFill/>
          <a:ln/>
        </p:spPr>
        <p:txBody>
          <a:bodyPr wrap="square" lIns="0" tIns="0" rIns="0" bIns="0" rtlCol="0" anchor="ctr"/>
          <a:lstStyle/>
          <a:p>
            <a:pPr indent="0" marL="0">
              <a:buNone/>
            </a:pPr>
            <a:r>
              <a:rPr lang="en-US" sz="1000" b="1" dirty="0">
                <a:solidFill>
                  <a:srgbClr val="DCE8F4"/>
                </a:solidFill>
                <a:latin typeface="Aptos" pitchFamily="34" charset="0"/>
                <a:ea typeface="Aptos" pitchFamily="34" charset="-122"/>
                <a:cs typeface="Aptos" pitchFamily="34" charset="-120"/>
              </a:rPr>
              <a:t>Activités R1.3.5 &amp; R1.4.3</a:t>
            </a:r>
            <a:endParaRPr lang="en-US" sz="1000" dirty="0"/>
          </a:p>
        </p:txBody>
      </p:sp>
      <p:sp>
        <p:nvSpPr>
          <p:cNvPr id="4" name="Text 2"/>
          <p:cNvSpPr/>
          <p:nvPr/>
        </p:nvSpPr>
        <p:spPr>
          <a:xfrm>
            <a:off x="411480" y="1417320"/>
            <a:ext cx="5852160" cy="141732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Développement de la base de données</a:t>
            </a:r>
            <a:endParaRPr lang="en-US" sz="2800" dirty="0"/>
          </a:p>
          <a:p>
            <a:pPr indent="0" marL="0">
              <a:buNone/>
            </a:pPr>
            <a:r>
              <a:rPr lang="en-US" sz="2800" b="1" dirty="0">
                <a:solidFill>
                  <a:srgbClr val="FFFFFF"/>
                </a:solidFill>
                <a:latin typeface="Aptos Display" pitchFamily="34" charset="0"/>
                <a:ea typeface="Aptos Display" pitchFamily="34" charset="-122"/>
                <a:cs typeface="Aptos Display" pitchFamily="34" charset="-120"/>
              </a:rPr>
              <a:t>des entreprises certifiées et appui</a:t>
            </a:r>
            <a:endParaRPr lang="en-US" sz="2800" dirty="0"/>
          </a:p>
          <a:p>
            <a:pPr indent="0" marL="0">
              <a:buNone/>
            </a:pPr>
            <a:r>
              <a:rPr lang="en-US" sz="2800" b="1" dirty="0">
                <a:solidFill>
                  <a:srgbClr val="FFFFFF"/>
                </a:solidFill>
                <a:latin typeface="Aptos Display" pitchFamily="34" charset="0"/>
                <a:ea typeface="Aptos Display" pitchFamily="34" charset="-122"/>
                <a:cs typeface="Aptos Display" pitchFamily="34" charset="-120"/>
              </a:rPr>
              <a:t>au contrôle des certifications</a:t>
            </a:r>
            <a:endParaRPr lang="en-US" sz="2800" dirty="0"/>
          </a:p>
        </p:txBody>
      </p:sp>
      <p:sp>
        <p:nvSpPr>
          <p:cNvPr id="5" name="Shape 3"/>
          <p:cNvSpPr/>
          <p:nvPr/>
        </p:nvSpPr>
        <p:spPr>
          <a:xfrm>
            <a:off x="411480" y="3383280"/>
            <a:ext cx="5074920" cy="0"/>
          </a:xfrm>
          <a:prstGeom prst="line">
            <a:avLst/>
          </a:prstGeom>
          <a:noFill/>
          <a:ln w="16510">
            <a:solidFill>
              <a:srgbClr val="00B7A8"/>
            </a:solidFill>
            <a:prstDash val="solid"/>
          </a:ln>
        </p:spPr>
      </p:sp>
      <p:sp>
        <p:nvSpPr>
          <p:cNvPr id="6" name="Text 4"/>
          <p:cNvSpPr/>
          <p:nvPr/>
        </p:nvSpPr>
        <p:spPr>
          <a:xfrm>
            <a:off x="411480" y="3703320"/>
            <a:ext cx="2926080" cy="256032"/>
          </a:xfrm>
          <a:prstGeom prst="rect">
            <a:avLst/>
          </a:prstGeom>
          <a:noFill/>
          <a:ln/>
        </p:spPr>
        <p:txBody>
          <a:bodyPr wrap="square" lIns="0" tIns="0" rIns="0" bIns="0" rtlCol="0" anchor="ctr"/>
          <a:lstStyle/>
          <a:p>
            <a:pPr indent="0" marL="0">
              <a:buNone/>
            </a:pPr>
            <a:r>
              <a:rPr lang="en-US" sz="1400" b="1" dirty="0">
                <a:solidFill>
                  <a:srgbClr val="FFFFFF"/>
                </a:solidFill>
                <a:latin typeface="Aptos" pitchFamily="34" charset="0"/>
                <a:ea typeface="Aptos" pitchFamily="34" charset="-122"/>
                <a:cs typeface="Aptos" pitchFamily="34" charset="-120"/>
              </a:rPr>
              <a:t>Roland DJAGBA</a:t>
            </a:r>
            <a:endParaRPr lang="en-US" sz="1400" dirty="0"/>
          </a:p>
        </p:txBody>
      </p:sp>
      <p:sp>
        <p:nvSpPr>
          <p:cNvPr id="7" name="Text 5"/>
          <p:cNvSpPr/>
          <p:nvPr/>
        </p:nvSpPr>
        <p:spPr>
          <a:xfrm>
            <a:off x="411480" y="3986784"/>
            <a:ext cx="5212080" cy="219456"/>
          </a:xfrm>
          <a:prstGeom prst="rect">
            <a:avLst/>
          </a:prstGeom>
          <a:noFill/>
          <a:ln/>
        </p:spPr>
        <p:txBody>
          <a:bodyPr wrap="square" lIns="0" tIns="0" rIns="0" bIns="0" rtlCol="0" anchor="ctr"/>
          <a:lstStyle/>
          <a:p>
            <a:pPr indent="0" marL="0">
              <a:buNone/>
            </a:pPr>
            <a:r>
              <a:rPr lang="en-US" sz="850" dirty="0">
                <a:solidFill>
                  <a:srgbClr val="DCE8F4"/>
                </a:solidFill>
                <a:latin typeface="Aptos" pitchFamily="34" charset="0"/>
                <a:ea typeface="Aptos" pitchFamily="34" charset="-122"/>
                <a:cs typeface="Aptos" pitchFamily="34" charset="-120"/>
              </a:rPr>
              <a:t>Expert en Développement de Bases de Données &amp; Systèmes d’Information</a:t>
            </a:r>
            <a:endParaRPr lang="en-US" sz="850" dirty="0"/>
          </a:p>
        </p:txBody>
      </p:sp>
      <p:sp>
        <p:nvSpPr>
          <p:cNvPr id="8" name="Text 6"/>
          <p:cNvSpPr/>
          <p:nvPr/>
        </p:nvSpPr>
        <p:spPr>
          <a:xfrm>
            <a:off x="411480" y="4315968"/>
            <a:ext cx="4663440" cy="219456"/>
          </a:xfrm>
          <a:prstGeom prst="rect">
            <a:avLst/>
          </a:prstGeom>
          <a:noFill/>
          <a:ln/>
        </p:spPr>
        <p:txBody>
          <a:bodyPr wrap="square" lIns="0" tIns="0" rIns="0" bIns="0" rtlCol="0" anchor="ctr"/>
          <a:lstStyle/>
          <a:p>
            <a:pPr indent="0" marL="0">
              <a:buNone/>
            </a:pPr>
            <a:r>
              <a:rPr lang="en-US" sz="1000" dirty="0">
                <a:solidFill>
                  <a:srgbClr val="DCE8F4"/>
                </a:solidFill>
                <a:latin typeface="Aptos" pitchFamily="34" charset="0"/>
                <a:ea typeface="Aptos" pitchFamily="34" charset="-122"/>
                <a:cs typeface="Aptos" pitchFamily="34" charset="-120"/>
              </a:rPr>
              <a:t>Juillet — Août 2026  —  Lomé, Togo</a:t>
            </a:r>
            <a:endParaRPr lang="en-US" sz="1000" dirty="0"/>
          </a:p>
        </p:txBody>
      </p:sp>
      <p:sp>
        <p:nvSpPr>
          <p:cNvPr id="9" name="Shape 7"/>
          <p:cNvSpPr/>
          <p:nvPr/>
        </p:nvSpPr>
        <p:spPr>
          <a:xfrm>
            <a:off x="7452360" y="777240"/>
            <a:ext cx="3246120" cy="4297680"/>
          </a:xfrm>
          <a:prstGeom prst="roundRect">
            <a:avLst>
              <a:gd name="adj" fmla="val 1690"/>
            </a:avLst>
          </a:prstGeom>
          <a:solidFill>
            <a:srgbClr val="0F335D"/>
          </a:solidFill>
          <a:ln w="12700">
            <a:solidFill>
              <a:srgbClr val="00B7A8"/>
            </a:solidFill>
            <a:prstDash val="solid"/>
          </a:ln>
        </p:spPr>
      </p:sp>
      <p:sp>
        <p:nvSpPr>
          <p:cNvPr id="10" name="Shape 8"/>
          <p:cNvSpPr/>
          <p:nvPr/>
        </p:nvSpPr>
        <p:spPr>
          <a:xfrm>
            <a:off x="7726680" y="1051560"/>
            <a:ext cx="2697480" cy="384048"/>
          </a:xfrm>
          <a:prstGeom prst="roundRect">
            <a:avLst>
              <a:gd name="adj" fmla="val 11905"/>
            </a:avLst>
          </a:prstGeom>
          <a:solidFill>
            <a:srgbClr val="00B7A8"/>
          </a:solidFill>
          <a:ln w="12700">
            <a:solidFill>
              <a:srgbClr val="00B7A8">
                <a:alpha val="0"/>
              </a:srgbClr>
            </a:solidFill>
            <a:prstDash val="solid"/>
          </a:ln>
        </p:spPr>
      </p:sp>
      <p:sp>
        <p:nvSpPr>
          <p:cNvPr id="11" name="Text 9"/>
          <p:cNvSpPr/>
          <p:nvPr/>
        </p:nvSpPr>
        <p:spPr>
          <a:xfrm>
            <a:off x="7836408" y="1097280"/>
            <a:ext cx="247802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CADRE DE LA MISSION</a:t>
            </a:r>
            <a:endParaRPr lang="en-US" sz="1100" dirty="0"/>
          </a:p>
        </p:txBody>
      </p:sp>
      <p:sp>
        <p:nvSpPr>
          <p:cNvPr id="12" name="Text 10"/>
          <p:cNvSpPr/>
          <p:nvPr/>
        </p:nvSpPr>
        <p:spPr>
          <a:xfrm>
            <a:off x="7818120" y="1627632"/>
            <a:ext cx="2331720" cy="292608"/>
          </a:xfrm>
          <a:prstGeom prst="rect">
            <a:avLst/>
          </a:prstGeom>
          <a:noFill/>
          <a:ln/>
        </p:spPr>
        <p:txBody>
          <a:bodyPr wrap="square" lIns="635" tIns="635" rIns="635" bIns="635"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HAUQE – GFA</a:t>
            </a:r>
            <a:endParaRPr lang="en-US" sz="1400" dirty="0"/>
          </a:p>
        </p:txBody>
      </p:sp>
      <p:sp>
        <p:nvSpPr>
          <p:cNvPr id="13" name="Text 11"/>
          <p:cNvSpPr/>
          <p:nvPr/>
        </p:nvSpPr>
        <p:spPr>
          <a:xfrm>
            <a:off x="7818120" y="2240280"/>
            <a:ext cx="2331720" cy="219456"/>
          </a:xfrm>
          <a:prstGeom prst="rect">
            <a:avLst/>
          </a:prstGeom>
          <a:noFill/>
          <a:ln/>
        </p:spPr>
        <p:txBody>
          <a:bodyPr wrap="square" lIns="635" tIns="635" rIns="635" bIns="635" rtlCol="0" anchor="ctr">
            <a:normAutofit/>
          </a:bodyPr>
          <a:lstStyle/>
          <a:p>
            <a:pPr algn="l" indent="0" marL="0">
              <a:buNone/>
            </a:pPr>
            <a:r>
              <a:rPr lang="en-US" sz="800" b="1" dirty="0">
                <a:solidFill>
                  <a:srgbClr val="00B7A8"/>
                </a:solidFill>
                <a:latin typeface="Aptos" pitchFamily="34" charset="0"/>
                <a:ea typeface="Aptos" pitchFamily="34" charset="-122"/>
                <a:cs typeface="Aptos" pitchFamily="34" charset="-120"/>
              </a:rPr>
              <a:t>ACTIVITÉS</a:t>
            </a:r>
            <a:endParaRPr lang="en-US" sz="800" dirty="0"/>
          </a:p>
        </p:txBody>
      </p:sp>
      <p:sp>
        <p:nvSpPr>
          <p:cNvPr id="14" name="Text 12"/>
          <p:cNvSpPr/>
          <p:nvPr/>
        </p:nvSpPr>
        <p:spPr>
          <a:xfrm>
            <a:off x="7818120" y="2514600"/>
            <a:ext cx="2468880" cy="329184"/>
          </a:xfrm>
          <a:prstGeom prst="rect">
            <a:avLst/>
          </a:prstGeom>
          <a:noFill/>
          <a:ln/>
        </p:spPr>
        <p:txBody>
          <a:bodyPr wrap="square" lIns="635" tIns="635" rIns="635" bIns="635" rtlCol="0" anchor="ctr">
            <a:normAutofit/>
          </a:bodyPr>
          <a:lstStyle/>
          <a:p>
            <a:pPr algn="l" indent="0" marL="0">
              <a:buNone/>
            </a:pPr>
            <a:r>
              <a:rPr lang="en-US" sz="1300" b="1" dirty="0">
                <a:solidFill>
                  <a:srgbClr val="FFFFFF"/>
                </a:solidFill>
                <a:latin typeface="Aptos" pitchFamily="34" charset="0"/>
                <a:ea typeface="Aptos" pitchFamily="34" charset="-122"/>
                <a:cs typeface="Aptos" pitchFamily="34" charset="-120"/>
              </a:rPr>
              <a:t>R1.3.5 &amp; R1.4.3</a:t>
            </a:r>
            <a:endParaRPr lang="en-US" sz="1300" dirty="0"/>
          </a:p>
        </p:txBody>
      </p:sp>
      <p:sp>
        <p:nvSpPr>
          <p:cNvPr id="15" name="Text 13"/>
          <p:cNvSpPr/>
          <p:nvPr/>
        </p:nvSpPr>
        <p:spPr>
          <a:xfrm>
            <a:off x="7818120" y="3136392"/>
            <a:ext cx="2331720" cy="219456"/>
          </a:xfrm>
          <a:prstGeom prst="rect">
            <a:avLst/>
          </a:prstGeom>
          <a:noFill/>
          <a:ln/>
        </p:spPr>
        <p:txBody>
          <a:bodyPr wrap="square" lIns="635" tIns="635" rIns="635" bIns="635" rtlCol="0" anchor="ctr">
            <a:normAutofit/>
          </a:bodyPr>
          <a:lstStyle/>
          <a:p>
            <a:pPr algn="l" indent="0" marL="0">
              <a:buNone/>
            </a:pPr>
            <a:r>
              <a:rPr lang="en-US" sz="800" b="1" dirty="0">
                <a:solidFill>
                  <a:srgbClr val="00B7A8"/>
                </a:solidFill>
                <a:latin typeface="Aptos" pitchFamily="34" charset="0"/>
                <a:ea typeface="Aptos" pitchFamily="34" charset="-122"/>
                <a:cs typeface="Aptos" pitchFamily="34" charset="-120"/>
              </a:rPr>
              <a:t>APPUI TECHNIQUE</a:t>
            </a:r>
            <a:endParaRPr lang="en-US" sz="800" dirty="0"/>
          </a:p>
        </p:txBody>
      </p:sp>
      <p:sp>
        <p:nvSpPr>
          <p:cNvPr id="16" name="Text 14"/>
          <p:cNvSpPr/>
          <p:nvPr/>
        </p:nvSpPr>
        <p:spPr>
          <a:xfrm>
            <a:off x="7818120" y="3410712"/>
            <a:ext cx="2468880" cy="256032"/>
          </a:xfrm>
          <a:prstGeom prst="rect">
            <a:avLst/>
          </a:prstGeom>
          <a:noFill/>
          <a:ln/>
        </p:spPr>
        <p:txBody>
          <a:bodyPr wrap="square" lIns="635" tIns="635" rIns="635" bIns="635"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GFA Consulting</a:t>
            </a:r>
            <a:endParaRPr lang="en-US" sz="1200" dirty="0"/>
          </a:p>
        </p:txBody>
      </p:sp>
      <p:sp>
        <p:nvSpPr>
          <p:cNvPr id="17" name="Text 15"/>
          <p:cNvSpPr/>
          <p:nvPr/>
        </p:nvSpPr>
        <p:spPr>
          <a:xfrm>
            <a:off x="7818120" y="3977640"/>
            <a:ext cx="2331720" cy="219456"/>
          </a:xfrm>
          <a:prstGeom prst="rect">
            <a:avLst/>
          </a:prstGeom>
          <a:noFill/>
          <a:ln/>
        </p:spPr>
        <p:txBody>
          <a:bodyPr wrap="square" lIns="635" tIns="635" rIns="635" bIns="635" rtlCol="0" anchor="ctr">
            <a:normAutofit/>
          </a:bodyPr>
          <a:lstStyle/>
          <a:p>
            <a:pPr algn="l" indent="0" marL="0">
              <a:buNone/>
            </a:pPr>
            <a:r>
              <a:rPr lang="en-US" sz="800" b="1" dirty="0">
                <a:solidFill>
                  <a:srgbClr val="00B7A8"/>
                </a:solidFill>
                <a:latin typeface="Aptos" pitchFamily="34" charset="0"/>
                <a:ea typeface="Aptos" pitchFamily="34" charset="-122"/>
                <a:cs typeface="Aptos" pitchFamily="34" charset="-120"/>
              </a:rPr>
              <a:t>BÉNÉFICIAIRE</a:t>
            </a:r>
            <a:endParaRPr lang="en-US" sz="800" dirty="0"/>
          </a:p>
        </p:txBody>
      </p:sp>
      <p:sp>
        <p:nvSpPr>
          <p:cNvPr id="18" name="Text 16"/>
          <p:cNvSpPr/>
          <p:nvPr/>
        </p:nvSpPr>
        <p:spPr>
          <a:xfrm>
            <a:off x="7818120" y="4251960"/>
            <a:ext cx="2468880" cy="256032"/>
          </a:xfrm>
          <a:prstGeom prst="rect">
            <a:avLst/>
          </a:prstGeom>
          <a:noFill/>
          <a:ln/>
        </p:spPr>
        <p:txBody>
          <a:bodyPr wrap="square" lIns="635" tIns="635" rIns="635" bIns="635"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HAUQE</a:t>
            </a:r>
            <a:endParaRPr lang="en-US" sz="1200" dirty="0"/>
          </a:p>
        </p:txBody>
      </p:sp>
      <p:sp>
        <p:nvSpPr>
          <p:cNvPr id="19" name="Text 17"/>
          <p:cNvSpPr/>
          <p:nvPr/>
        </p:nvSpPr>
        <p:spPr>
          <a:xfrm>
            <a:off x="7818120" y="4572000"/>
            <a:ext cx="1463040" cy="201168"/>
          </a:xfrm>
          <a:prstGeom prst="rect">
            <a:avLst/>
          </a:prstGeom>
          <a:noFill/>
          <a:ln/>
        </p:spPr>
        <p:txBody>
          <a:bodyPr wrap="square" lIns="635" tIns="635" rIns="635" bIns="635" rtlCol="0" anchor="ctr">
            <a:normAutofit/>
          </a:bodyPr>
          <a:lstStyle/>
          <a:p>
            <a:pPr algn="l" indent="0" marL="0">
              <a:buNone/>
            </a:pPr>
            <a:r>
              <a:rPr lang="en-US" sz="800" b="1" dirty="0">
                <a:solidFill>
                  <a:srgbClr val="00B7A8"/>
                </a:solidFill>
                <a:latin typeface="Aptos" pitchFamily="34" charset="0"/>
                <a:ea typeface="Aptos" pitchFamily="34" charset="-122"/>
                <a:cs typeface="Aptos" pitchFamily="34" charset="-120"/>
              </a:rPr>
              <a:t>DURÉE</a:t>
            </a:r>
            <a:endParaRPr lang="en-US" sz="800" dirty="0"/>
          </a:p>
        </p:txBody>
      </p:sp>
      <p:sp>
        <p:nvSpPr>
          <p:cNvPr id="20" name="Text 18"/>
          <p:cNvSpPr/>
          <p:nvPr/>
        </p:nvSpPr>
        <p:spPr>
          <a:xfrm>
            <a:off x="7818120" y="4818888"/>
            <a:ext cx="2057400" cy="219456"/>
          </a:xfrm>
          <a:prstGeom prst="rect">
            <a:avLst/>
          </a:prstGeom>
          <a:noFill/>
          <a:ln/>
        </p:spPr>
        <p:txBody>
          <a:bodyPr wrap="square" lIns="635" tIns="635" rIns="635" bIns="635" rtlCol="0" anchor="ctr">
            <a:normAutofit/>
          </a:bodyPr>
          <a:lstStyle/>
          <a:p>
            <a:pPr algn="l" indent="0" marL="0">
              <a:buNone/>
            </a:pPr>
            <a:r>
              <a:rPr lang="en-US" sz="1000" b="1" dirty="0">
                <a:solidFill>
                  <a:srgbClr val="FFFFFF"/>
                </a:solidFill>
                <a:latin typeface="Aptos" pitchFamily="34" charset="0"/>
                <a:ea typeface="Aptos" pitchFamily="34" charset="-122"/>
                <a:cs typeface="Aptos" pitchFamily="34" charset="-120"/>
              </a:rPr>
              <a:t>25 Homme/Jour</a:t>
            </a:r>
            <a:endParaRPr lang="en-US" sz="100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02  —  Objectifs de la réunion</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Une réunion courte pour valider une compréhension commune avant l’exécution.</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640080" y="1234440"/>
            <a:ext cx="4983480" cy="1005840"/>
          </a:xfrm>
          <a:prstGeom prst="roundRect">
            <a:avLst>
              <a:gd name="adj" fmla="val 5455"/>
            </a:avLst>
          </a:prstGeom>
          <a:solidFill>
            <a:srgbClr val="F6FAFE"/>
          </a:solidFill>
          <a:ln w="12700">
            <a:solidFill>
              <a:srgbClr val="DCE8F4"/>
            </a:solidFill>
            <a:prstDash val="solid"/>
          </a:ln>
        </p:spPr>
      </p:sp>
      <p:sp>
        <p:nvSpPr>
          <p:cNvPr id="6" name="Shape 4"/>
          <p:cNvSpPr/>
          <p:nvPr/>
        </p:nvSpPr>
        <p:spPr>
          <a:xfrm>
            <a:off x="841248" y="1435608"/>
            <a:ext cx="502920" cy="502920"/>
          </a:xfrm>
          <a:prstGeom prst="roundRect">
            <a:avLst>
              <a:gd name="adj" fmla="val 10909"/>
            </a:avLst>
          </a:prstGeom>
          <a:solidFill>
            <a:srgbClr val="00B7A8"/>
          </a:solidFill>
          <a:ln w="12700">
            <a:solidFill>
              <a:srgbClr val="00B7A8">
                <a:alpha val="0"/>
              </a:srgbClr>
            </a:solidFill>
            <a:prstDash val="solid"/>
          </a:ln>
        </p:spPr>
      </p:sp>
      <p:sp>
        <p:nvSpPr>
          <p:cNvPr id="7" name="Text 5"/>
          <p:cNvSpPr/>
          <p:nvPr/>
        </p:nvSpPr>
        <p:spPr>
          <a:xfrm>
            <a:off x="923544" y="1545336"/>
            <a:ext cx="329184" cy="182880"/>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01</a:t>
            </a:r>
            <a:endParaRPr lang="en-US" sz="1000" dirty="0"/>
          </a:p>
        </p:txBody>
      </p:sp>
      <p:sp>
        <p:nvSpPr>
          <p:cNvPr id="8" name="Text 6"/>
          <p:cNvSpPr/>
          <p:nvPr/>
        </p:nvSpPr>
        <p:spPr>
          <a:xfrm>
            <a:off x="1508760" y="1417320"/>
            <a:ext cx="3840480" cy="219456"/>
          </a:xfrm>
          <a:prstGeom prst="rect">
            <a:avLst/>
          </a:prstGeom>
          <a:noFill/>
          <a:ln/>
        </p:spPr>
        <p:txBody>
          <a:bodyPr wrap="square" lIns="635" tIns="635" rIns="635" bIns="635" rtlCol="0" anchor="ctr">
            <a:normAutofit/>
          </a:bodyPr>
          <a:lstStyle/>
          <a:p>
            <a:pPr algn="l" indent="0" marL="0">
              <a:buNone/>
            </a:pPr>
            <a:r>
              <a:rPr lang="en-US" sz="1400" b="1" dirty="0">
                <a:solidFill>
                  <a:srgbClr val="10243D"/>
                </a:solidFill>
                <a:latin typeface="Aptos" pitchFamily="34" charset="0"/>
                <a:ea typeface="Aptos" pitchFamily="34" charset="-122"/>
                <a:cs typeface="Aptos" pitchFamily="34" charset="-120"/>
              </a:rPr>
              <a:t>Comprendre la mission</a:t>
            </a:r>
            <a:endParaRPr lang="en-US" sz="1400" dirty="0"/>
          </a:p>
        </p:txBody>
      </p:sp>
      <p:sp>
        <p:nvSpPr>
          <p:cNvPr id="9" name="Text 7"/>
          <p:cNvSpPr/>
          <p:nvPr/>
        </p:nvSpPr>
        <p:spPr>
          <a:xfrm>
            <a:off x="1508760" y="1737360"/>
            <a:ext cx="3749040" cy="310896"/>
          </a:xfrm>
          <a:prstGeom prst="rect">
            <a:avLst/>
          </a:prstGeom>
          <a:noFill/>
          <a:ln/>
        </p:spPr>
        <p:txBody>
          <a:bodyPr wrap="square" lIns="635" tIns="635" rIns="635" bIns="635" rtlCol="0" anchor="ctr">
            <a:normAutofit/>
          </a:bodyPr>
          <a:lstStyle/>
          <a:p>
            <a:pPr algn="l" indent="0" marL="0">
              <a:buNone/>
            </a:pPr>
            <a:r>
              <a:rPr lang="en-US" sz="1050" dirty="0">
                <a:solidFill>
                  <a:srgbClr val="5A6B7E"/>
                </a:solidFill>
                <a:latin typeface="Aptos" pitchFamily="34" charset="0"/>
                <a:ea typeface="Aptos" pitchFamily="34" charset="-122"/>
                <a:cs typeface="Aptos" pitchFamily="34" charset="-120"/>
              </a:rPr>
              <a:t>Clarifier les objectifs des activités R1.3.5 et R1.4.3.</a:t>
            </a:r>
            <a:endParaRPr lang="en-US" sz="1050" dirty="0"/>
          </a:p>
        </p:txBody>
      </p:sp>
      <p:sp>
        <p:nvSpPr>
          <p:cNvPr id="10" name="Shape 8"/>
          <p:cNvSpPr/>
          <p:nvPr/>
        </p:nvSpPr>
        <p:spPr>
          <a:xfrm>
            <a:off x="6217920" y="1234440"/>
            <a:ext cx="4983480" cy="1005840"/>
          </a:xfrm>
          <a:prstGeom prst="roundRect">
            <a:avLst>
              <a:gd name="adj" fmla="val 5455"/>
            </a:avLst>
          </a:prstGeom>
          <a:solidFill>
            <a:srgbClr val="F6FAFE"/>
          </a:solidFill>
          <a:ln w="12700">
            <a:solidFill>
              <a:srgbClr val="DCE8F4"/>
            </a:solidFill>
            <a:prstDash val="solid"/>
          </a:ln>
        </p:spPr>
      </p:sp>
      <p:sp>
        <p:nvSpPr>
          <p:cNvPr id="11" name="Shape 9"/>
          <p:cNvSpPr/>
          <p:nvPr/>
        </p:nvSpPr>
        <p:spPr>
          <a:xfrm>
            <a:off x="6419088" y="1435608"/>
            <a:ext cx="502920" cy="502920"/>
          </a:xfrm>
          <a:prstGeom prst="roundRect">
            <a:avLst>
              <a:gd name="adj" fmla="val 10909"/>
            </a:avLst>
          </a:prstGeom>
          <a:solidFill>
            <a:srgbClr val="00B7A8"/>
          </a:solidFill>
          <a:ln w="12700">
            <a:solidFill>
              <a:srgbClr val="00B7A8">
                <a:alpha val="0"/>
              </a:srgbClr>
            </a:solidFill>
            <a:prstDash val="solid"/>
          </a:ln>
        </p:spPr>
      </p:sp>
      <p:sp>
        <p:nvSpPr>
          <p:cNvPr id="12" name="Text 10"/>
          <p:cNvSpPr/>
          <p:nvPr/>
        </p:nvSpPr>
        <p:spPr>
          <a:xfrm>
            <a:off x="6501384" y="1545336"/>
            <a:ext cx="329184" cy="182880"/>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02</a:t>
            </a:r>
            <a:endParaRPr lang="en-US" sz="1000" dirty="0"/>
          </a:p>
        </p:txBody>
      </p:sp>
      <p:sp>
        <p:nvSpPr>
          <p:cNvPr id="13" name="Text 11"/>
          <p:cNvSpPr/>
          <p:nvPr/>
        </p:nvSpPr>
        <p:spPr>
          <a:xfrm>
            <a:off x="7086600" y="1417320"/>
            <a:ext cx="3840480" cy="219456"/>
          </a:xfrm>
          <a:prstGeom prst="rect">
            <a:avLst/>
          </a:prstGeom>
          <a:noFill/>
          <a:ln/>
        </p:spPr>
        <p:txBody>
          <a:bodyPr wrap="square" lIns="635" tIns="635" rIns="635" bIns="635" rtlCol="0" anchor="ctr">
            <a:normAutofit/>
          </a:bodyPr>
          <a:lstStyle/>
          <a:p>
            <a:pPr algn="l" indent="0" marL="0">
              <a:buNone/>
            </a:pPr>
            <a:r>
              <a:rPr lang="en-US" sz="1400" b="1" dirty="0">
                <a:solidFill>
                  <a:srgbClr val="10243D"/>
                </a:solidFill>
                <a:latin typeface="Aptos" pitchFamily="34" charset="0"/>
                <a:ea typeface="Aptos" pitchFamily="34" charset="-122"/>
                <a:cs typeface="Aptos" pitchFamily="34" charset="-120"/>
              </a:rPr>
              <a:t>Valider la méthodologie</a:t>
            </a:r>
            <a:endParaRPr lang="en-US" sz="1400" dirty="0"/>
          </a:p>
        </p:txBody>
      </p:sp>
      <p:sp>
        <p:nvSpPr>
          <p:cNvPr id="14" name="Text 12"/>
          <p:cNvSpPr/>
          <p:nvPr/>
        </p:nvSpPr>
        <p:spPr>
          <a:xfrm>
            <a:off x="7086600" y="1737360"/>
            <a:ext cx="3749040" cy="310896"/>
          </a:xfrm>
          <a:prstGeom prst="rect">
            <a:avLst/>
          </a:prstGeom>
          <a:noFill/>
          <a:ln/>
        </p:spPr>
        <p:txBody>
          <a:bodyPr wrap="square" lIns="635" tIns="635" rIns="635" bIns="635" rtlCol="0" anchor="ctr">
            <a:normAutofit/>
          </a:bodyPr>
          <a:lstStyle/>
          <a:p>
            <a:pPr algn="l" indent="0" marL="0">
              <a:buNone/>
            </a:pPr>
            <a:r>
              <a:rPr lang="en-US" sz="1050" dirty="0">
                <a:solidFill>
                  <a:srgbClr val="5A6B7E"/>
                </a:solidFill>
                <a:latin typeface="Aptos" pitchFamily="34" charset="0"/>
                <a:ea typeface="Aptos" pitchFamily="34" charset="-122"/>
                <a:cs typeface="Aptos" pitchFamily="34" charset="-120"/>
              </a:rPr>
              <a:t>Confirmer l’approche de développement, de collecte et de contrôle.</a:t>
            </a:r>
            <a:endParaRPr lang="en-US" sz="1050" dirty="0"/>
          </a:p>
        </p:txBody>
      </p:sp>
      <p:sp>
        <p:nvSpPr>
          <p:cNvPr id="15" name="Shape 13"/>
          <p:cNvSpPr/>
          <p:nvPr/>
        </p:nvSpPr>
        <p:spPr>
          <a:xfrm>
            <a:off x="640080" y="2651760"/>
            <a:ext cx="4983480" cy="1005840"/>
          </a:xfrm>
          <a:prstGeom prst="roundRect">
            <a:avLst>
              <a:gd name="adj" fmla="val 5455"/>
            </a:avLst>
          </a:prstGeom>
          <a:solidFill>
            <a:srgbClr val="F6FAFE"/>
          </a:solidFill>
          <a:ln w="12700">
            <a:solidFill>
              <a:srgbClr val="DCE8F4"/>
            </a:solidFill>
            <a:prstDash val="solid"/>
          </a:ln>
        </p:spPr>
      </p:sp>
      <p:sp>
        <p:nvSpPr>
          <p:cNvPr id="16" name="Shape 14"/>
          <p:cNvSpPr/>
          <p:nvPr/>
        </p:nvSpPr>
        <p:spPr>
          <a:xfrm>
            <a:off x="841248" y="2852928"/>
            <a:ext cx="502920" cy="502920"/>
          </a:xfrm>
          <a:prstGeom prst="roundRect">
            <a:avLst>
              <a:gd name="adj" fmla="val 10909"/>
            </a:avLst>
          </a:prstGeom>
          <a:solidFill>
            <a:srgbClr val="00B7A8"/>
          </a:solidFill>
          <a:ln w="12700">
            <a:solidFill>
              <a:srgbClr val="00B7A8">
                <a:alpha val="0"/>
              </a:srgbClr>
            </a:solidFill>
            <a:prstDash val="solid"/>
          </a:ln>
        </p:spPr>
      </p:sp>
      <p:sp>
        <p:nvSpPr>
          <p:cNvPr id="17" name="Text 15"/>
          <p:cNvSpPr/>
          <p:nvPr/>
        </p:nvSpPr>
        <p:spPr>
          <a:xfrm>
            <a:off x="923544" y="2962656"/>
            <a:ext cx="329184" cy="182880"/>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03</a:t>
            </a:r>
            <a:endParaRPr lang="en-US" sz="1000" dirty="0"/>
          </a:p>
        </p:txBody>
      </p:sp>
      <p:sp>
        <p:nvSpPr>
          <p:cNvPr id="18" name="Text 16"/>
          <p:cNvSpPr/>
          <p:nvPr/>
        </p:nvSpPr>
        <p:spPr>
          <a:xfrm>
            <a:off x="1508760" y="2834640"/>
            <a:ext cx="3840480" cy="219456"/>
          </a:xfrm>
          <a:prstGeom prst="rect">
            <a:avLst/>
          </a:prstGeom>
          <a:noFill/>
          <a:ln/>
        </p:spPr>
        <p:txBody>
          <a:bodyPr wrap="square" lIns="635" tIns="635" rIns="635" bIns="635" rtlCol="0" anchor="ctr">
            <a:normAutofit/>
          </a:bodyPr>
          <a:lstStyle/>
          <a:p>
            <a:pPr algn="l" indent="0" marL="0">
              <a:buNone/>
            </a:pPr>
            <a:r>
              <a:rPr lang="en-US" sz="1400" b="1" dirty="0">
                <a:solidFill>
                  <a:srgbClr val="10243D"/>
                </a:solidFill>
                <a:latin typeface="Aptos" pitchFamily="34" charset="0"/>
                <a:ea typeface="Aptos" pitchFamily="34" charset="-122"/>
                <a:cs typeface="Aptos" pitchFamily="34" charset="-120"/>
              </a:rPr>
              <a:t>Aligner les rôles</a:t>
            </a:r>
            <a:endParaRPr lang="en-US" sz="1400" dirty="0"/>
          </a:p>
        </p:txBody>
      </p:sp>
      <p:sp>
        <p:nvSpPr>
          <p:cNvPr id="19" name="Text 17"/>
          <p:cNvSpPr/>
          <p:nvPr/>
        </p:nvSpPr>
        <p:spPr>
          <a:xfrm>
            <a:off x="1508760" y="3154680"/>
            <a:ext cx="3749040" cy="310896"/>
          </a:xfrm>
          <a:prstGeom prst="rect">
            <a:avLst/>
          </a:prstGeom>
          <a:noFill/>
          <a:ln/>
        </p:spPr>
        <p:txBody>
          <a:bodyPr wrap="square" lIns="635" tIns="635" rIns="635" bIns="635" rtlCol="0" anchor="ctr">
            <a:normAutofit/>
          </a:bodyPr>
          <a:lstStyle/>
          <a:p>
            <a:pPr algn="l" indent="0" marL="0">
              <a:buNone/>
            </a:pPr>
            <a:r>
              <a:rPr lang="en-US" sz="1050" dirty="0">
                <a:solidFill>
                  <a:srgbClr val="5A6B7E"/>
                </a:solidFill>
                <a:latin typeface="Aptos" pitchFamily="34" charset="0"/>
                <a:ea typeface="Aptos" pitchFamily="34" charset="-122"/>
                <a:cs typeface="Aptos" pitchFamily="34" charset="-120"/>
              </a:rPr>
              <a:t>Préciser les responsabilités de la HAUQE, de GFA et de l’expert.</a:t>
            </a:r>
            <a:endParaRPr lang="en-US" sz="1050" dirty="0"/>
          </a:p>
        </p:txBody>
      </p:sp>
      <p:sp>
        <p:nvSpPr>
          <p:cNvPr id="20" name="Shape 18"/>
          <p:cNvSpPr/>
          <p:nvPr/>
        </p:nvSpPr>
        <p:spPr>
          <a:xfrm>
            <a:off x="6217920" y="2651760"/>
            <a:ext cx="4983480" cy="1005840"/>
          </a:xfrm>
          <a:prstGeom prst="roundRect">
            <a:avLst>
              <a:gd name="adj" fmla="val 5455"/>
            </a:avLst>
          </a:prstGeom>
          <a:solidFill>
            <a:srgbClr val="F6FAFE"/>
          </a:solidFill>
          <a:ln w="12700">
            <a:solidFill>
              <a:srgbClr val="DCE8F4"/>
            </a:solidFill>
            <a:prstDash val="solid"/>
          </a:ln>
        </p:spPr>
      </p:sp>
      <p:sp>
        <p:nvSpPr>
          <p:cNvPr id="21" name="Shape 19"/>
          <p:cNvSpPr/>
          <p:nvPr/>
        </p:nvSpPr>
        <p:spPr>
          <a:xfrm>
            <a:off x="6419088" y="2852928"/>
            <a:ext cx="502920" cy="502920"/>
          </a:xfrm>
          <a:prstGeom prst="roundRect">
            <a:avLst>
              <a:gd name="adj" fmla="val 10909"/>
            </a:avLst>
          </a:prstGeom>
          <a:solidFill>
            <a:srgbClr val="00B7A8"/>
          </a:solidFill>
          <a:ln w="12700">
            <a:solidFill>
              <a:srgbClr val="00B7A8">
                <a:alpha val="0"/>
              </a:srgbClr>
            </a:solidFill>
            <a:prstDash val="solid"/>
          </a:ln>
        </p:spPr>
      </p:sp>
      <p:sp>
        <p:nvSpPr>
          <p:cNvPr id="22" name="Text 20"/>
          <p:cNvSpPr/>
          <p:nvPr/>
        </p:nvSpPr>
        <p:spPr>
          <a:xfrm>
            <a:off x="6501384" y="2962656"/>
            <a:ext cx="329184" cy="182880"/>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04</a:t>
            </a:r>
            <a:endParaRPr lang="en-US" sz="1000" dirty="0"/>
          </a:p>
        </p:txBody>
      </p:sp>
      <p:sp>
        <p:nvSpPr>
          <p:cNvPr id="23" name="Text 21"/>
          <p:cNvSpPr/>
          <p:nvPr/>
        </p:nvSpPr>
        <p:spPr>
          <a:xfrm>
            <a:off x="7086600" y="2834640"/>
            <a:ext cx="3840480" cy="219456"/>
          </a:xfrm>
          <a:prstGeom prst="rect">
            <a:avLst/>
          </a:prstGeom>
          <a:noFill/>
          <a:ln/>
        </p:spPr>
        <p:txBody>
          <a:bodyPr wrap="square" lIns="635" tIns="635" rIns="635" bIns="635" rtlCol="0" anchor="ctr">
            <a:normAutofit/>
          </a:bodyPr>
          <a:lstStyle/>
          <a:p>
            <a:pPr algn="l" indent="0" marL="0">
              <a:buNone/>
            </a:pPr>
            <a:r>
              <a:rPr lang="en-US" sz="1400" b="1" dirty="0">
                <a:solidFill>
                  <a:srgbClr val="10243D"/>
                </a:solidFill>
                <a:latin typeface="Aptos" pitchFamily="34" charset="0"/>
                <a:ea typeface="Aptos" pitchFamily="34" charset="-122"/>
                <a:cs typeface="Aptos" pitchFamily="34" charset="-120"/>
              </a:rPr>
              <a:t>Confirmer les livrables</a:t>
            </a:r>
            <a:endParaRPr lang="en-US" sz="1400" dirty="0"/>
          </a:p>
        </p:txBody>
      </p:sp>
      <p:sp>
        <p:nvSpPr>
          <p:cNvPr id="24" name="Text 22"/>
          <p:cNvSpPr/>
          <p:nvPr/>
        </p:nvSpPr>
        <p:spPr>
          <a:xfrm>
            <a:off x="7086600" y="3154680"/>
            <a:ext cx="3749040" cy="310896"/>
          </a:xfrm>
          <a:prstGeom prst="rect">
            <a:avLst/>
          </a:prstGeom>
          <a:noFill/>
          <a:ln/>
        </p:spPr>
        <p:txBody>
          <a:bodyPr wrap="square" lIns="635" tIns="635" rIns="635" bIns="635" rtlCol="0" anchor="ctr">
            <a:normAutofit/>
          </a:bodyPr>
          <a:lstStyle/>
          <a:p>
            <a:pPr algn="l" indent="0" marL="0">
              <a:buNone/>
            </a:pPr>
            <a:r>
              <a:rPr lang="en-US" sz="1050" dirty="0">
                <a:solidFill>
                  <a:srgbClr val="5A6B7E"/>
                </a:solidFill>
                <a:latin typeface="Aptos" pitchFamily="34" charset="0"/>
                <a:ea typeface="Aptos" pitchFamily="34" charset="-122"/>
                <a:cs typeface="Aptos" pitchFamily="34" charset="-120"/>
              </a:rPr>
              <a:t>Valider les produits attendus et les jalons de livraison.</a:t>
            </a:r>
            <a:endParaRPr lang="en-US" sz="1050" dirty="0"/>
          </a:p>
        </p:txBody>
      </p:sp>
      <p:sp>
        <p:nvSpPr>
          <p:cNvPr id="25" name="Shape 23"/>
          <p:cNvSpPr/>
          <p:nvPr/>
        </p:nvSpPr>
        <p:spPr>
          <a:xfrm>
            <a:off x="640080" y="4069080"/>
            <a:ext cx="4983480" cy="1005840"/>
          </a:xfrm>
          <a:prstGeom prst="roundRect">
            <a:avLst>
              <a:gd name="adj" fmla="val 5455"/>
            </a:avLst>
          </a:prstGeom>
          <a:solidFill>
            <a:srgbClr val="F6FAFE"/>
          </a:solidFill>
          <a:ln w="12700">
            <a:solidFill>
              <a:srgbClr val="DCE8F4"/>
            </a:solidFill>
            <a:prstDash val="solid"/>
          </a:ln>
        </p:spPr>
      </p:sp>
      <p:sp>
        <p:nvSpPr>
          <p:cNvPr id="26" name="Shape 24"/>
          <p:cNvSpPr/>
          <p:nvPr/>
        </p:nvSpPr>
        <p:spPr>
          <a:xfrm>
            <a:off x="841248" y="4270248"/>
            <a:ext cx="502920" cy="502920"/>
          </a:xfrm>
          <a:prstGeom prst="roundRect">
            <a:avLst>
              <a:gd name="adj" fmla="val 10909"/>
            </a:avLst>
          </a:prstGeom>
          <a:solidFill>
            <a:srgbClr val="00B7A8"/>
          </a:solidFill>
          <a:ln w="12700">
            <a:solidFill>
              <a:srgbClr val="00B7A8">
                <a:alpha val="0"/>
              </a:srgbClr>
            </a:solidFill>
            <a:prstDash val="solid"/>
          </a:ln>
        </p:spPr>
      </p:sp>
      <p:sp>
        <p:nvSpPr>
          <p:cNvPr id="27" name="Text 25"/>
          <p:cNvSpPr/>
          <p:nvPr/>
        </p:nvSpPr>
        <p:spPr>
          <a:xfrm>
            <a:off x="923544" y="4379976"/>
            <a:ext cx="329184" cy="182880"/>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05</a:t>
            </a:r>
            <a:endParaRPr lang="en-US" sz="1000" dirty="0"/>
          </a:p>
        </p:txBody>
      </p:sp>
      <p:sp>
        <p:nvSpPr>
          <p:cNvPr id="28" name="Text 26"/>
          <p:cNvSpPr/>
          <p:nvPr/>
        </p:nvSpPr>
        <p:spPr>
          <a:xfrm>
            <a:off x="1508760" y="4251960"/>
            <a:ext cx="3840480" cy="219456"/>
          </a:xfrm>
          <a:prstGeom prst="rect">
            <a:avLst/>
          </a:prstGeom>
          <a:noFill/>
          <a:ln/>
        </p:spPr>
        <p:txBody>
          <a:bodyPr wrap="square" lIns="635" tIns="635" rIns="635" bIns="635" rtlCol="0" anchor="ctr">
            <a:normAutofit/>
          </a:bodyPr>
          <a:lstStyle/>
          <a:p>
            <a:pPr algn="l" indent="0" marL="0">
              <a:buNone/>
            </a:pPr>
            <a:r>
              <a:rPr lang="en-US" sz="1400" b="1" dirty="0">
                <a:solidFill>
                  <a:srgbClr val="10243D"/>
                </a:solidFill>
                <a:latin typeface="Aptos" pitchFamily="34" charset="0"/>
                <a:ea typeface="Aptos" pitchFamily="34" charset="-122"/>
                <a:cs typeface="Aptos" pitchFamily="34" charset="-120"/>
              </a:rPr>
              <a:t>Sécuriser le calendrier</a:t>
            </a:r>
            <a:endParaRPr lang="en-US" sz="1400" dirty="0"/>
          </a:p>
        </p:txBody>
      </p:sp>
      <p:sp>
        <p:nvSpPr>
          <p:cNvPr id="29" name="Text 27"/>
          <p:cNvSpPr/>
          <p:nvPr/>
        </p:nvSpPr>
        <p:spPr>
          <a:xfrm>
            <a:off x="1508760" y="4572000"/>
            <a:ext cx="3749040" cy="310896"/>
          </a:xfrm>
          <a:prstGeom prst="rect">
            <a:avLst/>
          </a:prstGeom>
          <a:noFill/>
          <a:ln/>
        </p:spPr>
        <p:txBody>
          <a:bodyPr wrap="square" lIns="635" tIns="635" rIns="635" bIns="635" rtlCol="0" anchor="ctr">
            <a:normAutofit/>
          </a:bodyPr>
          <a:lstStyle/>
          <a:p>
            <a:pPr algn="l" indent="0" marL="0">
              <a:buNone/>
            </a:pPr>
            <a:r>
              <a:rPr lang="en-US" sz="1050" dirty="0">
                <a:solidFill>
                  <a:srgbClr val="5A6B7E"/>
                </a:solidFill>
                <a:latin typeface="Aptos" pitchFamily="34" charset="0"/>
                <a:ea typeface="Aptos" pitchFamily="34" charset="-122"/>
                <a:cs typeface="Aptos" pitchFamily="34" charset="-120"/>
              </a:rPr>
              <a:t>S’accorder sur les 25 H/J, les dates et les validations nécessaires.</a:t>
            </a:r>
            <a:endParaRPr lang="en-US" sz="1050" dirty="0"/>
          </a:p>
        </p:txBody>
      </p:sp>
      <p:sp>
        <p:nvSpPr>
          <p:cNvPr id="30" name="Shape 28"/>
          <p:cNvSpPr/>
          <p:nvPr/>
        </p:nvSpPr>
        <p:spPr>
          <a:xfrm>
            <a:off x="6217920" y="4069080"/>
            <a:ext cx="4983480" cy="1005840"/>
          </a:xfrm>
          <a:prstGeom prst="roundRect">
            <a:avLst>
              <a:gd name="adj" fmla="val 5455"/>
            </a:avLst>
          </a:prstGeom>
          <a:solidFill>
            <a:srgbClr val="F6FAFE"/>
          </a:solidFill>
          <a:ln w="12700">
            <a:solidFill>
              <a:srgbClr val="DCE8F4"/>
            </a:solidFill>
            <a:prstDash val="solid"/>
          </a:ln>
        </p:spPr>
      </p:sp>
      <p:sp>
        <p:nvSpPr>
          <p:cNvPr id="31" name="Shape 29"/>
          <p:cNvSpPr/>
          <p:nvPr/>
        </p:nvSpPr>
        <p:spPr>
          <a:xfrm>
            <a:off x="6419088" y="4270248"/>
            <a:ext cx="502920" cy="502920"/>
          </a:xfrm>
          <a:prstGeom prst="roundRect">
            <a:avLst>
              <a:gd name="adj" fmla="val 10909"/>
            </a:avLst>
          </a:prstGeom>
          <a:solidFill>
            <a:srgbClr val="00B7A8"/>
          </a:solidFill>
          <a:ln w="12700">
            <a:solidFill>
              <a:srgbClr val="00B7A8">
                <a:alpha val="0"/>
              </a:srgbClr>
            </a:solidFill>
            <a:prstDash val="solid"/>
          </a:ln>
        </p:spPr>
      </p:sp>
      <p:sp>
        <p:nvSpPr>
          <p:cNvPr id="32" name="Text 30"/>
          <p:cNvSpPr/>
          <p:nvPr/>
        </p:nvSpPr>
        <p:spPr>
          <a:xfrm>
            <a:off x="6501384" y="4379976"/>
            <a:ext cx="329184" cy="182880"/>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06</a:t>
            </a:r>
            <a:endParaRPr lang="en-US" sz="1000" dirty="0"/>
          </a:p>
        </p:txBody>
      </p:sp>
      <p:sp>
        <p:nvSpPr>
          <p:cNvPr id="33" name="Text 31"/>
          <p:cNvSpPr/>
          <p:nvPr/>
        </p:nvSpPr>
        <p:spPr>
          <a:xfrm>
            <a:off x="7086600" y="4251960"/>
            <a:ext cx="3840480" cy="219456"/>
          </a:xfrm>
          <a:prstGeom prst="rect">
            <a:avLst/>
          </a:prstGeom>
          <a:noFill/>
          <a:ln/>
        </p:spPr>
        <p:txBody>
          <a:bodyPr wrap="square" lIns="635" tIns="635" rIns="635" bIns="635" rtlCol="0" anchor="ctr">
            <a:normAutofit/>
          </a:bodyPr>
          <a:lstStyle/>
          <a:p>
            <a:pPr algn="l" indent="0" marL="0">
              <a:buNone/>
            </a:pPr>
            <a:r>
              <a:rPr lang="en-US" sz="1400" b="1" dirty="0">
                <a:solidFill>
                  <a:srgbClr val="10243D"/>
                </a:solidFill>
                <a:latin typeface="Aptos" pitchFamily="34" charset="0"/>
                <a:ea typeface="Aptos" pitchFamily="34" charset="-122"/>
                <a:cs typeface="Aptos" pitchFamily="34" charset="-120"/>
              </a:rPr>
              <a:t>Organiser la collaboration</a:t>
            </a:r>
            <a:endParaRPr lang="en-US" sz="1400" dirty="0"/>
          </a:p>
        </p:txBody>
      </p:sp>
      <p:sp>
        <p:nvSpPr>
          <p:cNvPr id="34" name="Text 32"/>
          <p:cNvSpPr/>
          <p:nvPr/>
        </p:nvSpPr>
        <p:spPr>
          <a:xfrm>
            <a:off x="7086600" y="4572000"/>
            <a:ext cx="3749040" cy="310896"/>
          </a:xfrm>
          <a:prstGeom prst="rect">
            <a:avLst/>
          </a:prstGeom>
          <a:noFill/>
          <a:ln/>
        </p:spPr>
        <p:txBody>
          <a:bodyPr wrap="square" lIns="635" tIns="635" rIns="635" bIns="635" rtlCol="0" anchor="ctr">
            <a:normAutofit/>
          </a:bodyPr>
          <a:lstStyle/>
          <a:p>
            <a:pPr algn="l" indent="0" marL="0">
              <a:buNone/>
            </a:pPr>
            <a:r>
              <a:rPr lang="en-US" sz="1050" dirty="0">
                <a:solidFill>
                  <a:srgbClr val="5A6B7E"/>
                </a:solidFill>
                <a:latin typeface="Aptos" pitchFamily="34" charset="0"/>
                <a:ea typeface="Aptos" pitchFamily="34" charset="-122"/>
                <a:cs typeface="Aptos" pitchFamily="34" charset="-120"/>
              </a:rPr>
              <a:t>Désigner les points focaux et les modalités d’échange.</a:t>
            </a:r>
            <a:endParaRPr lang="en-US" sz="105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03  —  Contexte / problème à résoudre</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Le besoin central : passer d’informations dispersées à un système national fiable.</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685800" y="1508760"/>
            <a:ext cx="2514600" cy="2057400"/>
          </a:xfrm>
          <a:prstGeom prst="roundRect">
            <a:avLst>
              <a:gd name="adj" fmla="val 2667"/>
            </a:avLst>
          </a:prstGeom>
          <a:solidFill>
            <a:srgbClr val="F6FAFE"/>
          </a:solidFill>
          <a:ln w="12700">
            <a:solidFill>
              <a:srgbClr val="DCE8F4"/>
            </a:solidFill>
            <a:prstDash val="solid"/>
          </a:ln>
        </p:spPr>
      </p:sp>
      <p:sp>
        <p:nvSpPr>
          <p:cNvPr id="6" name="Shape 4"/>
          <p:cNvSpPr/>
          <p:nvPr/>
        </p:nvSpPr>
        <p:spPr>
          <a:xfrm>
            <a:off x="1554480" y="1709928"/>
            <a:ext cx="658368" cy="658368"/>
          </a:xfrm>
          <a:prstGeom prst="ellipse">
            <a:avLst/>
          </a:prstGeom>
          <a:solidFill>
            <a:srgbClr val="00B7A8"/>
          </a:solidFill>
          <a:ln w="12700">
            <a:solidFill>
              <a:srgbClr val="00B7A8">
                <a:alpha val="0"/>
              </a:srgbClr>
            </a:solidFill>
            <a:prstDash val="solid"/>
          </a:ln>
        </p:spPr>
      </p:sp>
      <p:sp>
        <p:nvSpPr>
          <p:cNvPr id="7" name="Text 5"/>
          <p:cNvSpPr/>
          <p:nvPr/>
        </p:nvSpPr>
        <p:spPr>
          <a:xfrm>
            <a:off x="1705356" y="1933956"/>
            <a:ext cx="347472" cy="146304"/>
          </a:xfrm>
          <a:prstGeom prst="rect">
            <a:avLst/>
          </a:prstGeom>
          <a:noFill/>
          <a:ln/>
        </p:spPr>
        <p:txBody>
          <a:bodyPr wrap="square" lIns="635" tIns="635" rIns="635" bIns="635"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8" name="Text 6"/>
          <p:cNvSpPr/>
          <p:nvPr/>
        </p:nvSpPr>
        <p:spPr>
          <a:xfrm>
            <a:off x="886968" y="2496312"/>
            <a:ext cx="2057400" cy="320040"/>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Données dispersées</a:t>
            </a:r>
            <a:endParaRPr lang="en-US" sz="1400" dirty="0"/>
          </a:p>
        </p:txBody>
      </p:sp>
      <p:sp>
        <p:nvSpPr>
          <p:cNvPr id="9" name="Text 7"/>
          <p:cNvSpPr/>
          <p:nvPr/>
        </p:nvSpPr>
        <p:spPr>
          <a:xfrm>
            <a:off x="941832" y="2926080"/>
            <a:ext cx="1965960" cy="438912"/>
          </a:xfrm>
          <a:prstGeom prst="rect">
            <a:avLst/>
          </a:prstGeom>
          <a:noFill/>
          <a:ln/>
        </p:spPr>
        <p:txBody>
          <a:bodyPr wrap="square" lIns="635" tIns="635" rIns="635" bIns="635" rtlCol="0" anchor="ctr">
            <a:normAutofit/>
          </a:bodyPr>
          <a:lstStyle/>
          <a:p>
            <a:pPr algn="ctr" indent="0" marL="0">
              <a:buNone/>
            </a:pPr>
            <a:r>
              <a:rPr lang="en-US" sz="1100" dirty="0">
                <a:solidFill>
                  <a:srgbClr val="5A6B7E"/>
                </a:solidFill>
                <a:latin typeface="Aptos" pitchFamily="34" charset="0"/>
                <a:ea typeface="Aptos" pitchFamily="34" charset="-122"/>
                <a:cs typeface="Aptos" pitchFamily="34" charset="-120"/>
              </a:rPr>
              <a:t>Informations réparties entre plusieurs sources.</a:t>
            </a:r>
            <a:endParaRPr lang="en-US" sz="1100" dirty="0"/>
          </a:p>
        </p:txBody>
      </p:sp>
      <p:sp>
        <p:nvSpPr>
          <p:cNvPr id="10" name="Shape 8"/>
          <p:cNvSpPr/>
          <p:nvPr/>
        </p:nvSpPr>
        <p:spPr>
          <a:xfrm rot="5400000">
            <a:off x="3291840" y="2221992"/>
            <a:ext cx="228600" cy="228600"/>
          </a:xfrm>
          <a:prstGeom prst="triangle">
            <a:avLst/>
          </a:prstGeom>
          <a:solidFill>
            <a:srgbClr val="00B7A8"/>
          </a:solidFill>
          <a:ln w="12700">
            <a:solidFill>
              <a:srgbClr val="00B7A8">
                <a:alpha val="0"/>
              </a:srgbClr>
            </a:solidFill>
            <a:prstDash val="solid"/>
          </a:ln>
        </p:spPr>
      </p:sp>
      <p:sp>
        <p:nvSpPr>
          <p:cNvPr id="11" name="Shape 9"/>
          <p:cNvSpPr/>
          <p:nvPr/>
        </p:nvSpPr>
        <p:spPr>
          <a:xfrm>
            <a:off x="3538728" y="1508760"/>
            <a:ext cx="2514600" cy="2057400"/>
          </a:xfrm>
          <a:prstGeom prst="roundRect">
            <a:avLst>
              <a:gd name="adj" fmla="val 2667"/>
            </a:avLst>
          </a:prstGeom>
          <a:solidFill>
            <a:srgbClr val="F6FAFE"/>
          </a:solidFill>
          <a:ln w="12700">
            <a:solidFill>
              <a:srgbClr val="DCE8F4"/>
            </a:solidFill>
            <a:prstDash val="solid"/>
          </a:ln>
        </p:spPr>
      </p:sp>
      <p:sp>
        <p:nvSpPr>
          <p:cNvPr id="12" name="Shape 10"/>
          <p:cNvSpPr/>
          <p:nvPr/>
        </p:nvSpPr>
        <p:spPr>
          <a:xfrm>
            <a:off x="4407408" y="1709928"/>
            <a:ext cx="658368" cy="658368"/>
          </a:xfrm>
          <a:prstGeom prst="ellipse">
            <a:avLst/>
          </a:prstGeom>
          <a:solidFill>
            <a:srgbClr val="00B7A8"/>
          </a:solidFill>
          <a:ln w="12700">
            <a:solidFill>
              <a:srgbClr val="00B7A8">
                <a:alpha val="0"/>
              </a:srgbClr>
            </a:solidFill>
            <a:prstDash val="solid"/>
          </a:ln>
        </p:spPr>
      </p:sp>
      <p:sp>
        <p:nvSpPr>
          <p:cNvPr id="13" name="Text 11"/>
          <p:cNvSpPr/>
          <p:nvPr/>
        </p:nvSpPr>
        <p:spPr>
          <a:xfrm>
            <a:off x="4558284" y="1933956"/>
            <a:ext cx="347472" cy="146304"/>
          </a:xfrm>
          <a:prstGeom prst="rect">
            <a:avLst/>
          </a:prstGeom>
          <a:noFill/>
          <a:ln/>
        </p:spPr>
        <p:txBody>
          <a:bodyPr wrap="square" lIns="635" tIns="635" rIns="635" bIns="635"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4" name="Text 12"/>
          <p:cNvSpPr/>
          <p:nvPr/>
        </p:nvSpPr>
        <p:spPr>
          <a:xfrm>
            <a:off x="3739896" y="2496312"/>
            <a:ext cx="2057400" cy="320040"/>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Suivi difficile</a:t>
            </a:r>
            <a:endParaRPr lang="en-US" sz="1400" dirty="0"/>
          </a:p>
        </p:txBody>
      </p:sp>
      <p:sp>
        <p:nvSpPr>
          <p:cNvPr id="15" name="Text 13"/>
          <p:cNvSpPr/>
          <p:nvPr/>
        </p:nvSpPr>
        <p:spPr>
          <a:xfrm>
            <a:off x="3794760" y="2926080"/>
            <a:ext cx="1965960" cy="438912"/>
          </a:xfrm>
          <a:prstGeom prst="rect">
            <a:avLst/>
          </a:prstGeom>
          <a:noFill/>
          <a:ln/>
        </p:spPr>
        <p:txBody>
          <a:bodyPr wrap="square" lIns="635" tIns="635" rIns="635" bIns="635" rtlCol="0" anchor="ctr">
            <a:normAutofit/>
          </a:bodyPr>
          <a:lstStyle/>
          <a:p>
            <a:pPr algn="ctr" indent="0" marL="0">
              <a:buNone/>
            </a:pPr>
            <a:r>
              <a:rPr lang="en-US" sz="1100" dirty="0">
                <a:solidFill>
                  <a:srgbClr val="5A6B7E"/>
                </a:solidFill>
                <a:latin typeface="Aptos" pitchFamily="34" charset="0"/>
                <a:ea typeface="Aptos" pitchFamily="34" charset="-122"/>
                <a:cs typeface="Aptos" pitchFamily="34" charset="-120"/>
              </a:rPr>
              <a:t>Validité, expiration et renouvellement peu maîtrisés.</a:t>
            </a:r>
            <a:endParaRPr lang="en-US" sz="1100" dirty="0"/>
          </a:p>
        </p:txBody>
      </p:sp>
      <p:sp>
        <p:nvSpPr>
          <p:cNvPr id="16" name="Shape 14"/>
          <p:cNvSpPr/>
          <p:nvPr/>
        </p:nvSpPr>
        <p:spPr>
          <a:xfrm rot="5400000">
            <a:off x="6144768" y="2221992"/>
            <a:ext cx="228600" cy="228600"/>
          </a:xfrm>
          <a:prstGeom prst="triangle">
            <a:avLst/>
          </a:prstGeom>
          <a:solidFill>
            <a:srgbClr val="00B7A8"/>
          </a:solidFill>
          <a:ln w="12700">
            <a:solidFill>
              <a:srgbClr val="00B7A8">
                <a:alpha val="0"/>
              </a:srgbClr>
            </a:solidFill>
            <a:prstDash val="solid"/>
          </a:ln>
        </p:spPr>
      </p:sp>
      <p:sp>
        <p:nvSpPr>
          <p:cNvPr id="17" name="Shape 15"/>
          <p:cNvSpPr/>
          <p:nvPr/>
        </p:nvSpPr>
        <p:spPr>
          <a:xfrm>
            <a:off x="6391656" y="1508760"/>
            <a:ext cx="2514600" cy="2057400"/>
          </a:xfrm>
          <a:prstGeom prst="roundRect">
            <a:avLst>
              <a:gd name="adj" fmla="val 2667"/>
            </a:avLst>
          </a:prstGeom>
          <a:solidFill>
            <a:srgbClr val="F6FAFE"/>
          </a:solidFill>
          <a:ln w="12700">
            <a:solidFill>
              <a:srgbClr val="DCE8F4"/>
            </a:solidFill>
            <a:prstDash val="solid"/>
          </a:ln>
        </p:spPr>
      </p:sp>
      <p:sp>
        <p:nvSpPr>
          <p:cNvPr id="18" name="Shape 16"/>
          <p:cNvSpPr/>
          <p:nvPr/>
        </p:nvSpPr>
        <p:spPr>
          <a:xfrm>
            <a:off x="7260336" y="1709928"/>
            <a:ext cx="658368" cy="658368"/>
          </a:xfrm>
          <a:prstGeom prst="ellipse">
            <a:avLst/>
          </a:prstGeom>
          <a:solidFill>
            <a:srgbClr val="00B7A8"/>
          </a:solidFill>
          <a:ln w="12700">
            <a:solidFill>
              <a:srgbClr val="00B7A8">
                <a:alpha val="0"/>
              </a:srgbClr>
            </a:solidFill>
            <a:prstDash val="solid"/>
          </a:ln>
        </p:spPr>
      </p:sp>
      <p:sp>
        <p:nvSpPr>
          <p:cNvPr id="19" name="Text 17"/>
          <p:cNvSpPr/>
          <p:nvPr/>
        </p:nvSpPr>
        <p:spPr>
          <a:xfrm>
            <a:off x="7411212" y="1933956"/>
            <a:ext cx="347472" cy="146304"/>
          </a:xfrm>
          <a:prstGeom prst="rect">
            <a:avLst/>
          </a:prstGeom>
          <a:noFill/>
          <a:ln/>
        </p:spPr>
        <p:txBody>
          <a:bodyPr wrap="square" lIns="635" tIns="635" rIns="635" bIns="635"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20" name="Text 18"/>
          <p:cNvSpPr/>
          <p:nvPr/>
        </p:nvSpPr>
        <p:spPr>
          <a:xfrm>
            <a:off x="6592824" y="2496312"/>
            <a:ext cx="2057400" cy="320040"/>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Contrôle non harmonisé</a:t>
            </a:r>
            <a:endParaRPr lang="en-US" sz="1400" dirty="0"/>
          </a:p>
        </p:txBody>
      </p:sp>
      <p:sp>
        <p:nvSpPr>
          <p:cNvPr id="21" name="Text 19"/>
          <p:cNvSpPr/>
          <p:nvPr/>
        </p:nvSpPr>
        <p:spPr>
          <a:xfrm>
            <a:off x="6647688" y="2926080"/>
            <a:ext cx="1965960" cy="438912"/>
          </a:xfrm>
          <a:prstGeom prst="rect">
            <a:avLst/>
          </a:prstGeom>
          <a:noFill/>
          <a:ln/>
        </p:spPr>
        <p:txBody>
          <a:bodyPr wrap="square" lIns="635" tIns="635" rIns="635" bIns="635" rtlCol="0" anchor="ctr">
            <a:normAutofit/>
          </a:bodyPr>
          <a:lstStyle/>
          <a:p>
            <a:pPr algn="ctr" indent="0" marL="0">
              <a:buNone/>
            </a:pPr>
            <a:r>
              <a:rPr lang="en-US" sz="1100" dirty="0">
                <a:solidFill>
                  <a:srgbClr val="5A6B7E"/>
                </a:solidFill>
                <a:latin typeface="Aptos" pitchFamily="34" charset="0"/>
                <a:ea typeface="Aptos" pitchFamily="34" charset="-122"/>
                <a:cs typeface="Aptos" pitchFamily="34" charset="-120"/>
              </a:rPr>
              <a:t>Outils et critères à structurer pour une lecture commune.</a:t>
            </a:r>
            <a:endParaRPr lang="en-US" sz="1100" dirty="0"/>
          </a:p>
        </p:txBody>
      </p:sp>
      <p:sp>
        <p:nvSpPr>
          <p:cNvPr id="22" name="Shape 20"/>
          <p:cNvSpPr/>
          <p:nvPr/>
        </p:nvSpPr>
        <p:spPr>
          <a:xfrm rot="5400000">
            <a:off x="8997696" y="2221992"/>
            <a:ext cx="228600" cy="228600"/>
          </a:xfrm>
          <a:prstGeom prst="triangle">
            <a:avLst/>
          </a:prstGeom>
          <a:solidFill>
            <a:srgbClr val="00B7A8"/>
          </a:solidFill>
          <a:ln w="12700">
            <a:solidFill>
              <a:srgbClr val="00B7A8">
                <a:alpha val="0"/>
              </a:srgbClr>
            </a:solidFill>
            <a:prstDash val="solid"/>
          </a:ln>
        </p:spPr>
      </p:sp>
      <p:sp>
        <p:nvSpPr>
          <p:cNvPr id="23" name="Shape 21"/>
          <p:cNvSpPr/>
          <p:nvPr/>
        </p:nvSpPr>
        <p:spPr>
          <a:xfrm>
            <a:off x="9244584" y="1508760"/>
            <a:ext cx="2514600" cy="2057400"/>
          </a:xfrm>
          <a:prstGeom prst="roundRect">
            <a:avLst>
              <a:gd name="adj" fmla="val 2667"/>
            </a:avLst>
          </a:prstGeom>
          <a:solidFill>
            <a:srgbClr val="F6FAFE"/>
          </a:solidFill>
          <a:ln w="12700">
            <a:solidFill>
              <a:srgbClr val="DCE8F4"/>
            </a:solidFill>
            <a:prstDash val="solid"/>
          </a:ln>
        </p:spPr>
      </p:sp>
      <p:sp>
        <p:nvSpPr>
          <p:cNvPr id="24" name="Shape 22"/>
          <p:cNvSpPr/>
          <p:nvPr/>
        </p:nvSpPr>
        <p:spPr>
          <a:xfrm>
            <a:off x="10113264" y="1709928"/>
            <a:ext cx="658368" cy="658368"/>
          </a:xfrm>
          <a:prstGeom prst="ellipse">
            <a:avLst/>
          </a:prstGeom>
          <a:solidFill>
            <a:srgbClr val="00B7A8"/>
          </a:solidFill>
          <a:ln w="12700">
            <a:solidFill>
              <a:srgbClr val="00B7A8">
                <a:alpha val="0"/>
              </a:srgbClr>
            </a:solidFill>
            <a:prstDash val="solid"/>
          </a:ln>
        </p:spPr>
      </p:sp>
      <p:sp>
        <p:nvSpPr>
          <p:cNvPr id="25" name="Text 23"/>
          <p:cNvSpPr/>
          <p:nvPr/>
        </p:nvSpPr>
        <p:spPr>
          <a:xfrm>
            <a:off x="10264140" y="1933956"/>
            <a:ext cx="347472" cy="146304"/>
          </a:xfrm>
          <a:prstGeom prst="rect">
            <a:avLst/>
          </a:prstGeom>
          <a:noFill/>
          <a:ln/>
        </p:spPr>
        <p:txBody>
          <a:bodyPr wrap="square" lIns="635" tIns="635" rIns="635" bIns="635"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26" name="Text 24"/>
          <p:cNvSpPr/>
          <p:nvPr/>
        </p:nvSpPr>
        <p:spPr>
          <a:xfrm>
            <a:off x="9445752" y="2496312"/>
            <a:ext cx="2057400" cy="320040"/>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Décision limitée</a:t>
            </a:r>
            <a:endParaRPr lang="en-US" sz="1400" dirty="0"/>
          </a:p>
        </p:txBody>
      </p:sp>
      <p:sp>
        <p:nvSpPr>
          <p:cNvPr id="27" name="Text 25"/>
          <p:cNvSpPr/>
          <p:nvPr/>
        </p:nvSpPr>
        <p:spPr>
          <a:xfrm>
            <a:off x="9500616" y="2926080"/>
            <a:ext cx="1965960" cy="438912"/>
          </a:xfrm>
          <a:prstGeom prst="rect">
            <a:avLst/>
          </a:prstGeom>
          <a:noFill/>
          <a:ln/>
        </p:spPr>
        <p:txBody>
          <a:bodyPr wrap="square" lIns="635" tIns="635" rIns="635" bIns="635" rtlCol="0" anchor="ctr">
            <a:normAutofit/>
          </a:bodyPr>
          <a:lstStyle/>
          <a:p>
            <a:pPr algn="ctr" indent="0" marL="0">
              <a:buNone/>
            </a:pPr>
            <a:r>
              <a:rPr lang="en-US" sz="1100" dirty="0">
                <a:solidFill>
                  <a:srgbClr val="5A6B7E"/>
                </a:solidFill>
                <a:latin typeface="Aptos" pitchFamily="34" charset="0"/>
                <a:ea typeface="Aptos" pitchFamily="34" charset="-122"/>
                <a:cs typeface="Aptos" pitchFamily="34" charset="-120"/>
              </a:rPr>
              <a:t>Statistiques nationales difficiles à produire rapidement.</a:t>
            </a:r>
            <a:endParaRPr lang="en-US" sz="1100" dirty="0"/>
          </a:p>
        </p:txBody>
      </p:sp>
      <p:sp>
        <p:nvSpPr>
          <p:cNvPr id="28" name="Shape 26"/>
          <p:cNvSpPr/>
          <p:nvPr/>
        </p:nvSpPr>
        <p:spPr>
          <a:xfrm>
            <a:off x="1234440" y="4709160"/>
            <a:ext cx="9692640" cy="731520"/>
          </a:xfrm>
          <a:prstGeom prst="roundRect">
            <a:avLst>
              <a:gd name="adj" fmla="val 7500"/>
            </a:avLst>
          </a:prstGeom>
          <a:solidFill>
            <a:srgbClr val="0F335D"/>
          </a:solidFill>
          <a:ln w="12700">
            <a:solidFill>
              <a:srgbClr val="00B7A8"/>
            </a:solidFill>
            <a:prstDash val="solid"/>
          </a:ln>
        </p:spPr>
      </p:sp>
      <p:sp>
        <p:nvSpPr>
          <p:cNvPr id="29" name="Text 27"/>
          <p:cNvSpPr/>
          <p:nvPr/>
        </p:nvSpPr>
        <p:spPr>
          <a:xfrm>
            <a:off x="1508760" y="4892040"/>
            <a:ext cx="9144000" cy="320040"/>
          </a:xfrm>
          <a:prstGeom prst="rect">
            <a:avLst/>
          </a:prstGeom>
          <a:noFill/>
          <a:ln/>
        </p:spPr>
        <p:txBody>
          <a:bodyPr wrap="square" lIns="635" tIns="635" rIns="635" bIns="635" rtlCol="0" anchor="ctr">
            <a:normAutofit/>
          </a:bodyPr>
          <a:lstStyle/>
          <a:p>
            <a:pPr algn="ctr" indent="0" marL="0">
              <a:buNone/>
            </a:pPr>
            <a:r>
              <a:rPr lang="en-US" sz="1600" b="1" dirty="0">
                <a:solidFill>
                  <a:srgbClr val="FFFFFF"/>
                </a:solidFill>
                <a:latin typeface="Aptos" pitchFamily="34" charset="0"/>
                <a:ea typeface="Aptos" pitchFamily="34" charset="-122"/>
                <a:cs typeface="Aptos" pitchFamily="34" charset="-120"/>
              </a:rPr>
              <a:t>Réponse attendue : un système harmonisé pour collecter, structurer, contrôler et exploiter les données de certification.</a:t>
            </a:r>
            <a:endParaRPr lang="en-US" sz="160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04  —  Vision du système cible</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Un outil simple, évolutif et directement utile pour la HAUQE.</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502920" y="1417320"/>
            <a:ext cx="1874520" cy="1920240"/>
          </a:xfrm>
          <a:prstGeom prst="roundRect">
            <a:avLst>
              <a:gd name="adj" fmla="val 2927"/>
            </a:avLst>
          </a:prstGeom>
          <a:solidFill>
            <a:srgbClr val="F6FAFE"/>
          </a:solidFill>
          <a:ln w="12700">
            <a:solidFill>
              <a:srgbClr val="DCE8F4"/>
            </a:solidFill>
            <a:prstDash val="solid"/>
          </a:ln>
        </p:spPr>
      </p:sp>
      <p:sp>
        <p:nvSpPr>
          <p:cNvPr id="6" name="Text 4"/>
          <p:cNvSpPr/>
          <p:nvPr/>
        </p:nvSpPr>
        <p:spPr>
          <a:xfrm>
            <a:off x="612648" y="1709928"/>
            <a:ext cx="1645920" cy="310896"/>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Collecte</a:t>
            </a:r>
            <a:endParaRPr lang="en-US" sz="1400" dirty="0"/>
          </a:p>
        </p:txBody>
      </p:sp>
      <p:sp>
        <p:nvSpPr>
          <p:cNvPr id="7" name="Text 5"/>
          <p:cNvSpPr/>
          <p:nvPr/>
        </p:nvSpPr>
        <p:spPr>
          <a:xfrm>
            <a:off x="667512" y="2221992"/>
            <a:ext cx="1554480" cy="841248"/>
          </a:xfrm>
          <a:prstGeom prst="rect">
            <a:avLst/>
          </a:prstGeom>
          <a:noFill/>
          <a:ln/>
        </p:spPr>
        <p:txBody>
          <a:bodyPr wrap="square" lIns="635" tIns="635" rIns="635" bIns="635" rtlCol="0" anchor="ctr">
            <a:normAutofit/>
          </a:bodyPr>
          <a:lstStyle/>
          <a:p>
            <a:pPr algn="ctr" indent="0" marL="0">
              <a:buNone/>
            </a:pPr>
            <a:r>
              <a:rPr lang="en-US" sz="1150" dirty="0">
                <a:solidFill>
                  <a:srgbClr val="5A6B7E"/>
                </a:solidFill>
                <a:latin typeface="Aptos" pitchFamily="34" charset="0"/>
                <a:ea typeface="Aptos" pitchFamily="34" charset="-122"/>
                <a:cs typeface="Aptos" pitchFamily="34" charset="-120"/>
              </a:rPr>
              <a:t>Fiches terrain</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formulaire numérique</a:t>
            </a:r>
            <a:endParaRPr lang="en-US" sz="1150" dirty="0"/>
          </a:p>
        </p:txBody>
      </p:sp>
      <p:sp>
        <p:nvSpPr>
          <p:cNvPr id="8" name="Shape 6"/>
          <p:cNvSpPr/>
          <p:nvPr/>
        </p:nvSpPr>
        <p:spPr>
          <a:xfrm>
            <a:off x="2441448" y="2176272"/>
            <a:ext cx="292608" cy="292608"/>
          </a:xfrm>
          <a:prstGeom prst="chevron">
            <a:avLst/>
          </a:prstGeom>
          <a:solidFill>
            <a:srgbClr val="00B7A8"/>
          </a:solidFill>
          <a:ln w="12700">
            <a:solidFill>
              <a:srgbClr val="00B7A8">
                <a:alpha val="0"/>
              </a:srgbClr>
            </a:solidFill>
            <a:prstDash val="solid"/>
          </a:ln>
        </p:spPr>
      </p:sp>
      <p:sp>
        <p:nvSpPr>
          <p:cNvPr id="9" name="Shape 7"/>
          <p:cNvSpPr/>
          <p:nvPr/>
        </p:nvSpPr>
        <p:spPr>
          <a:xfrm>
            <a:off x="2834640" y="1417320"/>
            <a:ext cx="1874520" cy="1920240"/>
          </a:xfrm>
          <a:prstGeom prst="roundRect">
            <a:avLst>
              <a:gd name="adj" fmla="val 2927"/>
            </a:avLst>
          </a:prstGeom>
          <a:solidFill>
            <a:srgbClr val="DDF7F5"/>
          </a:solidFill>
          <a:ln w="17780">
            <a:solidFill>
              <a:srgbClr val="00B7A8"/>
            </a:solidFill>
            <a:prstDash val="solid"/>
          </a:ln>
        </p:spPr>
      </p:sp>
      <p:sp>
        <p:nvSpPr>
          <p:cNvPr id="10" name="Text 8"/>
          <p:cNvSpPr/>
          <p:nvPr/>
        </p:nvSpPr>
        <p:spPr>
          <a:xfrm>
            <a:off x="2944368" y="1709928"/>
            <a:ext cx="1645920" cy="310896"/>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Base nationale</a:t>
            </a:r>
            <a:endParaRPr lang="en-US" sz="1400" dirty="0"/>
          </a:p>
        </p:txBody>
      </p:sp>
      <p:sp>
        <p:nvSpPr>
          <p:cNvPr id="11" name="Text 9"/>
          <p:cNvSpPr/>
          <p:nvPr/>
        </p:nvSpPr>
        <p:spPr>
          <a:xfrm>
            <a:off x="2999232" y="2221992"/>
            <a:ext cx="1554480" cy="841248"/>
          </a:xfrm>
          <a:prstGeom prst="rect">
            <a:avLst/>
          </a:prstGeom>
          <a:noFill/>
          <a:ln/>
        </p:spPr>
        <p:txBody>
          <a:bodyPr wrap="square" lIns="635" tIns="635" rIns="635" bIns="635" rtlCol="0" anchor="ctr">
            <a:normAutofit/>
          </a:bodyPr>
          <a:lstStyle/>
          <a:p>
            <a:pPr algn="ctr" indent="0" marL="0">
              <a:buNone/>
            </a:pPr>
            <a:r>
              <a:rPr lang="en-US" sz="1150" dirty="0">
                <a:solidFill>
                  <a:srgbClr val="5A6B7E"/>
                </a:solidFill>
                <a:latin typeface="Aptos" pitchFamily="34" charset="0"/>
                <a:ea typeface="Aptos" pitchFamily="34" charset="-122"/>
                <a:cs typeface="Aptos" pitchFamily="34" charset="-120"/>
              </a:rPr>
              <a:t>Entreprises</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certificats</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organismes</a:t>
            </a:r>
            <a:endParaRPr lang="en-US" sz="1150" dirty="0"/>
          </a:p>
        </p:txBody>
      </p:sp>
      <p:sp>
        <p:nvSpPr>
          <p:cNvPr id="12" name="Shape 10"/>
          <p:cNvSpPr/>
          <p:nvPr/>
        </p:nvSpPr>
        <p:spPr>
          <a:xfrm>
            <a:off x="4773168" y="2176272"/>
            <a:ext cx="292608" cy="292608"/>
          </a:xfrm>
          <a:prstGeom prst="chevron">
            <a:avLst/>
          </a:prstGeom>
          <a:solidFill>
            <a:srgbClr val="00B7A8"/>
          </a:solidFill>
          <a:ln w="12700">
            <a:solidFill>
              <a:srgbClr val="00B7A8">
                <a:alpha val="0"/>
              </a:srgbClr>
            </a:solidFill>
            <a:prstDash val="solid"/>
          </a:ln>
        </p:spPr>
      </p:sp>
      <p:sp>
        <p:nvSpPr>
          <p:cNvPr id="13" name="Shape 11"/>
          <p:cNvSpPr/>
          <p:nvPr/>
        </p:nvSpPr>
        <p:spPr>
          <a:xfrm>
            <a:off x="5166360" y="1417320"/>
            <a:ext cx="1874520" cy="1920240"/>
          </a:xfrm>
          <a:prstGeom prst="roundRect">
            <a:avLst>
              <a:gd name="adj" fmla="val 2927"/>
            </a:avLst>
          </a:prstGeom>
          <a:solidFill>
            <a:srgbClr val="F6FAFE"/>
          </a:solidFill>
          <a:ln w="12700">
            <a:solidFill>
              <a:srgbClr val="DCE8F4"/>
            </a:solidFill>
            <a:prstDash val="solid"/>
          </a:ln>
        </p:spPr>
      </p:sp>
      <p:sp>
        <p:nvSpPr>
          <p:cNvPr id="14" name="Text 12"/>
          <p:cNvSpPr/>
          <p:nvPr/>
        </p:nvSpPr>
        <p:spPr>
          <a:xfrm>
            <a:off x="5276088" y="1709928"/>
            <a:ext cx="1645920" cy="310896"/>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Contrôle</a:t>
            </a:r>
            <a:endParaRPr lang="en-US" sz="1400" dirty="0"/>
          </a:p>
        </p:txBody>
      </p:sp>
      <p:sp>
        <p:nvSpPr>
          <p:cNvPr id="15" name="Text 13"/>
          <p:cNvSpPr/>
          <p:nvPr/>
        </p:nvSpPr>
        <p:spPr>
          <a:xfrm>
            <a:off x="5330952" y="2221992"/>
            <a:ext cx="1554480" cy="841248"/>
          </a:xfrm>
          <a:prstGeom prst="rect">
            <a:avLst/>
          </a:prstGeom>
          <a:noFill/>
          <a:ln/>
        </p:spPr>
        <p:txBody>
          <a:bodyPr wrap="square" lIns="635" tIns="635" rIns="635" bIns="635" rtlCol="0" anchor="ctr">
            <a:normAutofit/>
          </a:bodyPr>
          <a:lstStyle/>
          <a:p>
            <a:pPr algn="ctr" indent="0" marL="0">
              <a:buNone/>
            </a:pPr>
            <a:r>
              <a:rPr lang="en-US" sz="1150" dirty="0">
                <a:solidFill>
                  <a:srgbClr val="5A6B7E"/>
                </a:solidFill>
                <a:latin typeface="Aptos" pitchFamily="34" charset="0"/>
                <a:ea typeface="Aptos" pitchFamily="34" charset="-122"/>
                <a:cs typeface="Aptos" pitchFamily="34" charset="-120"/>
              </a:rPr>
              <a:t>Validité</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échéances</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scoring</a:t>
            </a:r>
            <a:endParaRPr lang="en-US" sz="1150" dirty="0"/>
          </a:p>
        </p:txBody>
      </p:sp>
      <p:sp>
        <p:nvSpPr>
          <p:cNvPr id="16" name="Shape 14"/>
          <p:cNvSpPr/>
          <p:nvPr/>
        </p:nvSpPr>
        <p:spPr>
          <a:xfrm>
            <a:off x="7104888" y="2176272"/>
            <a:ext cx="292608" cy="292608"/>
          </a:xfrm>
          <a:prstGeom prst="chevron">
            <a:avLst/>
          </a:prstGeom>
          <a:solidFill>
            <a:srgbClr val="00B7A8"/>
          </a:solidFill>
          <a:ln w="12700">
            <a:solidFill>
              <a:srgbClr val="00B7A8">
                <a:alpha val="0"/>
              </a:srgbClr>
            </a:solidFill>
            <a:prstDash val="solid"/>
          </a:ln>
        </p:spPr>
      </p:sp>
      <p:sp>
        <p:nvSpPr>
          <p:cNvPr id="17" name="Shape 15"/>
          <p:cNvSpPr/>
          <p:nvPr/>
        </p:nvSpPr>
        <p:spPr>
          <a:xfrm>
            <a:off x="7498080" y="1417320"/>
            <a:ext cx="1874520" cy="1920240"/>
          </a:xfrm>
          <a:prstGeom prst="roundRect">
            <a:avLst>
              <a:gd name="adj" fmla="val 2927"/>
            </a:avLst>
          </a:prstGeom>
          <a:solidFill>
            <a:srgbClr val="F6FAFE"/>
          </a:solidFill>
          <a:ln w="12700">
            <a:solidFill>
              <a:srgbClr val="DCE8F4"/>
            </a:solidFill>
            <a:prstDash val="solid"/>
          </a:ln>
        </p:spPr>
      </p:sp>
      <p:sp>
        <p:nvSpPr>
          <p:cNvPr id="18" name="Text 16"/>
          <p:cNvSpPr/>
          <p:nvPr/>
        </p:nvSpPr>
        <p:spPr>
          <a:xfrm>
            <a:off x="7607808" y="1709928"/>
            <a:ext cx="1645920" cy="310896"/>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Tableaux de bord</a:t>
            </a:r>
            <a:endParaRPr lang="en-US" sz="1400" dirty="0"/>
          </a:p>
        </p:txBody>
      </p:sp>
      <p:sp>
        <p:nvSpPr>
          <p:cNvPr id="19" name="Text 17"/>
          <p:cNvSpPr/>
          <p:nvPr/>
        </p:nvSpPr>
        <p:spPr>
          <a:xfrm>
            <a:off x="7662672" y="2221992"/>
            <a:ext cx="1554480" cy="841248"/>
          </a:xfrm>
          <a:prstGeom prst="rect">
            <a:avLst/>
          </a:prstGeom>
          <a:noFill/>
          <a:ln/>
        </p:spPr>
        <p:txBody>
          <a:bodyPr wrap="square" lIns="635" tIns="635" rIns="635" bIns="635" rtlCol="0" anchor="ctr">
            <a:normAutofit/>
          </a:bodyPr>
          <a:lstStyle/>
          <a:p>
            <a:pPr algn="ctr" indent="0" marL="0">
              <a:buNone/>
            </a:pPr>
            <a:r>
              <a:rPr lang="en-US" sz="1150" dirty="0">
                <a:solidFill>
                  <a:srgbClr val="5A6B7E"/>
                </a:solidFill>
                <a:latin typeface="Aptos" pitchFamily="34" charset="0"/>
                <a:ea typeface="Aptos" pitchFamily="34" charset="-122"/>
                <a:cs typeface="Aptos" pitchFamily="34" charset="-120"/>
              </a:rPr>
              <a:t>Alertes</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statistiques</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rapports</a:t>
            </a:r>
            <a:endParaRPr lang="en-US" sz="1150" dirty="0"/>
          </a:p>
        </p:txBody>
      </p:sp>
      <p:sp>
        <p:nvSpPr>
          <p:cNvPr id="20" name="Shape 18"/>
          <p:cNvSpPr/>
          <p:nvPr/>
        </p:nvSpPr>
        <p:spPr>
          <a:xfrm>
            <a:off x="9436608" y="2176272"/>
            <a:ext cx="292608" cy="292608"/>
          </a:xfrm>
          <a:prstGeom prst="chevron">
            <a:avLst/>
          </a:prstGeom>
          <a:solidFill>
            <a:srgbClr val="00B7A8"/>
          </a:solidFill>
          <a:ln w="12700">
            <a:solidFill>
              <a:srgbClr val="00B7A8">
                <a:alpha val="0"/>
              </a:srgbClr>
            </a:solidFill>
            <a:prstDash val="solid"/>
          </a:ln>
        </p:spPr>
      </p:sp>
      <p:sp>
        <p:nvSpPr>
          <p:cNvPr id="21" name="Shape 19"/>
          <p:cNvSpPr/>
          <p:nvPr/>
        </p:nvSpPr>
        <p:spPr>
          <a:xfrm>
            <a:off x="9829800" y="1417320"/>
            <a:ext cx="1874520" cy="1920240"/>
          </a:xfrm>
          <a:prstGeom prst="roundRect">
            <a:avLst>
              <a:gd name="adj" fmla="val 2927"/>
            </a:avLst>
          </a:prstGeom>
          <a:solidFill>
            <a:srgbClr val="F6FAFE"/>
          </a:solidFill>
          <a:ln w="12700">
            <a:solidFill>
              <a:srgbClr val="DCE8F4"/>
            </a:solidFill>
            <a:prstDash val="solid"/>
          </a:ln>
        </p:spPr>
      </p:sp>
      <p:sp>
        <p:nvSpPr>
          <p:cNvPr id="22" name="Text 20"/>
          <p:cNvSpPr/>
          <p:nvPr/>
        </p:nvSpPr>
        <p:spPr>
          <a:xfrm>
            <a:off x="9939528" y="1709928"/>
            <a:ext cx="1645920" cy="310896"/>
          </a:xfrm>
          <a:prstGeom prst="rect">
            <a:avLst/>
          </a:prstGeom>
          <a:noFill/>
          <a:ln/>
        </p:spPr>
        <p:txBody>
          <a:bodyPr wrap="square" lIns="635" tIns="635" rIns="635" bIns="635" rtlCol="0" anchor="ctr">
            <a:normAutofit/>
          </a:bodyPr>
          <a:lstStyle/>
          <a:p>
            <a:pPr algn="ctr" indent="0" marL="0">
              <a:buNone/>
            </a:pPr>
            <a:r>
              <a:rPr lang="en-US" sz="1400" b="1" dirty="0">
                <a:solidFill>
                  <a:srgbClr val="10243D"/>
                </a:solidFill>
                <a:latin typeface="Aptos" pitchFamily="34" charset="0"/>
                <a:ea typeface="Aptos" pitchFamily="34" charset="-122"/>
                <a:cs typeface="Aptos" pitchFamily="34" charset="-120"/>
              </a:rPr>
              <a:t>Décision</a:t>
            </a:r>
            <a:endParaRPr lang="en-US" sz="1400" dirty="0"/>
          </a:p>
        </p:txBody>
      </p:sp>
      <p:sp>
        <p:nvSpPr>
          <p:cNvPr id="23" name="Text 21"/>
          <p:cNvSpPr/>
          <p:nvPr/>
        </p:nvSpPr>
        <p:spPr>
          <a:xfrm>
            <a:off x="9994392" y="2221992"/>
            <a:ext cx="1554480" cy="841248"/>
          </a:xfrm>
          <a:prstGeom prst="rect">
            <a:avLst/>
          </a:prstGeom>
          <a:noFill/>
          <a:ln/>
        </p:spPr>
        <p:txBody>
          <a:bodyPr wrap="square" lIns="635" tIns="635" rIns="635" bIns="635" rtlCol="0" anchor="ctr">
            <a:normAutofit/>
          </a:bodyPr>
          <a:lstStyle/>
          <a:p>
            <a:pPr algn="ctr" indent="0" marL="0">
              <a:buNone/>
            </a:pPr>
            <a:r>
              <a:rPr lang="en-US" sz="1150" dirty="0">
                <a:solidFill>
                  <a:srgbClr val="5A6B7E"/>
                </a:solidFill>
                <a:latin typeface="Aptos" pitchFamily="34" charset="0"/>
                <a:ea typeface="Aptos" pitchFamily="34" charset="-122"/>
                <a:cs typeface="Aptos" pitchFamily="34" charset="-120"/>
              </a:rPr>
              <a:t>Pilotage</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suivi</a:t>
            </a:r>
            <a:endParaRPr lang="en-US" sz="1150" dirty="0"/>
          </a:p>
          <a:p>
            <a:pPr algn="ctr" indent="0" marL="0">
              <a:buNone/>
            </a:pPr>
            <a:r>
              <a:rPr lang="en-US" sz="1150" dirty="0">
                <a:solidFill>
                  <a:srgbClr val="5A6B7E"/>
                </a:solidFill>
                <a:latin typeface="Aptos" pitchFamily="34" charset="0"/>
                <a:ea typeface="Aptos" pitchFamily="34" charset="-122"/>
                <a:cs typeface="Aptos" pitchFamily="34" charset="-120"/>
              </a:rPr>
              <a:t>priorisation</a:t>
            </a:r>
            <a:endParaRPr lang="en-US" sz="1150" dirty="0"/>
          </a:p>
        </p:txBody>
      </p:sp>
      <p:sp>
        <p:nvSpPr>
          <p:cNvPr id="24" name="Shape 22"/>
          <p:cNvSpPr/>
          <p:nvPr/>
        </p:nvSpPr>
        <p:spPr>
          <a:xfrm>
            <a:off x="685800" y="4160520"/>
            <a:ext cx="5029200" cy="384048"/>
          </a:xfrm>
          <a:prstGeom prst="roundRect">
            <a:avLst>
              <a:gd name="adj" fmla="val 11905"/>
            </a:avLst>
          </a:prstGeom>
          <a:solidFill>
            <a:srgbClr val="00B7A8"/>
          </a:solidFill>
          <a:ln w="12700">
            <a:solidFill>
              <a:srgbClr val="00B7A8">
                <a:alpha val="0"/>
              </a:srgbClr>
            </a:solidFill>
            <a:prstDash val="solid"/>
          </a:ln>
        </p:spPr>
      </p:sp>
      <p:sp>
        <p:nvSpPr>
          <p:cNvPr id="25" name="Text 23"/>
          <p:cNvSpPr/>
          <p:nvPr/>
        </p:nvSpPr>
        <p:spPr>
          <a:xfrm>
            <a:off x="795528" y="4206240"/>
            <a:ext cx="480974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Questions auxquelles le système doit répondre</a:t>
            </a:r>
            <a:endParaRPr lang="en-US" sz="1100" dirty="0"/>
          </a:p>
        </p:txBody>
      </p:sp>
      <p:sp>
        <p:nvSpPr>
          <p:cNvPr id="26" name="Shape 24"/>
          <p:cNvSpPr/>
          <p:nvPr/>
        </p:nvSpPr>
        <p:spPr>
          <a:xfrm>
            <a:off x="685800" y="4572000"/>
            <a:ext cx="5029200" cy="1143000"/>
          </a:xfrm>
          <a:prstGeom prst="roundRect">
            <a:avLst>
              <a:gd name="adj" fmla="val 4800"/>
            </a:avLst>
          </a:prstGeom>
          <a:solidFill>
            <a:srgbClr val="0F335D"/>
          </a:solidFill>
          <a:ln w="12700">
            <a:solidFill>
              <a:srgbClr val="2E5A88"/>
            </a:solidFill>
            <a:prstDash val="solid"/>
          </a:ln>
        </p:spPr>
      </p:sp>
      <p:sp>
        <p:nvSpPr>
          <p:cNvPr id="27" name="Text 25"/>
          <p:cNvSpPr/>
          <p:nvPr/>
        </p:nvSpPr>
        <p:spPr>
          <a:xfrm>
            <a:off x="960120" y="4736592"/>
            <a:ext cx="4480560" cy="804672"/>
          </a:xfrm>
          <a:prstGeom prst="rect">
            <a:avLst/>
          </a:prstGeom>
          <a:noFill/>
          <a:ln/>
        </p:spPr>
        <p:txBody>
          <a:bodyPr wrap="square" lIns="1016" tIns="1016" rIns="1016" bIns="1016" rtlCol="0" anchor="t">
            <a:normAutofit/>
          </a:bodyPr>
          <a:lstStyle/>
          <a:p>
            <a:pPr indent="0" marL="0">
              <a:buNone/>
            </a:pPr>
            <a:r>
              <a:rPr lang="en-US" sz="1250" dirty="0">
                <a:solidFill>
                  <a:srgbClr val="FFFFFF"/>
                </a:solidFill>
                <a:latin typeface="Aptos" pitchFamily="34" charset="0"/>
                <a:ea typeface="Aptos" pitchFamily="34" charset="-122"/>
                <a:cs typeface="Aptos" pitchFamily="34" charset="-120"/>
              </a:rPr>
              <a:t>• Combien d’entreprises certifiées ?
</a:t>
            </a:r>
            <a:pPr indent="0" marL="0">
              <a:buNone/>
            </a:pPr>
            <a:r>
              <a:rPr lang="en-US" sz="1250" dirty="0">
                <a:solidFill>
                  <a:srgbClr val="FFFFFF"/>
                </a:solidFill>
                <a:latin typeface="Aptos" pitchFamily="34" charset="0"/>
                <a:ea typeface="Aptos" pitchFamily="34" charset="-122"/>
                <a:cs typeface="Aptos" pitchFamily="34" charset="-120"/>
              </a:rPr>
              <a:t>• Quels certificats et référentiels ?
</a:t>
            </a:r>
            <a:pPr indent="0" marL="0">
              <a:buNone/>
            </a:pPr>
            <a:r>
              <a:rPr lang="en-US" sz="1250" dirty="0">
                <a:solidFill>
                  <a:srgbClr val="FFFFFF"/>
                </a:solidFill>
                <a:latin typeface="Aptos" pitchFamily="34" charset="0"/>
                <a:ea typeface="Aptos" pitchFamily="34" charset="-122"/>
                <a:cs typeface="Aptos" pitchFamily="34" charset="-120"/>
              </a:rPr>
              <a:t>• Quelles échéances à surveiller ?</a:t>
            </a:r>
            <a:endParaRPr lang="en-US" sz="1250" dirty="0"/>
          </a:p>
        </p:txBody>
      </p:sp>
      <p:sp>
        <p:nvSpPr>
          <p:cNvPr id="28" name="Shape 26"/>
          <p:cNvSpPr/>
          <p:nvPr/>
        </p:nvSpPr>
        <p:spPr>
          <a:xfrm>
            <a:off x="6446520" y="4160520"/>
            <a:ext cx="4846320" cy="384048"/>
          </a:xfrm>
          <a:prstGeom prst="roundRect">
            <a:avLst>
              <a:gd name="adj" fmla="val 11905"/>
            </a:avLst>
          </a:prstGeom>
          <a:solidFill>
            <a:srgbClr val="00B7A8"/>
          </a:solidFill>
          <a:ln w="12700">
            <a:solidFill>
              <a:srgbClr val="00B7A8">
                <a:alpha val="0"/>
              </a:srgbClr>
            </a:solidFill>
            <a:prstDash val="solid"/>
          </a:ln>
        </p:spPr>
      </p:sp>
      <p:sp>
        <p:nvSpPr>
          <p:cNvPr id="29" name="Text 27"/>
          <p:cNvSpPr/>
          <p:nvPr/>
        </p:nvSpPr>
        <p:spPr>
          <a:xfrm>
            <a:off x="6556248" y="4206240"/>
            <a:ext cx="462686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Ce que le système apporte</a:t>
            </a:r>
            <a:endParaRPr lang="en-US" sz="1100" dirty="0"/>
          </a:p>
        </p:txBody>
      </p:sp>
      <p:sp>
        <p:nvSpPr>
          <p:cNvPr id="30" name="Shape 28"/>
          <p:cNvSpPr/>
          <p:nvPr/>
        </p:nvSpPr>
        <p:spPr>
          <a:xfrm>
            <a:off x="6446520" y="4572000"/>
            <a:ext cx="4846320" cy="1143000"/>
          </a:xfrm>
          <a:prstGeom prst="roundRect">
            <a:avLst>
              <a:gd name="adj" fmla="val 4800"/>
            </a:avLst>
          </a:prstGeom>
          <a:solidFill>
            <a:srgbClr val="0F335D"/>
          </a:solidFill>
          <a:ln w="12700">
            <a:solidFill>
              <a:srgbClr val="2E5A88"/>
            </a:solidFill>
            <a:prstDash val="solid"/>
          </a:ln>
        </p:spPr>
      </p:sp>
      <p:sp>
        <p:nvSpPr>
          <p:cNvPr id="31" name="Text 29"/>
          <p:cNvSpPr/>
          <p:nvPr/>
        </p:nvSpPr>
        <p:spPr>
          <a:xfrm>
            <a:off x="6720840" y="4736592"/>
            <a:ext cx="4297680" cy="804672"/>
          </a:xfrm>
          <a:prstGeom prst="rect">
            <a:avLst/>
          </a:prstGeom>
          <a:noFill/>
          <a:ln/>
        </p:spPr>
        <p:txBody>
          <a:bodyPr wrap="square" lIns="1016" tIns="1016" rIns="1016" bIns="1016" rtlCol="0" anchor="t">
            <a:normAutofit/>
          </a:bodyPr>
          <a:lstStyle/>
          <a:p>
            <a:pPr indent="0" marL="0">
              <a:buNone/>
            </a:pPr>
            <a:r>
              <a:rPr lang="en-US" sz="1250" dirty="0">
                <a:solidFill>
                  <a:srgbClr val="FFFFFF"/>
                </a:solidFill>
                <a:latin typeface="Aptos" pitchFamily="34" charset="0"/>
                <a:ea typeface="Aptos" pitchFamily="34" charset="-122"/>
                <a:cs typeface="Aptos" pitchFamily="34" charset="-120"/>
              </a:rPr>
              <a:t>• Suivi en temps réel
</a:t>
            </a:r>
            <a:pPr indent="0" marL="0">
              <a:buNone/>
            </a:pPr>
            <a:r>
              <a:rPr lang="en-US" sz="1250" dirty="0">
                <a:solidFill>
                  <a:srgbClr val="FFFFFF"/>
                </a:solidFill>
                <a:latin typeface="Aptos" pitchFamily="34" charset="0"/>
                <a:ea typeface="Aptos" pitchFamily="34" charset="-122"/>
                <a:cs typeface="Aptos" pitchFamily="34" charset="-120"/>
              </a:rPr>
              <a:t>• Alertes automatiques
</a:t>
            </a:r>
            <a:pPr indent="0" marL="0">
              <a:buNone/>
            </a:pPr>
            <a:r>
              <a:rPr lang="en-US" sz="1250" dirty="0">
                <a:solidFill>
                  <a:srgbClr val="FFFFFF"/>
                </a:solidFill>
                <a:latin typeface="Aptos" pitchFamily="34" charset="0"/>
                <a:ea typeface="Aptos" pitchFamily="34" charset="-122"/>
                <a:cs typeface="Aptos" pitchFamily="34" charset="-120"/>
              </a:rPr>
              <a:t>• Statistiques fiables pour la décision</a:t>
            </a:r>
            <a:endParaRPr lang="en-US" sz="125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05  —  Complémentarité R1.3.5 + R1.4.3</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Les deux activités forment un seul dispositif de gestion et de contrôle.</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822960" y="1234440"/>
            <a:ext cx="4983480" cy="3337560"/>
          </a:xfrm>
          <a:prstGeom prst="roundRect">
            <a:avLst>
              <a:gd name="adj" fmla="val 1644"/>
            </a:avLst>
          </a:prstGeom>
          <a:solidFill>
            <a:srgbClr val="F6FAFE"/>
          </a:solidFill>
          <a:ln w="15240">
            <a:solidFill>
              <a:srgbClr val="00B7A8"/>
            </a:solidFill>
            <a:prstDash val="solid"/>
          </a:ln>
        </p:spPr>
      </p:sp>
      <p:sp>
        <p:nvSpPr>
          <p:cNvPr id="6" name="Shape 4"/>
          <p:cNvSpPr/>
          <p:nvPr/>
        </p:nvSpPr>
        <p:spPr>
          <a:xfrm>
            <a:off x="1051560" y="1481328"/>
            <a:ext cx="4526280" cy="384048"/>
          </a:xfrm>
          <a:prstGeom prst="roundRect">
            <a:avLst>
              <a:gd name="adj" fmla="val 11905"/>
            </a:avLst>
          </a:prstGeom>
          <a:solidFill>
            <a:srgbClr val="00B7A8"/>
          </a:solidFill>
          <a:ln w="12700">
            <a:solidFill>
              <a:srgbClr val="00B7A8">
                <a:alpha val="0"/>
              </a:srgbClr>
            </a:solidFill>
            <a:prstDash val="solid"/>
          </a:ln>
        </p:spPr>
      </p:sp>
      <p:sp>
        <p:nvSpPr>
          <p:cNvPr id="7" name="Text 5"/>
          <p:cNvSpPr/>
          <p:nvPr/>
        </p:nvSpPr>
        <p:spPr>
          <a:xfrm>
            <a:off x="1161288" y="1527048"/>
            <a:ext cx="430682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R1.3.5 — Construire le système</a:t>
            </a:r>
            <a:endParaRPr lang="en-US" sz="1100" dirty="0"/>
          </a:p>
        </p:txBody>
      </p:sp>
      <p:sp>
        <p:nvSpPr>
          <p:cNvPr id="8" name="Text 6"/>
          <p:cNvSpPr/>
          <p:nvPr/>
        </p:nvSpPr>
        <p:spPr>
          <a:xfrm>
            <a:off x="1234440" y="2039112"/>
            <a:ext cx="4160520" cy="1874520"/>
          </a:xfrm>
          <a:prstGeom prst="rect">
            <a:avLst/>
          </a:prstGeom>
          <a:noFill/>
          <a:ln/>
        </p:spPr>
        <p:txBody>
          <a:bodyPr wrap="square" lIns="1016" tIns="1016" rIns="1016" bIns="1016" rtlCol="0" anchor="t">
            <a:normAutofit/>
          </a:bodyPr>
          <a:lstStyle/>
          <a:p>
            <a:pPr indent="0" marL="0">
              <a:buNone/>
            </a:pPr>
            <a:r>
              <a:rPr lang="en-US" sz="1400" dirty="0">
                <a:solidFill>
                  <a:srgbClr val="10243D"/>
                </a:solidFill>
                <a:latin typeface="Aptos" pitchFamily="34" charset="0"/>
                <a:ea typeface="Aptos" pitchFamily="34" charset="-122"/>
                <a:cs typeface="Aptos" pitchFamily="34" charset="-120"/>
              </a:rPr>
              <a:t>• Créer la base nationale
</a:t>
            </a:r>
            <a:pPr indent="0" marL="0">
              <a:buNone/>
            </a:pPr>
            <a:r>
              <a:rPr lang="en-US" sz="1400" dirty="0">
                <a:solidFill>
                  <a:srgbClr val="10243D"/>
                </a:solidFill>
                <a:latin typeface="Aptos" pitchFamily="34" charset="0"/>
                <a:ea typeface="Aptos" pitchFamily="34" charset="-122"/>
                <a:cs typeface="Aptos" pitchFamily="34" charset="-120"/>
              </a:rPr>
              <a:t>• Structurer les tables et modules
</a:t>
            </a:r>
            <a:pPr indent="0" marL="0">
              <a:buNone/>
            </a:pPr>
            <a:r>
              <a:rPr lang="en-US" sz="1400" dirty="0">
                <a:solidFill>
                  <a:srgbClr val="10243D"/>
                </a:solidFill>
                <a:latin typeface="Aptos" pitchFamily="34" charset="0"/>
                <a:ea typeface="Aptos" pitchFamily="34" charset="-122"/>
                <a:cs typeface="Aptos" pitchFamily="34" charset="-120"/>
              </a:rPr>
              <a:t>• Organiser les données
</a:t>
            </a:r>
            <a:pPr indent="0" marL="0">
              <a:buNone/>
            </a:pPr>
            <a:r>
              <a:rPr lang="en-US" sz="1400" dirty="0">
                <a:solidFill>
                  <a:srgbClr val="10243D"/>
                </a:solidFill>
                <a:latin typeface="Aptos" pitchFamily="34" charset="0"/>
                <a:ea typeface="Aptos" pitchFamily="34" charset="-122"/>
                <a:cs typeface="Aptos" pitchFamily="34" charset="-120"/>
              </a:rPr>
              <a:t>• Mettre en place la recherche, les alertes et les tableaux de bord</a:t>
            </a:r>
            <a:endParaRPr lang="en-US" sz="1400" dirty="0"/>
          </a:p>
        </p:txBody>
      </p:sp>
      <p:sp>
        <p:nvSpPr>
          <p:cNvPr id="9" name="Shape 7"/>
          <p:cNvSpPr/>
          <p:nvPr/>
        </p:nvSpPr>
        <p:spPr>
          <a:xfrm>
            <a:off x="6382512" y="1234440"/>
            <a:ext cx="4983480" cy="3337560"/>
          </a:xfrm>
          <a:prstGeom prst="roundRect">
            <a:avLst>
              <a:gd name="adj" fmla="val 1644"/>
            </a:avLst>
          </a:prstGeom>
          <a:solidFill>
            <a:srgbClr val="F6FAFE"/>
          </a:solidFill>
          <a:ln w="15240">
            <a:solidFill>
              <a:srgbClr val="00B7A8"/>
            </a:solidFill>
            <a:prstDash val="solid"/>
          </a:ln>
        </p:spPr>
      </p:sp>
      <p:sp>
        <p:nvSpPr>
          <p:cNvPr id="10" name="Shape 8"/>
          <p:cNvSpPr/>
          <p:nvPr/>
        </p:nvSpPr>
        <p:spPr>
          <a:xfrm>
            <a:off x="6611112" y="1481328"/>
            <a:ext cx="4526280" cy="384048"/>
          </a:xfrm>
          <a:prstGeom prst="roundRect">
            <a:avLst>
              <a:gd name="adj" fmla="val 11905"/>
            </a:avLst>
          </a:prstGeom>
          <a:solidFill>
            <a:srgbClr val="00B7A8"/>
          </a:solidFill>
          <a:ln w="12700">
            <a:solidFill>
              <a:srgbClr val="00B7A8">
                <a:alpha val="0"/>
              </a:srgbClr>
            </a:solidFill>
            <a:prstDash val="solid"/>
          </a:ln>
        </p:spPr>
      </p:sp>
      <p:sp>
        <p:nvSpPr>
          <p:cNvPr id="11" name="Text 9"/>
          <p:cNvSpPr/>
          <p:nvPr/>
        </p:nvSpPr>
        <p:spPr>
          <a:xfrm>
            <a:off x="6720840" y="1527048"/>
            <a:ext cx="430682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R1.4.3 — Exploiter le système</a:t>
            </a:r>
            <a:endParaRPr lang="en-US" sz="1100" dirty="0"/>
          </a:p>
        </p:txBody>
      </p:sp>
      <p:sp>
        <p:nvSpPr>
          <p:cNvPr id="12" name="Text 10"/>
          <p:cNvSpPr/>
          <p:nvPr/>
        </p:nvSpPr>
        <p:spPr>
          <a:xfrm>
            <a:off x="6793992" y="2039112"/>
            <a:ext cx="4160520" cy="1874520"/>
          </a:xfrm>
          <a:prstGeom prst="rect">
            <a:avLst/>
          </a:prstGeom>
          <a:noFill/>
          <a:ln/>
        </p:spPr>
        <p:txBody>
          <a:bodyPr wrap="square" lIns="1016" tIns="1016" rIns="1016" bIns="1016" rtlCol="0" anchor="t">
            <a:normAutofit/>
          </a:bodyPr>
          <a:lstStyle/>
          <a:p>
            <a:pPr indent="0" marL="0">
              <a:buNone/>
            </a:pPr>
            <a:r>
              <a:rPr lang="en-US" sz="1400" dirty="0">
                <a:solidFill>
                  <a:srgbClr val="10243D"/>
                </a:solidFill>
                <a:latin typeface="Aptos" pitchFamily="34" charset="0"/>
                <a:ea typeface="Aptos" pitchFamily="34" charset="-122"/>
                <a:cs typeface="Aptos" pitchFamily="34" charset="-120"/>
              </a:rPr>
              <a:t>• Contrôler les certificats
</a:t>
            </a:r>
            <a:pPr indent="0" marL="0">
              <a:buNone/>
            </a:pPr>
            <a:r>
              <a:rPr lang="en-US" sz="1400" dirty="0">
                <a:solidFill>
                  <a:srgbClr val="10243D"/>
                </a:solidFill>
                <a:latin typeface="Aptos" pitchFamily="34" charset="0"/>
                <a:ea typeface="Aptos" pitchFamily="34" charset="-122"/>
                <a:cs typeface="Aptos" pitchFamily="34" charset="-120"/>
              </a:rPr>
              <a:t>• Vérifier validité et échéances
</a:t>
            </a:r>
            <a:pPr indent="0" marL="0">
              <a:buNone/>
            </a:pPr>
            <a:r>
              <a:rPr lang="en-US" sz="1400" dirty="0">
                <a:solidFill>
                  <a:srgbClr val="10243D"/>
                </a:solidFill>
                <a:latin typeface="Aptos" pitchFamily="34" charset="0"/>
                <a:ea typeface="Aptos" pitchFamily="34" charset="-122"/>
                <a:cs typeface="Aptos" pitchFamily="34" charset="-120"/>
              </a:rPr>
              <a:t>• Codifier, classer et scorer
</a:t>
            </a:r>
            <a:pPr indent="0" marL="0">
              <a:buNone/>
            </a:pPr>
            <a:r>
              <a:rPr lang="en-US" sz="1400" dirty="0">
                <a:solidFill>
                  <a:srgbClr val="10243D"/>
                </a:solidFill>
                <a:latin typeface="Aptos" pitchFamily="34" charset="0"/>
                <a:ea typeface="Aptos" pitchFamily="34" charset="-122"/>
                <a:cs typeface="Aptos" pitchFamily="34" charset="-120"/>
              </a:rPr>
              <a:t>• Produire un suivi harmonisé pour la HAUQE</a:t>
            </a:r>
            <a:endParaRPr lang="en-US" sz="1400" dirty="0"/>
          </a:p>
        </p:txBody>
      </p:sp>
      <p:sp>
        <p:nvSpPr>
          <p:cNvPr id="13" name="Shape 11"/>
          <p:cNvSpPr/>
          <p:nvPr/>
        </p:nvSpPr>
        <p:spPr>
          <a:xfrm>
            <a:off x="1965960" y="5074920"/>
            <a:ext cx="8229600" cy="685800"/>
          </a:xfrm>
          <a:prstGeom prst="roundRect">
            <a:avLst>
              <a:gd name="adj" fmla="val 8000"/>
            </a:avLst>
          </a:prstGeom>
          <a:solidFill>
            <a:srgbClr val="0F335D"/>
          </a:solidFill>
          <a:ln w="12700">
            <a:solidFill>
              <a:srgbClr val="00B7A8"/>
            </a:solidFill>
            <a:prstDash val="solid"/>
          </a:ln>
        </p:spPr>
      </p:sp>
      <p:sp>
        <p:nvSpPr>
          <p:cNvPr id="14" name="Text 12"/>
          <p:cNvSpPr/>
          <p:nvPr/>
        </p:nvSpPr>
        <p:spPr>
          <a:xfrm>
            <a:off x="2148840" y="5285232"/>
            <a:ext cx="7863840" cy="228600"/>
          </a:xfrm>
          <a:prstGeom prst="rect">
            <a:avLst/>
          </a:prstGeom>
          <a:noFill/>
          <a:ln/>
        </p:spPr>
        <p:txBody>
          <a:bodyPr wrap="square" lIns="635" tIns="635" rIns="635" bIns="635"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Sans base de données fiable, le contrôle est fragile. Sans contrôle régulier, la base perd sa valeur.</a:t>
            </a:r>
            <a:endParaRPr lang="en-US" sz="140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06  —  Ce que couvre R1.3.5</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Développement et mise à jour de la base nationale des entreprises certifiées.</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594360" y="1325880"/>
            <a:ext cx="3246120" cy="1508760"/>
          </a:xfrm>
          <a:prstGeom prst="roundRect">
            <a:avLst>
              <a:gd name="adj" fmla="val 3636"/>
            </a:avLst>
          </a:prstGeom>
          <a:solidFill>
            <a:srgbClr val="F6FAFE"/>
          </a:solidFill>
          <a:ln w="12700">
            <a:solidFill>
              <a:srgbClr val="DCE8F4"/>
            </a:solidFill>
            <a:prstDash val="solid"/>
          </a:ln>
        </p:spPr>
      </p:sp>
      <p:sp>
        <p:nvSpPr>
          <p:cNvPr id="6" name="Shape 4"/>
          <p:cNvSpPr/>
          <p:nvPr/>
        </p:nvSpPr>
        <p:spPr>
          <a:xfrm>
            <a:off x="795528" y="1527048"/>
            <a:ext cx="502920" cy="457200"/>
          </a:xfrm>
          <a:prstGeom prst="roundRect">
            <a:avLst>
              <a:gd name="adj" fmla="val 12000"/>
            </a:avLst>
          </a:prstGeom>
          <a:solidFill>
            <a:srgbClr val="00B7A8"/>
          </a:solidFill>
          <a:ln w="12700">
            <a:solidFill>
              <a:srgbClr val="00B7A8">
                <a:alpha val="0"/>
              </a:srgbClr>
            </a:solidFill>
            <a:prstDash val="solid"/>
          </a:ln>
        </p:spPr>
      </p:sp>
      <p:sp>
        <p:nvSpPr>
          <p:cNvPr id="7" name="Text 5"/>
          <p:cNvSpPr/>
          <p:nvPr/>
        </p:nvSpPr>
        <p:spPr>
          <a:xfrm>
            <a:off x="950976" y="1636776"/>
            <a:ext cx="182880" cy="16459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1</a:t>
            </a:r>
            <a:endParaRPr lang="en-US" sz="1000" dirty="0"/>
          </a:p>
        </p:txBody>
      </p:sp>
      <p:sp>
        <p:nvSpPr>
          <p:cNvPr id="8" name="Text 6"/>
          <p:cNvSpPr/>
          <p:nvPr/>
        </p:nvSpPr>
        <p:spPr>
          <a:xfrm>
            <a:off x="1435608" y="1527048"/>
            <a:ext cx="2103120" cy="256032"/>
          </a:xfrm>
          <a:prstGeom prst="rect">
            <a:avLst/>
          </a:prstGeom>
          <a:noFill/>
          <a:ln/>
        </p:spPr>
        <p:txBody>
          <a:bodyPr wrap="square" lIns="635" tIns="635" rIns="635" bIns="635" rtlCol="0" anchor="ctr">
            <a:normAutofit/>
          </a:bodyPr>
          <a:lstStyle/>
          <a:p>
            <a:pPr algn="l" indent="0" marL="0">
              <a:buNone/>
            </a:pPr>
            <a:r>
              <a:rPr lang="en-US" sz="1350" b="1" dirty="0">
                <a:solidFill>
                  <a:srgbClr val="10243D"/>
                </a:solidFill>
                <a:latin typeface="Aptos" pitchFamily="34" charset="0"/>
                <a:ea typeface="Aptos" pitchFamily="34" charset="-122"/>
                <a:cs typeface="Aptos" pitchFamily="34" charset="-120"/>
              </a:rPr>
              <a:t>Analyse des besoins</a:t>
            </a:r>
            <a:endParaRPr lang="en-US" sz="1350" dirty="0"/>
          </a:p>
        </p:txBody>
      </p:sp>
      <p:sp>
        <p:nvSpPr>
          <p:cNvPr id="9" name="Text 7"/>
          <p:cNvSpPr/>
          <p:nvPr/>
        </p:nvSpPr>
        <p:spPr>
          <a:xfrm>
            <a:off x="1435608" y="1920240"/>
            <a:ext cx="2057400" cy="530352"/>
          </a:xfrm>
          <a:prstGeom prst="rect">
            <a:avLst/>
          </a:prstGeom>
          <a:noFill/>
          <a:ln/>
        </p:spPr>
        <p:txBody>
          <a:bodyPr wrap="square" lIns="635" tIns="635" rIns="635" bIns="635" rtlCol="0" anchor="ctr">
            <a:normAutofit/>
          </a:bodyPr>
          <a:lstStyle/>
          <a:p>
            <a:pPr algn="l" indent="0" marL="0">
              <a:buNone/>
            </a:pPr>
            <a:r>
              <a:rPr lang="en-US" sz="1120" dirty="0">
                <a:solidFill>
                  <a:srgbClr val="5A6B7E"/>
                </a:solidFill>
                <a:latin typeface="Aptos" pitchFamily="34" charset="0"/>
                <a:ea typeface="Aptos" pitchFamily="34" charset="-122"/>
                <a:cs typeface="Aptos" pitchFamily="34" charset="-120"/>
              </a:rPr>
              <a:t>Champs, utilisateurs, droits d’accès, règles métier.</a:t>
            </a:r>
            <a:endParaRPr lang="en-US" sz="1120" dirty="0"/>
          </a:p>
        </p:txBody>
      </p:sp>
      <p:sp>
        <p:nvSpPr>
          <p:cNvPr id="10" name="Shape 8"/>
          <p:cNvSpPr/>
          <p:nvPr/>
        </p:nvSpPr>
        <p:spPr>
          <a:xfrm>
            <a:off x="4389120" y="1325880"/>
            <a:ext cx="3246120" cy="1508760"/>
          </a:xfrm>
          <a:prstGeom prst="roundRect">
            <a:avLst>
              <a:gd name="adj" fmla="val 3636"/>
            </a:avLst>
          </a:prstGeom>
          <a:solidFill>
            <a:srgbClr val="F6FAFE"/>
          </a:solidFill>
          <a:ln w="12700">
            <a:solidFill>
              <a:srgbClr val="DCE8F4"/>
            </a:solidFill>
            <a:prstDash val="solid"/>
          </a:ln>
        </p:spPr>
      </p:sp>
      <p:sp>
        <p:nvSpPr>
          <p:cNvPr id="11" name="Shape 9"/>
          <p:cNvSpPr/>
          <p:nvPr/>
        </p:nvSpPr>
        <p:spPr>
          <a:xfrm>
            <a:off x="4590288" y="1527048"/>
            <a:ext cx="502920" cy="457200"/>
          </a:xfrm>
          <a:prstGeom prst="roundRect">
            <a:avLst>
              <a:gd name="adj" fmla="val 12000"/>
            </a:avLst>
          </a:prstGeom>
          <a:solidFill>
            <a:srgbClr val="00B7A8"/>
          </a:solidFill>
          <a:ln w="12700">
            <a:solidFill>
              <a:srgbClr val="00B7A8">
                <a:alpha val="0"/>
              </a:srgbClr>
            </a:solidFill>
            <a:prstDash val="solid"/>
          </a:ln>
        </p:spPr>
      </p:sp>
      <p:sp>
        <p:nvSpPr>
          <p:cNvPr id="12" name="Text 10"/>
          <p:cNvSpPr/>
          <p:nvPr/>
        </p:nvSpPr>
        <p:spPr>
          <a:xfrm>
            <a:off x="4745736" y="1636776"/>
            <a:ext cx="182880" cy="16459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2</a:t>
            </a:r>
            <a:endParaRPr lang="en-US" sz="1000" dirty="0"/>
          </a:p>
        </p:txBody>
      </p:sp>
      <p:sp>
        <p:nvSpPr>
          <p:cNvPr id="13" name="Text 11"/>
          <p:cNvSpPr/>
          <p:nvPr/>
        </p:nvSpPr>
        <p:spPr>
          <a:xfrm>
            <a:off x="5230368" y="1527048"/>
            <a:ext cx="2103120" cy="256032"/>
          </a:xfrm>
          <a:prstGeom prst="rect">
            <a:avLst/>
          </a:prstGeom>
          <a:noFill/>
          <a:ln/>
        </p:spPr>
        <p:txBody>
          <a:bodyPr wrap="square" lIns="635" tIns="635" rIns="635" bIns="635" rtlCol="0" anchor="ctr">
            <a:normAutofit/>
          </a:bodyPr>
          <a:lstStyle/>
          <a:p>
            <a:pPr algn="l" indent="0" marL="0">
              <a:buNone/>
            </a:pPr>
            <a:r>
              <a:rPr lang="en-US" sz="1350" b="1" dirty="0">
                <a:solidFill>
                  <a:srgbClr val="10243D"/>
                </a:solidFill>
                <a:latin typeface="Aptos" pitchFamily="34" charset="0"/>
                <a:ea typeface="Aptos" pitchFamily="34" charset="-122"/>
                <a:cs typeface="Aptos" pitchFamily="34" charset="-120"/>
              </a:rPr>
              <a:t>Architecture BDD</a:t>
            </a:r>
            <a:endParaRPr lang="en-US" sz="1350" dirty="0"/>
          </a:p>
        </p:txBody>
      </p:sp>
      <p:sp>
        <p:nvSpPr>
          <p:cNvPr id="14" name="Text 12"/>
          <p:cNvSpPr/>
          <p:nvPr/>
        </p:nvSpPr>
        <p:spPr>
          <a:xfrm>
            <a:off x="5230368" y="1920240"/>
            <a:ext cx="2057400" cy="530352"/>
          </a:xfrm>
          <a:prstGeom prst="rect">
            <a:avLst/>
          </a:prstGeom>
          <a:noFill/>
          <a:ln/>
        </p:spPr>
        <p:txBody>
          <a:bodyPr wrap="square" lIns="635" tIns="635" rIns="635" bIns="635" rtlCol="0" anchor="ctr">
            <a:normAutofit/>
          </a:bodyPr>
          <a:lstStyle/>
          <a:p>
            <a:pPr algn="l" indent="0" marL="0">
              <a:buNone/>
            </a:pPr>
            <a:r>
              <a:rPr lang="en-US" sz="1120" dirty="0">
                <a:solidFill>
                  <a:srgbClr val="5A6B7E"/>
                </a:solidFill>
                <a:latin typeface="Aptos" pitchFamily="34" charset="0"/>
                <a:ea typeface="Aptos" pitchFamily="34" charset="-122"/>
                <a:cs typeface="Aptos" pitchFamily="34" charset="-120"/>
              </a:rPr>
              <a:t>Tables, relations, sécurité, logique de mise à jour.</a:t>
            </a:r>
            <a:endParaRPr lang="en-US" sz="1120" dirty="0"/>
          </a:p>
        </p:txBody>
      </p:sp>
      <p:sp>
        <p:nvSpPr>
          <p:cNvPr id="15" name="Shape 13"/>
          <p:cNvSpPr/>
          <p:nvPr/>
        </p:nvSpPr>
        <p:spPr>
          <a:xfrm>
            <a:off x="8183880" y="1325880"/>
            <a:ext cx="3246120" cy="1508760"/>
          </a:xfrm>
          <a:prstGeom prst="roundRect">
            <a:avLst>
              <a:gd name="adj" fmla="val 3636"/>
            </a:avLst>
          </a:prstGeom>
          <a:solidFill>
            <a:srgbClr val="F6FAFE"/>
          </a:solidFill>
          <a:ln w="12700">
            <a:solidFill>
              <a:srgbClr val="DCE8F4"/>
            </a:solidFill>
            <a:prstDash val="solid"/>
          </a:ln>
        </p:spPr>
      </p:sp>
      <p:sp>
        <p:nvSpPr>
          <p:cNvPr id="16" name="Shape 14"/>
          <p:cNvSpPr/>
          <p:nvPr/>
        </p:nvSpPr>
        <p:spPr>
          <a:xfrm>
            <a:off x="8385048" y="1527048"/>
            <a:ext cx="502920" cy="457200"/>
          </a:xfrm>
          <a:prstGeom prst="roundRect">
            <a:avLst>
              <a:gd name="adj" fmla="val 12000"/>
            </a:avLst>
          </a:prstGeom>
          <a:solidFill>
            <a:srgbClr val="00B7A8"/>
          </a:solidFill>
          <a:ln w="12700">
            <a:solidFill>
              <a:srgbClr val="00B7A8">
                <a:alpha val="0"/>
              </a:srgbClr>
            </a:solidFill>
            <a:prstDash val="solid"/>
          </a:ln>
        </p:spPr>
      </p:sp>
      <p:sp>
        <p:nvSpPr>
          <p:cNvPr id="17" name="Text 15"/>
          <p:cNvSpPr/>
          <p:nvPr/>
        </p:nvSpPr>
        <p:spPr>
          <a:xfrm>
            <a:off x="8540496" y="1636776"/>
            <a:ext cx="182880" cy="16459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3</a:t>
            </a:r>
            <a:endParaRPr lang="en-US" sz="1000" dirty="0"/>
          </a:p>
        </p:txBody>
      </p:sp>
      <p:sp>
        <p:nvSpPr>
          <p:cNvPr id="18" name="Text 16"/>
          <p:cNvSpPr/>
          <p:nvPr/>
        </p:nvSpPr>
        <p:spPr>
          <a:xfrm>
            <a:off x="9025128" y="1527048"/>
            <a:ext cx="2103120" cy="256032"/>
          </a:xfrm>
          <a:prstGeom prst="rect">
            <a:avLst/>
          </a:prstGeom>
          <a:noFill/>
          <a:ln/>
        </p:spPr>
        <p:txBody>
          <a:bodyPr wrap="square" lIns="635" tIns="635" rIns="635" bIns="635" rtlCol="0" anchor="ctr">
            <a:normAutofit/>
          </a:bodyPr>
          <a:lstStyle/>
          <a:p>
            <a:pPr algn="l" indent="0" marL="0">
              <a:buNone/>
            </a:pPr>
            <a:r>
              <a:rPr lang="en-US" sz="1350" b="1" dirty="0">
                <a:solidFill>
                  <a:srgbClr val="10243D"/>
                </a:solidFill>
                <a:latin typeface="Aptos" pitchFamily="34" charset="0"/>
                <a:ea typeface="Aptos" pitchFamily="34" charset="-122"/>
                <a:cs typeface="Aptos" pitchFamily="34" charset="-120"/>
              </a:rPr>
              <a:t>Modules applicatifs</a:t>
            </a:r>
            <a:endParaRPr lang="en-US" sz="1350" dirty="0"/>
          </a:p>
        </p:txBody>
      </p:sp>
      <p:sp>
        <p:nvSpPr>
          <p:cNvPr id="19" name="Text 17"/>
          <p:cNvSpPr/>
          <p:nvPr/>
        </p:nvSpPr>
        <p:spPr>
          <a:xfrm>
            <a:off x="9025128" y="1920240"/>
            <a:ext cx="2057400" cy="530352"/>
          </a:xfrm>
          <a:prstGeom prst="rect">
            <a:avLst/>
          </a:prstGeom>
          <a:noFill/>
          <a:ln/>
        </p:spPr>
        <p:txBody>
          <a:bodyPr wrap="square" lIns="635" tIns="635" rIns="635" bIns="635" rtlCol="0" anchor="ctr">
            <a:normAutofit/>
          </a:bodyPr>
          <a:lstStyle/>
          <a:p>
            <a:pPr algn="l" indent="0" marL="0">
              <a:buNone/>
            </a:pPr>
            <a:r>
              <a:rPr lang="en-US" sz="1120" dirty="0">
                <a:solidFill>
                  <a:srgbClr val="5A6B7E"/>
                </a:solidFill>
                <a:latin typeface="Aptos" pitchFamily="34" charset="0"/>
                <a:ea typeface="Aptos" pitchFamily="34" charset="-122"/>
                <a:cs typeface="Aptos" pitchFamily="34" charset="-120"/>
              </a:rPr>
              <a:t>Entreprises, certificats, organismes, statuts.</a:t>
            </a:r>
            <a:endParaRPr lang="en-US" sz="1120" dirty="0"/>
          </a:p>
        </p:txBody>
      </p:sp>
      <p:sp>
        <p:nvSpPr>
          <p:cNvPr id="20" name="Shape 18"/>
          <p:cNvSpPr/>
          <p:nvPr/>
        </p:nvSpPr>
        <p:spPr>
          <a:xfrm>
            <a:off x="594360" y="3383280"/>
            <a:ext cx="3246120" cy="1508760"/>
          </a:xfrm>
          <a:prstGeom prst="roundRect">
            <a:avLst>
              <a:gd name="adj" fmla="val 3636"/>
            </a:avLst>
          </a:prstGeom>
          <a:solidFill>
            <a:srgbClr val="F6FAFE"/>
          </a:solidFill>
          <a:ln w="12700">
            <a:solidFill>
              <a:srgbClr val="DCE8F4"/>
            </a:solidFill>
            <a:prstDash val="solid"/>
          </a:ln>
        </p:spPr>
      </p:sp>
      <p:sp>
        <p:nvSpPr>
          <p:cNvPr id="21" name="Shape 19"/>
          <p:cNvSpPr/>
          <p:nvPr/>
        </p:nvSpPr>
        <p:spPr>
          <a:xfrm>
            <a:off x="795528" y="3584448"/>
            <a:ext cx="502920" cy="457200"/>
          </a:xfrm>
          <a:prstGeom prst="roundRect">
            <a:avLst>
              <a:gd name="adj" fmla="val 12000"/>
            </a:avLst>
          </a:prstGeom>
          <a:solidFill>
            <a:srgbClr val="00B7A8"/>
          </a:solidFill>
          <a:ln w="12700">
            <a:solidFill>
              <a:srgbClr val="00B7A8">
                <a:alpha val="0"/>
              </a:srgbClr>
            </a:solidFill>
            <a:prstDash val="solid"/>
          </a:ln>
        </p:spPr>
      </p:sp>
      <p:sp>
        <p:nvSpPr>
          <p:cNvPr id="22" name="Text 20"/>
          <p:cNvSpPr/>
          <p:nvPr/>
        </p:nvSpPr>
        <p:spPr>
          <a:xfrm>
            <a:off x="950976" y="3694176"/>
            <a:ext cx="182880" cy="16459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4</a:t>
            </a:r>
            <a:endParaRPr lang="en-US" sz="1000" dirty="0"/>
          </a:p>
        </p:txBody>
      </p:sp>
      <p:sp>
        <p:nvSpPr>
          <p:cNvPr id="23" name="Text 21"/>
          <p:cNvSpPr/>
          <p:nvPr/>
        </p:nvSpPr>
        <p:spPr>
          <a:xfrm>
            <a:off x="1435608" y="3584448"/>
            <a:ext cx="2103120" cy="256032"/>
          </a:xfrm>
          <a:prstGeom prst="rect">
            <a:avLst/>
          </a:prstGeom>
          <a:noFill/>
          <a:ln/>
        </p:spPr>
        <p:txBody>
          <a:bodyPr wrap="square" lIns="635" tIns="635" rIns="635" bIns="635" rtlCol="0" anchor="ctr">
            <a:normAutofit/>
          </a:bodyPr>
          <a:lstStyle/>
          <a:p>
            <a:pPr algn="l" indent="0" marL="0">
              <a:buNone/>
            </a:pPr>
            <a:r>
              <a:rPr lang="en-US" sz="1350" b="1" dirty="0">
                <a:solidFill>
                  <a:srgbClr val="10243D"/>
                </a:solidFill>
                <a:latin typeface="Aptos" pitchFamily="34" charset="0"/>
                <a:ea typeface="Aptos" pitchFamily="34" charset="-122"/>
                <a:cs typeface="Aptos" pitchFamily="34" charset="-120"/>
              </a:rPr>
              <a:t>Recherche &amp; filtres</a:t>
            </a:r>
            <a:endParaRPr lang="en-US" sz="1350" dirty="0"/>
          </a:p>
        </p:txBody>
      </p:sp>
      <p:sp>
        <p:nvSpPr>
          <p:cNvPr id="24" name="Text 22"/>
          <p:cNvSpPr/>
          <p:nvPr/>
        </p:nvSpPr>
        <p:spPr>
          <a:xfrm>
            <a:off x="1435608" y="3977640"/>
            <a:ext cx="2057400" cy="530352"/>
          </a:xfrm>
          <a:prstGeom prst="rect">
            <a:avLst/>
          </a:prstGeom>
          <a:noFill/>
          <a:ln/>
        </p:spPr>
        <p:txBody>
          <a:bodyPr wrap="square" lIns="635" tIns="635" rIns="635" bIns="635" rtlCol="0" anchor="ctr">
            <a:normAutofit/>
          </a:bodyPr>
          <a:lstStyle/>
          <a:p>
            <a:pPr algn="l" indent="0" marL="0">
              <a:buNone/>
            </a:pPr>
            <a:r>
              <a:rPr lang="en-US" sz="1120" dirty="0">
                <a:solidFill>
                  <a:srgbClr val="5A6B7E"/>
                </a:solidFill>
                <a:latin typeface="Aptos" pitchFamily="34" charset="0"/>
                <a:ea typeface="Aptos" pitchFamily="34" charset="-122"/>
                <a:cs typeface="Aptos" pitchFamily="34" charset="-120"/>
              </a:rPr>
              <a:t>Recherche multicritère et consultation rapide.</a:t>
            </a:r>
            <a:endParaRPr lang="en-US" sz="1120" dirty="0"/>
          </a:p>
        </p:txBody>
      </p:sp>
      <p:sp>
        <p:nvSpPr>
          <p:cNvPr id="25" name="Shape 23"/>
          <p:cNvSpPr/>
          <p:nvPr/>
        </p:nvSpPr>
        <p:spPr>
          <a:xfrm>
            <a:off x="4389120" y="3383280"/>
            <a:ext cx="3246120" cy="1508760"/>
          </a:xfrm>
          <a:prstGeom prst="roundRect">
            <a:avLst>
              <a:gd name="adj" fmla="val 3636"/>
            </a:avLst>
          </a:prstGeom>
          <a:solidFill>
            <a:srgbClr val="F6FAFE"/>
          </a:solidFill>
          <a:ln w="12700">
            <a:solidFill>
              <a:srgbClr val="DCE8F4"/>
            </a:solidFill>
            <a:prstDash val="solid"/>
          </a:ln>
        </p:spPr>
      </p:sp>
      <p:sp>
        <p:nvSpPr>
          <p:cNvPr id="26" name="Shape 24"/>
          <p:cNvSpPr/>
          <p:nvPr/>
        </p:nvSpPr>
        <p:spPr>
          <a:xfrm>
            <a:off x="4590288" y="3584448"/>
            <a:ext cx="502920" cy="457200"/>
          </a:xfrm>
          <a:prstGeom prst="roundRect">
            <a:avLst>
              <a:gd name="adj" fmla="val 12000"/>
            </a:avLst>
          </a:prstGeom>
          <a:solidFill>
            <a:srgbClr val="00B7A8"/>
          </a:solidFill>
          <a:ln w="12700">
            <a:solidFill>
              <a:srgbClr val="00B7A8">
                <a:alpha val="0"/>
              </a:srgbClr>
            </a:solidFill>
            <a:prstDash val="solid"/>
          </a:ln>
        </p:spPr>
      </p:sp>
      <p:sp>
        <p:nvSpPr>
          <p:cNvPr id="27" name="Text 25"/>
          <p:cNvSpPr/>
          <p:nvPr/>
        </p:nvSpPr>
        <p:spPr>
          <a:xfrm>
            <a:off x="4745736" y="3694176"/>
            <a:ext cx="182880" cy="16459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5</a:t>
            </a:r>
            <a:endParaRPr lang="en-US" sz="1000" dirty="0"/>
          </a:p>
        </p:txBody>
      </p:sp>
      <p:sp>
        <p:nvSpPr>
          <p:cNvPr id="28" name="Text 26"/>
          <p:cNvSpPr/>
          <p:nvPr/>
        </p:nvSpPr>
        <p:spPr>
          <a:xfrm>
            <a:off x="5230368" y="3584448"/>
            <a:ext cx="2103120" cy="256032"/>
          </a:xfrm>
          <a:prstGeom prst="rect">
            <a:avLst/>
          </a:prstGeom>
          <a:noFill/>
          <a:ln/>
        </p:spPr>
        <p:txBody>
          <a:bodyPr wrap="square" lIns="635" tIns="635" rIns="635" bIns="635" rtlCol="0" anchor="ctr">
            <a:normAutofit/>
          </a:bodyPr>
          <a:lstStyle/>
          <a:p>
            <a:pPr algn="l" indent="0" marL="0">
              <a:buNone/>
            </a:pPr>
            <a:r>
              <a:rPr lang="en-US" sz="1350" b="1" dirty="0">
                <a:solidFill>
                  <a:srgbClr val="10243D"/>
                </a:solidFill>
                <a:latin typeface="Aptos" pitchFamily="34" charset="0"/>
                <a:ea typeface="Aptos" pitchFamily="34" charset="-122"/>
                <a:cs typeface="Aptos" pitchFamily="34" charset="-120"/>
              </a:rPr>
              <a:t>Tableaux de bord</a:t>
            </a:r>
            <a:endParaRPr lang="en-US" sz="1350" dirty="0"/>
          </a:p>
        </p:txBody>
      </p:sp>
      <p:sp>
        <p:nvSpPr>
          <p:cNvPr id="29" name="Text 27"/>
          <p:cNvSpPr/>
          <p:nvPr/>
        </p:nvSpPr>
        <p:spPr>
          <a:xfrm>
            <a:off x="5230368" y="3977640"/>
            <a:ext cx="2057400" cy="530352"/>
          </a:xfrm>
          <a:prstGeom prst="rect">
            <a:avLst/>
          </a:prstGeom>
          <a:noFill/>
          <a:ln/>
        </p:spPr>
        <p:txBody>
          <a:bodyPr wrap="square" lIns="635" tIns="635" rIns="635" bIns="635" rtlCol="0" anchor="ctr">
            <a:normAutofit/>
          </a:bodyPr>
          <a:lstStyle/>
          <a:p>
            <a:pPr algn="l" indent="0" marL="0">
              <a:buNone/>
            </a:pPr>
            <a:r>
              <a:rPr lang="en-US" sz="1120" dirty="0">
                <a:solidFill>
                  <a:srgbClr val="5A6B7E"/>
                </a:solidFill>
                <a:latin typeface="Aptos" pitchFamily="34" charset="0"/>
                <a:ea typeface="Aptos" pitchFamily="34" charset="-122"/>
                <a:cs typeface="Aptos" pitchFamily="34" charset="-120"/>
              </a:rPr>
              <a:t>Indicateurs, statistiques et vues décisionnelles.</a:t>
            </a:r>
            <a:endParaRPr lang="en-US" sz="1120" dirty="0"/>
          </a:p>
        </p:txBody>
      </p:sp>
      <p:sp>
        <p:nvSpPr>
          <p:cNvPr id="30" name="Shape 28"/>
          <p:cNvSpPr/>
          <p:nvPr/>
        </p:nvSpPr>
        <p:spPr>
          <a:xfrm>
            <a:off x="8183880" y="3383280"/>
            <a:ext cx="3246120" cy="1508760"/>
          </a:xfrm>
          <a:prstGeom prst="roundRect">
            <a:avLst>
              <a:gd name="adj" fmla="val 3636"/>
            </a:avLst>
          </a:prstGeom>
          <a:solidFill>
            <a:srgbClr val="F6FAFE"/>
          </a:solidFill>
          <a:ln w="12700">
            <a:solidFill>
              <a:srgbClr val="DCE8F4"/>
            </a:solidFill>
            <a:prstDash val="solid"/>
          </a:ln>
        </p:spPr>
      </p:sp>
      <p:sp>
        <p:nvSpPr>
          <p:cNvPr id="31" name="Shape 29"/>
          <p:cNvSpPr/>
          <p:nvPr/>
        </p:nvSpPr>
        <p:spPr>
          <a:xfrm>
            <a:off x="8385048" y="3584448"/>
            <a:ext cx="502920" cy="457200"/>
          </a:xfrm>
          <a:prstGeom prst="roundRect">
            <a:avLst>
              <a:gd name="adj" fmla="val 12000"/>
            </a:avLst>
          </a:prstGeom>
          <a:solidFill>
            <a:srgbClr val="00B7A8"/>
          </a:solidFill>
          <a:ln w="12700">
            <a:solidFill>
              <a:srgbClr val="00B7A8">
                <a:alpha val="0"/>
              </a:srgbClr>
            </a:solidFill>
            <a:prstDash val="solid"/>
          </a:ln>
        </p:spPr>
      </p:sp>
      <p:sp>
        <p:nvSpPr>
          <p:cNvPr id="32" name="Text 30"/>
          <p:cNvSpPr/>
          <p:nvPr/>
        </p:nvSpPr>
        <p:spPr>
          <a:xfrm>
            <a:off x="8540496" y="3694176"/>
            <a:ext cx="182880" cy="164592"/>
          </a:xfrm>
          <a:prstGeom prst="rect">
            <a:avLst/>
          </a:prstGeom>
          <a:noFill/>
          <a:ln/>
        </p:spPr>
        <p:txBody>
          <a:bodyPr wrap="square" lIns="635" tIns="635" rIns="635" bIns="635"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6</a:t>
            </a:r>
            <a:endParaRPr lang="en-US" sz="1000" dirty="0"/>
          </a:p>
        </p:txBody>
      </p:sp>
      <p:sp>
        <p:nvSpPr>
          <p:cNvPr id="33" name="Text 31"/>
          <p:cNvSpPr/>
          <p:nvPr/>
        </p:nvSpPr>
        <p:spPr>
          <a:xfrm>
            <a:off x="9025128" y="3584448"/>
            <a:ext cx="2103120" cy="256032"/>
          </a:xfrm>
          <a:prstGeom prst="rect">
            <a:avLst/>
          </a:prstGeom>
          <a:noFill/>
          <a:ln/>
        </p:spPr>
        <p:txBody>
          <a:bodyPr wrap="square" lIns="635" tIns="635" rIns="635" bIns="635" rtlCol="0" anchor="ctr">
            <a:normAutofit/>
          </a:bodyPr>
          <a:lstStyle/>
          <a:p>
            <a:pPr algn="l" indent="0" marL="0">
              <a:buNone/>
            </a:pPr>
            <a:r>
              <a:rPr lang="en-US" sz="1350" b="1" dirty="0">
                <a:solidFill>
                  <a:srgbClr val="10243D"/>
                </a:solidFill>
                <a:latin typeface="Aptos" pitchFamily="34" charset="0"/>
                <a:ea typeface="Aptos" pitchFamily="34" charset="-122"/>
                <a:cs typeface="Aptos" pitchFamily="34" charset="-120"/>
              </a:rPr>
              <a:t>Alertes &amp; suivi</a:t>
            </a:r>
            <a:endParaRPr lang="en-US" sz="1350" dirty="0"/>
          </a:p>
        </p:txBody>
      </p:sp>
      <p:sp>
        <p:nvSpPr>
          <p:cNvPr id="34" name="Text 32"/>
          <p:cNvSpPr/>
          <p:nvPr/>
        </p:nvSpPr>
        <p:spPr>
          <a:xfrm>
            <a:off x="9025128" y="3977640"/>
            <a:ext cx="2057400" cy="530352"/>
          </a:xfrm>
          <a:prstGeom prst="rect">
            <a:avLst/>
          </a:prstGeom>
          <a:noFill/>
          <a:ln/>
        </p:spPr>
        <p:txBody>
          <a:bodyPr wrap="square" lIns="635" tIns="635" rIns="635" bIns="635" rtlCol="0" anchor="ctr">
            <a:normAutofit/>
          </a:bodyPr>
          <a:lstStyle/>
          <a:p>
            <a:pPr algn="l" indent="0" marL="0">
              <a:buNone/>
            </a:pPr>
            <a:r>
              <a:rPr lang="en-US" sz="1120" dirty="0">
                <a:solidFill>
                  <a:srgbClr val="5A6B7E"/>
                </a:solidFill>
                <a:latin typeface="Aptos" pitchFamily="34" charset="0"/>
                <a:ea typeface="Aptos" pitchFamily="34" charset="-122"/>
                <a:cs typeface="Aptos" pitchFamily="34" charset="-120"/>
              </a:rPr>
              <a:t>Expiration, renouvellement et historique des certificats.</a:t>
            </a:r>
            <a:endParaRPr lang="en-US" sz="112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07  —  Ce que couvre R1.4.3</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Appui à la HAUQE pour un contrôle harmonisé des certifications.</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685800" y="1417320"/>
            <a:ext cx="2331720" cy="3520440"/>
          </a:xfrm>
          <a:prstGeom prst="roundRect">
            <a:avLst>
              <a:gd name="adj" fmla="val 2353"/>
            </a:avLst>
          </a:prstGeom>
          <a:solidFill>
            <a:srgbClr val="F6FAFE"/>
          </a:solidFill>
          <a:ln w="12700">
            <a:solidFill>
              <a:srgbClr val="DCE8F4"/>
            </a:solidFill>
            <a:prstDash val="solid"/>
          </a:ln>
        </p:spPr>
      </p:sp>
      <p:sp>
        <p:nvSpPr>
          <p:cNvPr id="6" name="Shape 4"/>
          <p:cNvSpPr/>
          <p:nvPr/>
        </p:nvSpPr>
        <p:spPr>
          <a:xfrm>
            <a:off x="886968" y="1691640"/>
            <a:ext cx="1920240" cy="384048"/>
          </a:xfrm>
          <a:prstGeom prst="roundRect">
            <a:avLst>
              <a:gd name="adj" fmla="val 11905"/>
            </a:avLst>
          </a:prstGeom>
          <a:solidFill>
            <a:srgbClr val="00B7A8"/>
          </a:solidFill>
          <a:ln w="12700">
            <a:solidFill>
              <a:srgbClr val="00B7A8">
                <a:alpha val="0"/>
              </a:srgbClr>
            </a:solidFill>
            <a:prstDash val="solid"/>
          </a:ln>
        </p:spPr>
      </p:sp>
      <p:sp>
        <p:nvSpPr>
          <p:cNvPr id="7" name="Text 5"/>
          <p:cNvSpPr/>
          <p:nvPr/>
        </p:nvSpPr>
        <p:spPr>
          <a:xfrm>
            <a:off x="996696" y="1737360"/>
            <a:ext cx="170078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Collecter</a:t>
            </a:r>
            <a:endParaRPr lang="en-US" sz="1100" dirty="0"/>
          </a:p>
        </p:txBody>
      </p:sp>
      <p:sp>
        <p:nvSpPr>
          <p:cNvPr id="8" name="Text 6"/>
          <p:cNvSpPr/>
          <p:nvPr/>
        </p:nvSpPr>
        <p:spPr>
          <a:xfrm>
            <a:off x="1005840" y="2331720"/>
            <a:ext cx="1737360" cy="1691640"/>
          </a:xfrm>
          <a:prstGeom prst="rect">
            <a:avLst/>
          </a:prstGeom>
          <a:noFill/>
          <a:ln/>
        </p:spPr>
        <p:txBody>
          <a:bodyPr wrap="square" lIns="1016" tIns="1016" rIns="1016" bIns="1016" rtlCol="0" anchor="t">
            <a:normAutofit/>
          </a:bodyPr>
          <a:lstStyle/>
          <a:p>
            <a:pPr indent="0" marL="0">
              <a:buNone/>
            </a:pPr>
            <a:r>
              <a:rPr lang="en-US" sz="1300" dirty="0">
                <a:solidFill>
                  <a:srgbClr val="10243D"/>
                </a:solidFill>
                <a:latin typeface="Aptos" pitchFamily="34" charset="0"/>
                <a:ea typeface="Aptos" pitchFamily="34" charset="-122"/>
                <a:cs typeface="Aptos" pitchFamily="34" charset="-120"/>
              </a:rPr>
              <a:t>• Fiches de collecte
</a:t>
            </a:r>
            <a:pPr indent="0" marL="0">
              <a:buNone/>
            </a:pPr>
            <a:r>
              <a:rPr lang="en-US" sz="1300" dirty="0">
                <a:solidFill>
                  <a:srgbClr val="10243D"/>
                </a:solidFill>
                <a:latin typeface="Aptos" pitchFamily="34" charset="0"/>
                <a:ea typeface="Aptos" pitchFamily="34" charset="-122"/>
                <a:cs typeface="Aptos" pitchFamily="34" charset="-120"/>
              </a:rPr>
              <a:t>• Formulaires numériques
</a:t>
            </a:r>
            <a:pPr indent="0" marL="0">
              <a:buNone/>
            </a:pPr>
            <a:r>
              <a:rPr lang="en-US" sz="1300" dirty="0">
                <a:solidFill>
                  <a:srgbClr val="10243D"/>
                </a:solidFill>
                <a:latin typeface="Aptos" pitchFamily="34" charset="0"/>
                <a:ea typeface="Aptos" pitchFamily="34" charset="-122"/>
                <a:cs typeface="Aptos" pitchFamily="34" charset="-120"/>
              </a:rPr>
              <a:t>• Données entreprises et certificats</a:t>
            </a:r>
            <a:endParaRPr lang="en-US" sz="1300" dirty="0"/>
          </a:p>
        </p:txBody>
      </p:sp>
      <p:sp>
        <p:nvSpPr>
          <p:cNvPr id="9" name="Shape 7"/>
          <p:cNvSpPr/>
          <p:nvPr/>
        </p:nvSpPr>
        <p:spPr>
          <a:xfrm>
            <a:off x="3474720" y="1417320"/>
            <a:ext cx="2331720" cy="3520440"/>
          </a:xfrm>
          <a:prstGeom prst="roundRect">
            <a:avLst>
              <a:gd name="adj" fmla="val 2353"/>
            </a:avLst>
          </a:prstGeom>
          <a:solidFill>
            <a:srgbClr val="F6FAFE"/>
          </a:solidFill>
          <a:ln w="12700">
            <a:solidFill>
              <a:srgbClr val="DCE8F4"/>
            </a:solidFill>
            <a:prstDash val="solid"/>
          </a:ln>
        </p:spPr>
      </p:sp>
      <p:sp>
        <p:nvSpPr>
          <p:cNvPr id="10" name="Shape 8"/>
          <p:cNvSpPr/>
          <p:nvPr/>
        </p:nvSpPr>
        <p:spPr>
          <a:xfrm>
            <a:off x="3675888" y="1691640"/>
            <a:ext cx="1920240" cy="384048"/>
          </a:xfrm>
          <a:prstGeom prst="roundRect">
            <a:avLst>
              <a:gd name="adj" fmla="val 11905"/>
            </a:avLst>
          </a:prstGeom>
          <a:solidFill>
            <a:srgbClr val="173F70"/>
          </a:solidFill>
          <a:ln w="12700">
            <a:solidFill>
              <a:srgbClr val="173F70">
                <a:alpha val="0"/>
              </a:srgbClr>
            </a:solidFill>
            <a:prstDash val="solid"/>
          </a:ln>
        </p:spPr>
      </p:sp>
      <p:sp>
        <p:nvSpPr>
          <p:cNvPr id="11" name="Text 9"/>
          <p:cNvSpPr/>
          <p:nvPr/>
        </p:nvSpPr>
        <p:spPr>
          <a:xfrm>
            <a:off x="3785616" y="1737360"/>
            <a:ext cx="170078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Vérifier</a:t>
            </a:r>
            <a:endParaRPr lang="en-US" sz="1100" dirty="0"/>
          </a:p>
        </p:txBody>
      </p:sp>
      <p:sp>
        <p:nvSpPr>
          <p:cNvPr id="12" name="Text 10"/>
          <p:cNvSpPr/>
          <p:nvPr/>
        </p:nvSpPr>
        <p:spPr>
          <a:xfrm>
            <a:off x="3794760" y="2331720"/>
            <a:ext cx="1737360" cy="1691640"/>
          </a:xfrm>
          <a:prstGeom prst="rect">
            <a:avLst/>
          </a:prstGeom>
          <a:noFill/>
          <a:ln/>
        </p:spPr>
        <p:txBody>
          <a:bodyPr wrap="square" lIns="1016" tIns="1016" rIns="1016" bIns="1016" rtlCol="0" anchor="t">
            <a:normAutofit/>
          </a:bodyPr>
          <a:lstStyle/>
          <a:p>
            <a:pPr indent="0" marL="0">
              <a:buNone/>
            </a:pPr>
            <a:r>
              <a:rPr lang="en-US" sz="1300" dirty="0">
                <a:solidFill>
                  <a:srgbClr val="10243D"/>
                </a:solidFill>
                <a:latin typeface="Aptos" pitchFamily="34" charset="0"/>
                <a:ea typeface="Aptos" pitchFamily="34" charset="-122"/>
                <a:cs typeface="Aptos" pitchFamily="34" charset="-120"/>
              </a:rPr>
              <a:t>• Validité des certificats
</a:t>
            </a:r>
            <a:pPr indent="0" marL="0">
              <a:buNone/>
            </a:pPr>
            <a:r>
              <a:rPr lang="en-US" sz="1300" dirty="0">
                <a:solidFill>
                  <a:srgbClr val="10243D"/>
                </a:solidFill>
                <a:latin typeface="Aptos" pitchFamily="34" charset="0"/>
                <a:ea typeface="Aptos" pitchFamily="34" charset="-122"/>
                <a:cs typeface="Aptos" pitchFamily="34" charset="-120"/>
              </a:rPr>
              <a:t>• Organismes certificateurs
</a:t>
            </a:r>
            <a:pPr indent="0" marL="0">
              <a:buNone/>
            </a:pPr>
            <a:r>
              <a:rPr lang="en-US" sz="1300" dirty="0">
                <a:solidFill>
                  <a:srgbClr val="10243D"/>
                </a:solidFill>
                <a:latin typeface="Aptos" pitchFamily="34" charset="0"/>
                <a:ea typeface="Aptos" pitchFamily="34" charset="-122"/>
                <a:cs typeface="Aptos" pitchFamily="34" charset="-120"/>
              </a:rPr>
              <a:t>• Domaines et référentiels couverts</a:t>
            </a:r>
            <a:endParaRPr lang="en-US" sz="1300" dirty="0"/>
          </a:p>
        </p:txBody>
      </p:sp>
      <p:sp>
        <p:nvSpPr>
          <p:cNvPr id="13" name="Shape 11"/>
          <p:cNvSpPr/>
          <p:nvPr/>
        </p:nvSpPr>
        <p:spPr>
          <a:xfrm>
            <a:off x="6263640" y="1417320"/>
            <a:ext cx="2331720" cy="3520440"/>
          </a:xfrm>
          <a:prstGeom prst="roundRect">
            <a:avLst>
              <a:gd name="adj" fmla="val 2353"/>
            </a:avLst>
          </a:prstGeom>
          <a:solidFill>
            <a:srgbClr val="F6FAFE"/>
          </a:solidFill>
          <a:ln w="12700">
            <a:solidFill>
              <a:srgbClr val="DCE8F4"/>
            </a:solidFill>
            <a:prstDash val="solid"/>
          </a:ln>
        </p:spPr>
      </p:sp>
      <p:sp>
        <p:nvSpPr>
          <p:cNvPr id="14" name="Shape 12"/>
          <p:cNvSpPr/>
          <p:nvPr/>
        </p:nvSpPr>
        <p:spPr>
          <a:xfrm>
            <a:off x="6464808" y="1691640"/>
            <a:ext cx="1920240" cy="384048"/>
          </a:xfrm>
          <a:prstGeom prst="roundRect">
            <a:avLst>
              <a:gd name="adj" fmla="val 11905"/>
            </a:avLst>
          </a:prstGeom>
          <a:solidFill>
            <a:srgbClr val="173F70"/>
          </a:solidFill>
          <a:ln w="12700">
            <a:solidFill>
              <a:srgbClr val="173F70">
                <a:alpha val="0"/>
              </a:srgbClr>
            </a:solidFill>
            <a:prstDash val="solid"/>
          </a:ln>
        </p:spPr>
      </p:sp>
      <p:sp>
        <p:nvSpPr>
          <p:cNvPr id="15" name="Text 13"/>
          <p:cNvSpPr/>
          <p:nvPr/>
        </p:nvSpPr>
        <p:spPr>
          <a:xfrm>
            <a:off x="6574536" y="1737360"/>
            <a:ext cx="170078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Harmoniser</a:t>
            </a:r>
            <a:endParaRPr lang="en-US" sz="1100" dirty="0"/>
          </a:p>
        </p:txBody>
      </p:sp>
      <p:sp>
        <p:nvSpPr>
          <p:cNvPr id="16" name="Text 14"/>
          <p:cNvSpPr/>
          <p:nvPr/>
        </p:nvSpPr>
        <p:spPr>
          <a:xfrm>
            <a:off x="6583680" y="2331720"/>
            <a:ext cx="1737360" cy="1691640"/>
          </a:xfrm>
          <a:prstGeom prst="rect">
            <a:avLst/>
          </a:prstGeom>
          <a:noFill/>
          <a:ln/>
        </p:spPr>
        <p:txBody>
          <a:bodyPr wrap="square" lIns="1016" tIns="1016" rIns="1016" bIns="1016" rtlCol="0" anchor="t">
            <a:normAutofit/>
          </a:bodyPr>
          <a:lstStyle/>
          <a:p>
            <a:pPr indent="0" marL="0">
              <a:buNone/>
            </a:pPr>
            <a:r>
              <a:rPr lang="en-US" sz="1300" dirty="0">
                <a:solidFill>
                  <a:srgbClr val="10243D"/>
                </a:solidFill>
                <a:latin typeface="Aptos" pitchFamily="34" charset="0"/>
                <a:ea typeface="Aptos" pitchFamily="34" charset="-122"/>
                <a:cs typeface="Aptos" pitchFamily="34" charset="-120"/>
              </a:rPr>
              <a:t>• Codification
</a:t>
            </a:r>
            <a:pPr indent="0" marL="0">
              <a:buNone/>
            </a:pPr>
            <a:r>
              <a:rPr lang="en-US" sz="1300" dirty="0">
                <a:solidFill>
                  <a:srgbClr val="10243D"/>
                </a:solidFill>
                <a:latin typeface="Aptos" pitchFamily="34" charset="0"/>
                <a:ea typeface="Aptos" pitchFamily="34" charset="-122"/>
                <a:cs typeface="Aptos" pitchFamily="34" charset="-120"/>
              </a:rPr>
              <a:t>• Classification
</a:t>
            </a:r>
            <a:pPr indent="0" marL="0">
              <a:buNone/>
            </a:pPr>
            <a:r>
              <a:rPr lang="en-US" sz="1300" dirty="0">
                <a:solidFill>
                  <a:srgbClr val="10243D"/>
                </a:solidFill>
                <a:latin typeface="Aptos" pitchFamily="34" charset="0"/>
                <a:ea typeface="Aptos" pitchFamily="34" charset="-122"/>
                <a:cs typeface="Aptos" pitchFamily="34" charset="-120"/>
              </a:rPr>
              <a:t>• Grilles de contrôle</a:t>
            </a:r>
            <a:endParaRPr lang="en-US" sz="1300" dirty="0"/>
          </a:p>
        </p:txBody>
      </p:sp>
      <p:sp>
        <p:nvSpPr>
          <p:cNvPr id="17" name="Shape 15"/>
          <p:cNvSpPr/>
          <p:nvPr/>
        </p:nvSpPr>
        <p:spPr>
          <a:xfrm>
            <a:off x="9052560" y="1417320"/>
            <a:ext cx="2331720" cy="3520440"/>
          </a:xfrm>
          <a:prstGeom prst="roundRect">
            <a:avLst>
              <a:gd name="adj" fmla="val 2353"/>
            </a:avLst>
          </a:prstGeom>
          <a:solidFill>
            <a:srgbClr val="F6FAFE"/>
          </a:solidFill>
          <a:ln w="12700">
            <a:solidFill>
              <a:srgbClr val="DCE8F4"/>
            </a:solidFill>
            <a:prstDash val="solid"/>
          </a:ln>
        </p:spPr>
      </p:sp>
      <p:sp>
        <p:nvSpPr>
          <p:cNvPr id="18" name="Shape 16"/>
          <p:cNvSpPr/>
          <p:nvPr/>
        </p:nvSpPr>
        <p:spPr>
          <a:xfrm>
            <a:off x="9253728" y="1691640"/>
            <a:ext cx="1920240" cy="384048"/>
          </a:xfrm>
          <a:prstGeom prst="roundRect">
            <a:avLst>
              <a:gd name="adj" fmla="val 11905"/>
            </a:avLst>
          </a:prstGeom>
          <a:solidFill>
            <a:srgbClr val="173F70"/>
          </a:solidFill>
          <a:ln w="12700">
            <a:solidFill>
              <a:srgbClr val="173F70">
                <a:alpha val="0"/>
              </a:srgbClr>
            </a:solidFill>
            <a:prstDash val="solid"/>
          </a:ln>
        </p:spPr>
      </p:sp>
      <p:sp>
        <p:nvSpPr>
          <p:cNvPr id="19" name="Text 17"/>
          <p:cNvSpPr/>
          <p:nvPr/>
        </p:nvSpPr>
        <p:spPr>
          <a:xfrm>
            <a:off x="9363456" y="1737360"/>
            <a:ext cx="170078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Suivre</a:t>
            </a:r>
            <a:endParaRPr lang="en-US" sz="1100" dirty="0"/>
          </a:p>
        </p:txBody>
      </p:sp>
      <p:sp>
        <p:nvSpPr>
          <p:cNvPr id="20" name="Text 18"/>
          <p:cNvSpPr/>
          <p:nvPr/>
        </p:nvSpPr>
        <p:spPr>
          <a:xfrm>
            <a:off x="9372600" y="2331720"/>
            <a:ext cx="1737360" cy="1691640"/>
          </a:xfrm>
          <a:prstGeom prst="rect">
            <a:avLst/>
          </a:prstGeom>
          <a:noFill/>
          <a:ln/>
        </p:spPr>
        <p:txBody>
          <a:bodyPr wrap="square" lIns="1016" tIns="1016" rIns="1016" bIns="1016" rtlCol="0" anchor="t">
            <a:normAutofit/>
          </a:bodyPr>
          <a:lstStyle/>
          <a:p>
            <a:pPr indent="0" marL="0">
              <a:buNone/>
            </a:pPr>
            <a:r>
              <a:rPr lang="en-US" sz="1300" dirty="0">
                <a:solidFill>
                  <a:srgbClr val="10243D"/>
                </a:solidFill>
                <a:latin typeface="Aptos" pitchFamily="34" charset="0"/>
                <a:ea typeface="Aptos" pitchFamily="34" charset="-122"/>
                <a:cs typeface="Aptos" pitchFamily="34" charset="-120"/>
              </a:rPr>
              <a:t>• Échéances
</a:t>
            </a:r>
            <a:pPr indent="0" marL="0">
              <a:buNone/>
            </a:pPr>
            <a:r>
              <a:rPr lang="en-US" sz="1300" dirty="0">
                <a:solidFill>
                  <a:srgbClr val="10243D"/>
                </a:solidFill>
                <a:latin typeface="Aptos" pitchFamily="34" charset="0"/>
                <a:ea typeface="Aptos" pitchFamily="34" charset="-122"/>
                <a:cs typeface="Aptos" pitchFamily="34" charset="-120"/>
              </a:rPr>
              <a:t>• Renouvellements
</a:t>
            </a:r>
            <a:pPr indent="0" marL="0">
              <a:buNone/>
            </a:pPr>
            <a:r>
              <a:rPr lang="en-US" sz="1300" dirty="0">
                <a:solidFill>
                  <a:srgbClr val="10243D"/>
                </a:solidFill>
                <a:latin typeface="Aptos" pitchFamily="34" charset="0"/>
                <a:ea typeface="Aptos" pitchFamily="34" charset="-122"/>
                <a:cs typeface="Aptos" pitchFamily="34" charset="-120"/>
              </a:rPr>
              <a:t>• Historique et reporting</a:t>
            </a:r>
            <a:endParaRPr lang="en-US" sz="1300" dirty="0"/>
          </a:p>
        </p:txBody>
      </p:sp>
      <p:sp>
        <p:nvSpPr>
          <p:cNvPr id="21" name="Shape 19"/>
          <p:cNvSpPr/>
          <p:nvPr/>
        </p:nvSpPr>
        <p:spPr>
          <a:xfrm>
            <a:off x="1417320" y="5230368"/>
            <a:ext cx="9326880" cy="566928"/>
          </a:xfrm>
          <a:prstGeom prst="roundRect">
            <a:avLst>
              <a:gd name="adj" fmla="val 9677"/>
            </a:avLst>
          </a:prstGeom>
          <a:solidFill>
            <a:srgbClr val="0F335D"/>
          </a:solidFill>
          <a:ln w="12700">
            <a:solidFill>
              <a:srgbClr val="00B7A8"/>
            </a:solidFill>
            <a:prstDash val="solid"/>
          </a:ln>
        </p:spPr>
      </p:sp>
      <p:sp>
        <p:nvSpPr>
          <p:cNvPr id="22" name="Text 20"/>
          <p:cNvSpPr/>
          <p:nvPr/>
        </p:nvSpPr>
        <p:spPr>
          <a:xfrm>
            <a:off x="1691640" y="5376672"/>
            <a:ext cx="8778240" cy="219456"/>
          </a:xfrm>
          <a:prstGeom prst="rect">
            <a:avLst/>
          </a:prstGeom>
          <a:noFill/>
          <a:ln/>
        </p:spPr>
        <p:txBody>
          <a:bodyPr wrap="square" lIns="635" tIns="635" rIns="635" bIns="635" rtlCol="0" anchor="ctr">
            <a:normAutofit/>
          </a:bodyPr>
          <a:lstStyle/>
          <a:p>
            <a:pPr algn="ctr" indent="0" marL="0">
              <a:buNone/>
            </a:pPr>
            <a:r>
              <a:rPr lang="en-US" sz="1350" b="1" dirty="0">
                <a:solidFill>
                  <a:srgbClr val="FFFFFF"/>
                </a:solidFill>
                <a:latin typeface="Aptos" pitchFamily="34" charset="0"/>
                <a:ea typeface="Aptos" pitchFamily="34" charset="-122"/>
                <a:cs typeface="Aptos" pitchFamily="34" charset="-120"/>
              </a:rPr>
              <a:t>Finalité : permettre à la HAUQE de contrôler les certifications avec des critères communs, traçables et réutilisables.</a:t>
            </a:r>
            <a:endParaRPr lang="en-US" sz="135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08  —  Méthodologie / grandes étapes</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Une exécution progressive avec validation à chaque étape.</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1024128" y="2130552"/>
            <a:ext cx="640080" cy="640080"/>
          </a:xfrm>
          <a:prstGeom prst="ellipse">
            <a:avLst/>
          </a:prstGeom>
          <a:solidFill>
            <a:srgbClr val="00B7A8"/>
          </a:solidFill>
          <a:ln w="12700">
            <a:solidFill>
              <a:srgbClr val="00B7A8">
                <a:alpha val="0"/>
              </a:srgbClr>
            </a:solidFill>
            <a:prstDash val="solid"/>
          </a:ln>
        </p:spPr>
      </p:sp>
      <p:sp>
        <p:nvSpPr>
          <p:cNvPr id="6" name="Text 4"/>
          <p:cNvSpPr/>
          <p:nvPr/>
        </p:nvSpPr>
        <p:spPr>
          <a:xfrm>
            <a:off x="1170432" y="2340864"/>
            <a:ext cx="329184" cy="146304"/>
          </a:xfrm>
          <a:prstGeom prst="rect">
            <a:avLst/>
          </a:prstGeom>
          <a:noFill/>
          <a:ln/>
        </p:spPr>
        <p:txBody>
          <a:bodyPr wrap="square" lIns="635" tIns="635" rIns="635" bIns="635"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01</a:t>
            </a:r>
            <a:endParaRPr lang="en-US" sz="950" dirty="0"/>
          </a:p>
        </p:txBody>
      </p:sp>
      <p:sp>
        <p:nvSpPr>
          <p:cNvPr id="7" name="Shape 5"/>
          <p:cNvSpPr/>
          <p:nvPr/>
        </p:nvSpPr>
        <p:spPr>
          <a:xfrm>
            <a:off x="2029968" y="2450592"/>
            <a:ext cx="502920" cy="0"/>
          </a:xfrm>
          <a:prstGeom prst="line">
            <a:avLst/>
          </a:prstGeom>
          <a:noFill/>
          <a:ln w="16510">
            <a:solidFill>
              <a:srgbClr val="00B7A8"/>
            </a:solidFill>
            <a:prstDash val="solid"/>
            <a:headEnd type="none"/>
            <a:tailEnd type="triangle"/>
          </a:ln>
        </p:spPr>
      </p:sp>
      <p:sp>
        <p:nvSpPr>
          <p:cNvPr id="8" name="Shape 6"/>
          <p:cNvSpPr/>
          <p:nvPr/>
        </p:nvSpPr>
        <p:spPr>
          <a:xfrm>
            <a:off x="640080" y="1965960"/>
            <a:ext cx="1417320" cy="1965960"/>
          </a:xfrm>
          <a:prstGeom prst="roundRect">
            <a:avLst>
              <a:gd name="adj" fmla="val 3871"/>
            </a:avLst>
          </a:prstGeom>
          <a:solidFill>
            <a:srgbClr val="F6FAFE"/>
          </a:solidFill>
          <a:ln w="12700">
            <a:solidFill>
              <a:srgbClr val="DCE8F4"/>
            </a:solidFill>
            <a:prstDash val="solid"/>
          </a:ln>
        </p:spPr>
      </p:sp>
      <p:sp>
        <p:nvSpPr>
          <p:cNvPr id="9" name="Text 7"/>
          <p:cNvSpPr/>
          <p:nvPr/>
        </p:nvSpPr>
        <p:spPr>
          <a:xfrm>
            <a:off x="749808" y="2926080"/>
            <a:ext cx="1207008" cy="256032"/>
          </a:xfrm>
          <a:prstGeom prst="rect">
            <a:avLst/>
          </a:prstGeom>
          <a:noFill/>
          <a:ln/>
        </p:spPr>
        <p:txBody>
          <a:bodyPr wrap="square" lIns="635" tIns="635" rIns="635" bIns="635" rtlCol="0" anchor="ctr">
            <a:normAutofit/>
          </a:bodyPr>
          <a:lstStyle/>
          <a:p>
            <a:pPr algn="ctr" indent="0" marL="0">
              <a:buNone/>
            </a:pPr>
            <a:r>
              <a:rPr lang="en-US" sz="1250" b="1" dirty="0">
                <a:solidFill>
                  <a:srgbClr val="10243D"/>
                </a:solidFill>
                <a:latin typeface="Aptos" pitchFamily="34" charset="0"/>
                <a:ea typeface="Aptos" pitchFamily="34" charset="-122"/>
                <a:cs typeface="Aptos" pitchFamily="34" charset="-120"/>
              </a:rPr>
              <a:t>Cadrage</a:t>
            </a:r>
            <a:endParaRPr lang="en-US" sz="1250" dirty="0"/>
          </a:p>
        </p:txBody>
      </p:sp>
      <p:sp>
        <p:nvSpPr>
          <p:cNvPr id="10" name="Text 8"/>
          <p:cNvSpPr/>
          <p:nvPr/>
        </p:nvSpPr>
        <p:spPr>
          <a:xfrm>
            <a:off x="749808" y="3291840"/>
            <a:ext cx="1207008" cy="502920"/>
          </a:xfrm>
          <a:prstGeom prst="rect">
            <a:avLst/>
          </a:prstGeom>
          <a:noFill/>
          <a:ln/>
        </p:spPr>
        <p:txBody>
          <a:bodyPr wrap="square" lIns="635" tIns="635" rIns="635" bIns="635" rtlCol="0" anchor="ctr">
            <a:normAutofit/>
          </a:bodyPr>
          <a:lstStyle/>
          <a:p>
            <a:pPr algn="ctr" indent="0" marL="0">
              <a:buNone/>
            </a:pPr>
            <a:r>
              <a:rPr lang="en-US" sz="980" dirty="0">
                <a:solidFill>
                  <a:srgbClr val="5A6B7E"/>
                </a:solidFill>
                <a:latin typeface="Aptos" pitchFamily="34" charset="0"/>
                <a:ea typeface="Aptos" pitchFamily="34" charset="-122"/>
                <a:cs typeface="Aptos" pitchFamily="34" charset="-120"/>
              </a:rPr>
              <a:t>Méthode, besoins, champs et règles métier</a:t>
            </a:r>
            <a:endParaRPr lang="en-US" sz="980" dirty="0"/>
          </a:p>
        </p:txBody>
      </p:sp>
      <p:sp>
        <p:nvSpPr>
          <p:cNvPr id="11" name="Shape 9"/>
          <p:cNvSpPr/>
          <p:nvPr/>
        </p:nvSpPr>
        <p:spPr>
          <a:xfrm>
            <a:off x="2898648" y="2130552"/>
            <a:ext cx="640080" cy="640080"/>
          </a:xfrm>
          <a:prstGeom prst="ellipse">
            <a:avLst/>
          </a:prstGeom>
          <a:solidFill>
            <a:srgbClr val="00B7A8"/>
          </a:solidFill>
          <a:ln w="12700">
            <a:solidFill>
              <a:srgbClr val="00B7A8">
                <a:alpha val="0"/>
              </a:srgbClr>
            </a:solidFill>
            <a:prstDash val="solid"/>
          </a:ln>
        </p:spPr>
      </p:sp>
      <p:sp>
        <p:nvSpPr>
          <p:cNvPr id="12" name="Text 10"/>
          <p:cNvSpPr/>
          <p:nvPr/>
        </p:nvSpPr>
        <p:spPr>
          <a:xfrm>
            <a:off x="3044952" y="2340864"/>
            <a:ext cx="329184" cy="146304"/>
          </a:xfrm>
          <a:prstGeom prst="rect">
            <a:avLst/>
          </a:prstGeom>
          <a:noFill/>
          <a:ln/>
        </p:spPr>
        <p:txBody>
          <a:bodyPr wrap="square" lIns="635" tIns="635" rIns="635" bIns="635"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02</a:t>
            </a:r>
            <a:endParaRPr lang="en-US" sz="950" dirty="0"/>
          </a:p>
        </p:txBody>
      </p:sp>
      <p:sp>
        <p:nvSpPr>
          <p:cNvPr id="13" name="Shape 11"/>
          <p:cNvSpPr/>
          <p:nvPr/>
        </p:nvSpPr>
        <p:spPr>
          <a:xfrm>
            <a:off x="3904488" y="2450592"/>
            <a:ext cx="502920" cy="0"/>
          </a:xfrm>
          <a:prstGeom prst="line">
            <a:avLst/>
          </a:prstGeom>
          <a:noFill/>
          <a:ln w="16510">
            <a:solidFill>
              <a:srgbClr val="00B7A8"/>
            </a:solidFill>
            <a:prstDash val="solid"/>
            <a:headEnd type="none"/>
            <a:tailEnd type="triangle"/>
          </a:ln>
        </p:spPr>
      </p:sp>
      <p:sp>
        <p:nvSpPr>
          <p:cNvPr id="14" name="Shape 12"/>
          <p:cNvSpPr/>
          <p:nvPr/>
        </p:nvSpPr>
        <p:spPr>
          <a:xfrm>
            <a:off x="2514600" y="1965960"/>
            <a:ext cx="1417320" cy="1965960"/>
          </a:xfrm>
          <a:prstGeom prst="roundRect">
            <a:avLst>
              <a:gd name="adj" fmla="val 3871"/>
            </a:avLst>
          </a:prstGeom>
          <a:solidFill>
            <a:srgbClr val="F6FAFE"/>
          </a:solidFill>
          <a:ln w="12700">
            <a:solidFill>
              <a:srgbClr val="DCE8F4"/>
            </a:solidFill>
            <a:prstDash val="solid"/>
          </a:ln>
        </p:spPr>
      </p:sp>
      <p:sp>
        <p:nvSpPr>
          <p:cNvPr id="15" name="Text 13"/>
          <p:cNvSpPr/>
          <p:nvPr/>
        </p:nvSpPr>
        <p:spPr>
          <a:xfrm>
            <a:off x="2624328" y="2926080"/>
            <a:ext cx="1207008" cy="256032"/>
          </a:xfrm>
          <a:prstGeom prst="rect">
            <a:avLst/>
          </a:prstGeom>
          <a:noFill/>
          <a:ln/>
        </p:spPr>
        <p:txBody>
          <a:bodyPr wrap="square" lIns="635" tIns="635" rIns="635" bIns="635" rtlCol="0" anchor="ctr">
            <a:normAutofit/>
          </a:bodyPr>
          <a:lstStyle/>
          <a:p>
            <a:pPr algn="ctr" indent="0" marL="0">
              <a:buNone/>
            </a:pPr>
            <a:r>
              <a:rPr lang="en-US" sz="1250" b="1" dirty="0">
                <a:solidFill>
                  <a:srgbClr val="10243D"/>
                </a:solidFill>
                <a:latin typeface="Aptos" pitchFamily="34" charset="0"/>
                <a:ea typeface="Aptos" pitchFamily="34" charset="-122"/>
                <a:cs typeface="Aptos" pitchFamily="34" charset="-120"/>
              </a:rPr>
              <a:t>Développement</a:t>
            </a:r>
            <a:endParaRPr lang="en-US" sz="1250" dirty="0"/>
          </a:p>
        </p:txBody>
      </p:sp>
      <p:sp>
        <p:nvSpPr>
          <p:cNvPr id="16" name="Text 14"/>
          <p:cNvSpPr/>
          <p:nvPr/>
        </p:nvSpPr>
        <p:spPr>
          <a:xfrm>
            <a:off x="2624328" y="3291840"/>
            <a:ext cx="1207008" cy="502920"/>
          </a:xfrm>
          <a:prstGeom prst="rect">
            <a:avLst/>
          </a:prstGeom>
          <a:noFill/>
          <a:ln/>
        </p:spPr>
        <p:txBody>
          <a:bodyPr wrap="square" lIns="635" tIns="635" rIns="635" bIns="635" rtlCol="0" anchor="ctr">
            <a:normAutofit/>
          </a:bodyPr>
          <a:lstStyle/>
          <a:p>
            <a:pPr algn="ctr" indent="0" marL="0">
              <a:buNone/>
            </a:pPr>
            <a:r>
              <a:rPr lang="en-US" sz="980" dirty="0">
                <a:solidFill>
                  <a:srgbClr val="5A6B7E"/>
                </a:solidFill>
                <a:latin typeface="Aptos" pitchFamily="34" charset="0"/>
                <a:ea typeface="Aptos" pitchFamily="34" charset="-122"/>
                <a:cs typeface="Aptos" pitchFamily="34" charset="-120"/>
              </a:rPr>
              <a:t>Architecture, modules, interface web</a:t>
            </a:r>
            <a:endParaRPr lang="en-US" sz="980" dirty="0"/>
          </a:p>
        </p:txBody>
      </p:sp>
      <p:sp>
        <p:nvSpPr>
          <p:cNvPr id="17" name="Shape 15"/>
          <p:cNvSpPr/>
          <p:nvPr/>
        </p:nvSpPr>
        <p:spPr>
          <a:xfrm>
            <a:off x="4773168" y="2130552"/>
            <a:ext cx="640080" cy="640080"/>
          </a:xfrm>
          <a:prstGeom prst="ellipse">
            <a:avLst/>
          </a:prstGeom>
          <a:solidFill>
            <a:srgbClr val="00B7A8"/>
          </a:solidFill>
          <a:ln w="12700">
            <a:solidFill>
              <a:srgbClr val="00B7A8">
                <a:alpha val="0"/>
              </a:srgbClr>
            </a:solidFill>
            <a:prstDash val="solid"/>
          </a:ln>
        </p:spPr>
      </p:sp>
      <p:sp>
        <p:nvSpPr>
          <p:cNvPr id="18" name="Text 16"/>
          <p:cNvSpPr/>
          <p:nvPr/>
        </p:nvSpPr>
        <p:spPr>
          <a:xfrm>
            <a:off x="4919472" y="2340864"/>
            <a:ext cx="329184" cy="146304"/>
          </a:xfrm>
          <a:prstGeom prst="rect">
            <a:avLst/>
          </a:prstGeom>
          <a:noFill/>
          <a:ln/>
        </p:spPr>
        <p:txBody>
          <a:bodyPr wrap="square" lIns="635" tIns="635" rIns="635" bIns="635"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03</a:t>
            </a:r>
            <a:endParaRPr lang="en-US" sz="950" dirty="0"/>
          </a:p>
        </p:txBody>
      </p:sp>
      <p:sp>
        <p:nvSpPr>
          <p:cNvPr id="19" name="Shape 17"/>
          <p:cNvSpPr/>
          <p:nvPr/>
        </p:nvSpPr>
        <p:spPr>
          <a:xfrm>
            <a:off x="5779008" y="2450592"/>
            <a:ext cx="502920" cy="0"/>
          </a:xfrm>
          <a:prstGeom prst="line">
            <a:avLst/>
          </a:prstGeom>
          <a:noFill/>
          <a:ln w="16510">
            <a:solidFill>
              <a:srgbClr val="00B7A8"/>
            </a:solidFill>
            <a:prstDash val="solid"/>
            <a:headEnd type="none"/>
            <a:tailEnd type="triangle"/>
          </a:ln>
        </p:spPr>
      </p:sp>
      <p:sp>
        <p:nvSpPr>
          <p:cNvPr id="20" name="Shape 18"/>
          <p:cNvSpPr/>
          <p:nvPr/>
        </p:nvSpPr>
        <p:spPr>
          <a:xfrm>
            <a:off x="4389120" y="1965960"/>
            <a:ext cx="1417320" cy="1965960"/>
          </a:xfrm>
          <a:prstGeom prst="roundRect">
            <a:avLst>
              <a:gd name="adj" fmla="val 3871"/>
            </a:avLst>
          </a:prstGeom>
          <a:solidFill>
            <a:srgbClr val="F6FAFE"/>
          </a:solidFill>
          <a:ln w="12700">
            <a:solidFill>
              <a:srgbClr val="DCE8F4"/>
            </a:solidFill>
            <a:prstDash val="solid"/>
          </a:ln>
        </p:spPr>
      </p:sp>
      <p:sp>
        <p:nvSpPr>
          <p:cNvPr id="21" name="Text 19"/>
          <p:cNvSpPr/>
          <p:nvPr/>
        </p:nvSpPr>
        <p:spPr>
          <a:xfrm>
            <a:off x="4498848" y="2926080"/>
            <a:ext cx="1207008" cy="256032"/>
          </a:xfrm>
          <a:prstGeom prst="rect">
            <a:avLst/>
          </a:prstGeom>
          <a:noFill/>
          <a:ln/>
        </p:spPr>
        <p:txBody>
          <a:bodyPr wrap="square" lIns="635" tIns="635" rIns="635" bIns="635" rtlCol="0" anchor="ctr">
            <a:normAutofit/>
          </a:bodyPr>
          <a:lstStyle/>
          <a:p>
            <a:pPr algn="ctr" indent="0" marL="0">
              <a:buNone/>
            </a:pPr>
            <a:r>
              <a:rPr lang="en-US" sz="1250" b="1" dirty="0">
                <a:solidFill>
                  <a:srgbClr val="10243D"/>
                </a:solidFill>
                <a:latin typeface="Aptos" pitchFamily="34" charset="0"/>
                <a:ea typeface="Aptos" pitchFamily="34" charset="-122"/>
                <a:cs typeface="Aptos" pitchFamily="34" charset="-120"/>
              </a:rPr>
              <a:t>Outils</a:t>
            </a:r>
            <a:endParaRPr lang="en-US" sz="1250" dirty="0"/>
          </a:p>
        </p:txBody>
      </p:sp>
      <p:sp>
        <p:nvSpPr>
          <p:cNvPr id="22" name="Text 20"/>
          <p:cNvSpPr/>
          <p:nvPr/>
        </p:nvSpPr>
        <p:spPr>
          <a:xfrm>
            <a:off x="4498848" y="3291840"/>
            <a:ext cx="1207008" cy="502920"/>
          </a:xfrm>
          <a:prstGeom prst="rect">
            <a:avLst/>
          </a:prstGeom>
          <a:noFill/>
          <a:ln/>
        </p:spPr>
        <p:txBody>
          <a:bodyPr wrap="square" lIns="635" tIns="635" rIns="635" bIns="635" rtlCol="0" anchor="ctr">
            <a:normAutofit/>
          </a:bodyPr>
          <a:lstStyle/>
          <a:p>
            <a:pPr algn="ctr" indent="0" marL="0">
              <a:buNone/>
            </a:pPr>
            <a:r>
              <a:rPr lang="en-US" sz="980" dirty="0">
                <a:solidFill>
                  <a:srgbClr val="5A6B7E"/>
                </a:solidFill>
                <a:latin typeface="Aptos" pitchFamily="34" charset="0"/>
                <a:ea typeface="Aptos" pitchFamily="34" charset="-122"/>
                <a:cs typeface="Aptos" pitchFamily="34" charset="-120"/>
              </a:rPr>
              <a:t>Fiches, formulaires, grilles de contrôle</a:t>
            </a:r>
            <a:endParaRPr lang="en-US" sz="980" dirty="0"/>
          </a:p>
        </p:txBody>
      </p:sp>
      <p:sp>
        <p:nvSpPr>
          <p:cNvPr id="23" name="Shape 21"/>
          <p:cNvSpPr/>
          <p:nvPr/>
        </p:nvSpPr>
        <p:spPr>
          <a:xfrm>
            <a:off x="6647688" y="2130552"/>
            <a:ext cx="640080" cy="640080"/>
          </a:xfrm>
          <a:prstGeom prst="ellipse">
            <a:avLst/>
          </a:prstGeom>
          <a:solidFill>
            <a:srgbClr val="00B7A8"/>
          </a:solidFill>
          <a:ln w="12700">
            <a:solidFill>
              <a:srgbClr val="00B7A8">
                <a:alpha val="0"/>
              </a:srgbClr>
            </a:solidFill>
            <a:prstDash val="solid"/>
          </a:ln>
        </p:spPr>
      </p:sp>
      <p:sp>
        <p:nvSpPr>
          <p:cNvPr id="24" name="Text 22"/>
          <p:cNvSpPr/>
          <p:nvPr/>
        </p:nvSpPr>
        <p:spPr>
          <a:xfrm>
            <a:off x="6793992" y="2340864"/>
            <a:ext cx="329184" cy="146304"/>
          </a:xfrm>
          <a:prstGeom prst="rect">
            <a:avLst/>
          </a:prstGeom>
          <a:noFill/>
          <a:ln/>
        </p:spPr>
        <p:txBody>
          <a:bodyPr wrap="square" lIns="635" tIns="635" rIns="635" bIns="635"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04</a:t>
            </a:r>
            <a:endParaRPr lang="en-US" sz="950" dirty="0"/>
          </a:p>
        </p:txBody>
      </p:sp>
      <p:sp>
        <p:nvSpPr>
          <p:cNvPr id="25" name="Shape 23"/>
          <p:cNvSpPr/>
          <p:nvPr/>
        </p:nvSpPr>
        <p:spPr>
          <a:xfrm>
            <a:off x="7653528" y="2450592"/>
            <a:ext cx="502920" cy="0"/>
          </a:xfrm>
          <a:prstGeom prst="line">
            <a:avLst/>
          </a:prstGeom>
          <a:noFill/>
          <a:ln w="16510">
            <a:solidFill>
              <a:srgbClr val="00B7A8"/>
            </a:solidFill>
            <a:prstDash val="solid"/>
            <a:headEnd type="none"/>
            <a:tailEnd type="triangle"/>
          </a:ln>
        </p:spPr>
      </p:sp>
      <p:sp>
        <p:nvSpPr>
          <p:cNvPr id="26" name="Shape 24"/>
          <p:cNvSpPr/>
          <p:nvPr/>
        </p:nvSpPr>
        <p:spPr>
          <a:xfrm>
            <a:off x="6263640" y="1965960"/>
            <a:ext cx="1417320" cy="1965960"/>
          </a:xfrm>
          <a:prstGeom prst="roundRect">
            <a:avLst>
              <a:gd name="adj" fmla="val 3871"/>
            </a:avLst>
          </a:prstGeom>
          <a:solidFill>
            <a:srgbClr val="F6FAFE"/>
          </a:solidFill>
          <a:ln w="12700">
            <a:solidFill>
              <a:srgbClr val="DCE8F4"/>
            </a:solidFill>
            <a:prstDash val="solid"/>
          </a:ln>
        </p:spPr>
      </p:sp>
      <p:sp>
        <p:nvSpPr>
          <p:cNvPr id="27" name="Text 25"/>
          <p:cNvSpPr/>
          <p:nvPr/>
        </p:nvSpPr>
        <p:spPr>
          <a:xfrm>
            <a:off x="6373368" y="2926080"/>
            <a:ext cx="1207008" cy="256032"/>
          </a:xfrm>
          <a:prstGeom prst="rect">
            <a:avLst/>
          </a:prstGeom>
          <a:noFill/>
          <a:ln/>
        </p:spPr>
        <p:txBody>
          <a:bodyPr wrap="square" lIns="635" tIns="635" rIns="635" bIns="635" rtlCol="0" anchor="ctr">
            <a:normAutofit/>
          </a:bodyPr>
          <a:lstStyle/>
          <a:p>
            <a:pPr algn="ctr" indent="0" marL="0">
              <a:buNone/>
            </a:pPr>
            <a:r>
              <a:rPr lang="en-US" sz="1250" b="1" dirty="0">
                <a:solidFill>
                  <a:srgbClr val="10243D"/>
                </a:solidFill>
                <a:latin typeface="Aptos" pitchFamily="34" charset="0"/>
                <a:ea typeface="Aptos" pitchFamily="34" charset="-122"/>
                <a:cs typeface="Aptos" pitchFamily="34" charset="-120"/>
              </a:rPr>
              <a:t>Intégration</a:t>
            </a:r>
            <a:endParaRPr lang="en-US" sz="1250" dirty="0"/>
          </a:p>
        </p:txBody>
      </p:sp>
      <p:sp>
        <p:nvSpPr>
          <p:cNvPr id="28" name="Text 26"/>
          <p:cNvSpPr/>
          <p:nvPr/>
        </p:nvSpPr>
        <p:spPr>
          <a:xfrm>
            <a:off x="6373368" y="3291840"/>
            <a:ext cx="1207008" cy="502920"/>
          </a:xfrm>
          <a:prstGeom prst="rect">
            <a:avLst/>
          </a:prstGeom>
          <a:noFill/>
          <a:ln/>
        </p:spPr>
        <p:txBody>
          <a:bodyPr wrap="square" lIns="635" tIns="635" rIns="635" bIns="635" rtlCol="0" anchor="ctr">
            <a:normAutofit/>
          </a:bodyPr>
          <a:lstStyle/>
          <a:p>
            <a:pPr algn="ctr" indent="0" marL="0">
              <a:buNone/>
            </a:pPr>
            <a:r>
              <a:rPr lang="en-US" sz="980" dirty="0">
                <a:solidFill>
                  <a:srgbClr val="5A6B7E"/>
                </a:solidFill>
                <a:latin typeface="Aptos" pitchFamily="34" charset="0"/>
                <a:ea typeface="Aptos" pitchFamily="34" charset="-122"/>
                <a:cs typeface="Aptos" pitchFamily="34" charset="-120"/>
              </a:rPr>
              <a:t>Nettoyage, harmonisation, importation</a:t>
            </a:r>
            <a:endParaRPr lang="en-US" sz="980" dirty="0"/>
          </a:p>
        </p:txBody>
      </p:sp>
      <p:sp>
        <p:nvSpPr>
          <p:cNvPr id="29" name="Shape 27"/>
          <p:cNvSpPr/>
          <p:nvPr/>
        </p:nvSpPr>
        <p:spPr>
          <a:xfrm>
            <a:off x="8522208" y="2130552"/>
            <a:ext cx="640080" cy="640080"/>
          </a:xfrm>
          <a:prstGeom prst="ellipse">
            <a:avLst/>
          </a:prstGeom>
          <a:solidFill>
            <a:srgbClr val="00B7A8"/>
          </a:solidFill>
          <a:ln w="12700">
            <a:solidFill>
              <a:srgbClr val="00B7A8">
                <a:alpha val="0"/>
              </a:srgbClr>
            </a:solidFill>
            <a:prstDash val="solid"/>
          </a:ln>
        </p:spPr>
      </p:sp>
      <p:sp>
        <p:nvSpPr>
          <p:cNvPr id="30" name="Text 28"/>
          <p:cNvSpPr/>
          <p:nvPr/>
        </p:nvSpPr>
        <p:spPr>
          <a:xfrm>
            <a:off x="8668512" y="2340864"/>
            <a:ext cx="329184" cy="146304"/>
          </a:xfrm>
          <a:prstGeom prst="rect">
            <a:avLst/>
          </a:prstGeom>
          <a:noFill/>
          <a:ln/>
        </p:spPr>
        <p:txBody>
          <a:bodyPr wrap="square" lIns="635" tIns="635" rIns="635" bIns="635"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05</a:t>
            </a:r>
            <a:endParaRPr lang="en-US" sz="950" dirty="0"/>
          </a:p>
        </p:txBody>
      </p:sp>
      <p:sp>
        <p:nvSpPr>
          <p:cNvPr id="31" name="Shape 29"/>
          <p:cNvSpPr/>
          <p:nvPr/>
        </p:nvSpPr>
        <p:spPr>
          <a:xfrm>
            <a:off x="9528048" y="2450592"/>
            <a:ext cx="502920" cy="0"/>
          </a:xfrm>
          <a:prstGeom prst="line">
            <a:avLst/>
          </a:prstGeom>
          <a:noFill/>
          <a:ln w="16510">
            <a:solidFill>
              <a:srgbClr val="00B7A8"/>
            </a:solidFill>
            <a:prstDash val="solid"/>
            <a:headEnd type="none"/>
            <a:tailEnd type="triangle"/>
          </a:ln>
        </p:spPr>
      </p:sp>
      <p:sp>
        <p:nvSpPr>
          <p:cNvPr id="32" name="Shape 30"/>
          <p:cNvSpPr/>
          <p:nvPr/>
        </p:nvSpPr>
        <p:spPr>
          <a:xfrm>
            <a:off x="8138160" y="1965960"/>
            <a:ext cx="1417320" cy="1965960"/>
          </a:xfrm>
          <a:prstGeom prst="roundRect">
            <a:avLst>
              <a:gd name="adj" fmla="val 3871"/>
            </a:avLst>
          </a:prstGeom>
          <a:solidFill>
            <a:srgbClr val="F6FAFE"/>
          </a:solidFill>
          <a:ln w="12700">
            <a:solidFill>
              <a:srgbClr val="DCE8F4"/>
            </a:solidFill>
            <a:prstDash val="solid"/>
          </a:ln>
        </p:spPr>
      </p:sp>
      <p:sp>
        <p:nvSpPr>
          <p:cNvPr id="33" name="Text 31"/>
          <p:cNvSpPr/>
          <p:nvPr/>
        </p:nvSpPr>
        <p:spPr>
          <a:xfrm>
            <a:off x="8247888" y="2926080"/>
            <a:ext cx="1207008" cy="256032"/>
          </a:xfrm>
          <a:prstGeom prst="rect">
            <a:avLst/>
          </a:prstGeom>
          <a:noFill/>
          <a:ln/>
        </p:spPr>
        <p:txBody>
          <a:bodyPr wrap="square" lIns="635" tIns="635" rIns="635" bIns="635" rtlCol="0" anchor="ctr">
            <a:normAutofit/>
          </a:bodyPr>
          <a:lstStyle/>
          <a:p>
            <a:pPr algn="ctr" indent="0" marL="0">
              <a:buNone/>
            </a:pPr>
            <a:r>
              <a:rPr lang="en-US" sz="1250" b="1" dirty="0">
                <a:solidFill>
                  <a:srgbClr val="10243D"/>
                </a:solidFill>
                <a:latin typeface="Aptos" pitchFamily="34" charset="0"/>
                <a:ea typeface="Aptos" pitchFamily="34" charset="-122"/>
                <a:cs typeface="Aptos" pitchFamily="34" charset="-120"/>
              </a:rPr>
              <a:t>Tableaux de bord</a:t>
            </a:r>
            <a:endParaRPr lang="en-US" sz="1250" dirty="0"/>
          </a:p>
        </p:txBody>
      </p:sp>
      <p:sp>
        <p:nvSpPr>
          <p:cNvPr id="34" name="Text 32"/>
          <p:cNvSpPr/>
          <p:nvPr/>
        </p:nvSpPr>
        <p:spPr>
          <a:xfrm>
            <a:off x="8247888" y="3291840"/>
            <a:ext cx="1207008" cy="502920"/>
          </a:xfrm>
          <a:prstGeom prst="rect">
            <a:avLst/>
          </a:prstGeom>
          <a:noFill/>
          <a:ln/>
        </p:spPr>
        <p:txBody>
          <a:bodyPr wrap="square" lIns="635" tIns="635" rIns="635" bIns="635" rtlCol="0" anchor="ctr">
            <a:normAutofit/>
          </a:bodyPr>
          <a:lstStyle/>
          <a:p>
            <a:pPr algn="ctr" indent="0" marL="0">
              <a:buNone/>
            </a:pPr>
            <a:r>
              <a:rPr lang="en-US" sz="980" dirty="0">
                <a:solidFill>
                  <a:srgbClr val="5A6B7E"/>
                </a:solidFill>
                <a:latin typeface="Aptos" pitchFamily="34" charset="0"/>
                <a:ea typeface="Aptos" pitchFamily="34" charset="-122"/>
                <a:cs typeface="Aptos" pitchFamily="34" charset="-120"/>
              </a:rPr>
              <a:t>Alertes, indicateurs, reporting</a:t>
            </a:r>
            <a:endParaRPr lang="en-US" sz="980" dirty="0"/>
          </a:p>
        </p:txBody>
      </p:sp>
      <p:sp>
        <p:nvSpPr>
          <p:cNvPr id="35" name="Shape 33"/>
          <p:cNvSpPr/>
          <p:nvPr/>
        </p:nvSpPr>
        <p:spPr>
          <a:xfrm>
            <a:off x="10396728" y="2130552"/>
            <a:ext cx="640080" cy="640080"/>
          </a:xfrm>
          <a:prstGeom prst="ellipse">
            <a:avLst/>
          </a:prstGeom>
          <a:solidFill>
            <a:srgbClr val="00B7A8"/>
          </a:solidFill>
          <a:ln w="12700">
            <a:solidFill>
              <a:srgbClr val="00B7A8">
                <a:alpha val="0"/>
              </a:srgbClr>
            </a:solidFill>
            <a:prstDash val="solid"/>
          </a:ln>
        </p:spPr>
      </p:sp>
      <p:sp>
        <p:nvSpPr>
          <p:cNvPr id="36" name="Text 34"/>
          <p:cNvSpPr/>
          <p:nvPr/>
        </p:nvSpPr>
        <p:spPr>
          <a:xfrm>
            <a:off x="10543032" y="2340864"/>
            <a:ext cx="329184" cy="146304"/>
          </a:xfrm>
          <a:prstGeom prst="rect">
            <a:avLst/>
          </a:prstGeom>
          <a:noFill/>
          <a:ln/>
        </p:spPr>
        <p:txBody>
          <a:bodyPr wrap="square" lIns="635" tIns="635" rIns="635" bIns="635"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06</a:t>
            </a:r>
            <a:endParaRPr lang="en-US" sz="950" dirty="0"/>
          </a:p>
        </p:txBody>
      </p:sp>
      <p:sp>
        <p:nvSpPr>
          <p:cNvPr id="37" name="Shape 35"/>
          <p:cNvSpPr/>
          <p:nvPr/>
        </p:nvSpPr>
        <p:spPr>
          <a:xfrm>
            <a:off x="10012680" y="1965960"/>
            <a:ext cx="1417320" cy="1965960"/>
          </a:xfrm>
          <a:prstGeom prst="roundRect">
            <a:avLst>
              <a:gd name="adj" fmla="val 3871"/>
            </a:avLst>
          </a:prstGeom>
          <a:solidFill>
            <a:srgbClr val="F6FAFE"/>
          </a:solidFill>
          <a:ln w="12700">
            <a:solidFill>
              <a:srgbClr val="DCE8F4"/>
            </a:solidFill>
            <a:prstDash val="solid"/>
          </a:ln>
        </p:spPr>
      </p:sp>
      <p:sp>
        <p:nvSpPr>
          <p:cNvPr id="38" name="Text 36"/>
          <p:cNvSpPr/>
          <p:nvPr/>
        </p:nvSpPr>
        <p:spPr>
          <a:xfrm>
            <a:off x="10122408" y="2926080"/>
            <a:ext cx="1207008" cy="256032"/>
          </a:xfrm>
          <a:prstGeom prst="rect">
            <a:avLst/>
          </a:prstGeom>
          <a:noFill/>
          <a:ln/>
        </p:spPr>
        <p:txBody>
          <a:bodyPr wrap="square" lIns="635" tIns="635" rIns="635" bIns="635" rtlCol="0" anchor="ctr">
            <a:normAutofit/>
          </a:bodyPr>
          <a:lstStyle/>
          <a:p>
            <a:pPr algn="ctr" indent="0" marL="0">
              <a:buNone/>
            </a:pPr>
            <a:r>
              <a:rPr lang="en-US" sz="1250" b="1" dirty="0">
                <a:solidFill>
                  <a:srgbClr val="10243D"/>
                </a:solidFill>
                <a:latin typeface="Aptos" pitchFamily="34" charset="0"/>
                <a:ea typeface="Aptos" pitchFamily="34" charset="-122"/>
                <a:cs typeface="Aptos" pitchFamily="34" charset="-120"/>
              </a:rPr>
              <a:t>Formation</a:t>
            </a:r>
            <a:endParaRPr lang="en-US" sz="1250" dirty="0"/>
          </a:p>
        </p:txBody>
      </p:sp>
      <p:sp>
        <p:nvSpPr>
          <p:cNvPr id="39" name="Text 37"/>
          <p:cNvSpPr/>
          <p:nvPr/>
        </p:nvSpPr>
        <p:spPr>
          <a:xfrm>
            <a:off x="10122408" y="3291840"/>
            <a:ext cx="1207008" cy="502920"/>
          </a:xfrm>
          <a:prstGeom prst="rect">
            <a:avLst/>
          </a:prstGeom>
          <a:noFill/>
          <a:ln/>
        </p:spPr>
        <p:txBody>
          <a:bodyPr wrap="square" lIns="635" tIns="635" rIns="635" bIns="635" rtlCol="0" anchor="ctr">
            <a:normAutofit/>
          </a:bodyPr>
          <a:lstStyle/>
          <a:p>
            <a:pPr algn="ctr" indent="0" marL="0">
              <a:buNone/>
            </a:pPr>
            <a:r>
              <a:rPr lang="en-US" sz="980" dirty="0">
                <a:solidFill>
                  <a:srgbClr val="5A6B7E"/>
                </a:solidFill>
                <a:latin typeface="Aptos" pitchFamily="34" charset="0"/>
                <a:ea typeface="Aptos" pitchFamily="34" charset="-122"/>
                <a:cs typeface="Aptos" pitchFamily="34" charset="-120"/>
              </a:rPr>
              <a:t>Guide, démonstration, transfert</a:t>
            </a:r>
            <a:endParaRPr lang="en-US" sz="980" dirty="0"/>
          </a:p>
        </p:txBody>
      </p:sp>
      <p:sp>
        <p:nvSpPr>
          <p:cNvPr id="40" name="Shape 38"/>
          <p:cNvSpPr/>
          <p:nvPr/>
        </p:nvSpPr>
        <p:spPr>
          <a:xfrm>
            <a:off x="1051560" y="5047488"/>
            <a:ext cx="10058400" cy="640080"/>
          </a:xfrm>
          <a:prstGeom prst="roundRect">
            <a:avLst>
              <a:gd name="adj" fmla="val 8571"/>
            </a:avLst>
          </a:prstGeom>
          <a:solidFill>
            <a:srgbClr val="0F335D"/>
          </a:solidFill>
          <a:ln w="12700">
            <a:solidFill>
              <a:srgbClr val="00B7A8"/>
            </a:solidFill>
            <a:prstDash val="solid"/>
          </a:ln>
        </p:spPr>
      </p:sp>
      <p:sp>
        <p:nvSpPr>
          <p:cNvPr id="41" name="Text 39"/>
          <p:cNvSpPr/>
          <p:nvPr/>
        </p:nvSpPr>
        <p:spPr>
          <a:xfrm>
            <a:off x="1325880" y="5248656"/>
            <a:ext cx="9509760" cy="201168"/>
          </a:xfrm>
          <a:prstGeom prst="rect">
            <a:avLst/>
          </a:prstGeom>
          <a:noFill/>
          <a:ln/>
        </p:spPr>
        <p:txBody>
          <a:bodyPr wrap="square" lIns="635" tIns="635" rIns="635" bIns="635" rtlCol="0" anchor="ctr">
            <a:normAutofit/>
          </a:bodyPr>
          <a:lstStyle/>
          <a:p>
            <a:pPr algn="ctr" indent="0" marL="0">
              <a:buNone/>
            </a:pPr>
            <a:r>
              <a:rPr lang="en-US" sz="1350" b="1" dirty="0">
                <a:solidFill>
                  <a:srgbClr val="FFFFFF"/>
                </a:solidFill>
                <a:latin typeface="Aptos" pitchFamily="34" charset="0"/>
                <a:ea typeface="Aptos" pitchFamily="34" charset="-122"/>
                <a:cs typeface="Aptos" pitchFamily="34" charset="-120"/>
              </a:rPr>
              <a:t>Principe de gestion : aucun passage à l’étape suivante sans validation minimale des éléments structurants.</a:t>
            </a:r>
            <a:endParaRPr lang="en-US" sz="135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09  —  Rôles des acteurs</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Une mission co-construite, avec responsabilités clairement réparties.</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685800" y="1325880"/>
            <a:ext cx="3246120" cy="4251960"/>
          </a:xfrm>
          <a:prstGeom prst="roundRect">
            <a:avLst>
              <a:gd name="adj" fmla="val 1690"/>
            </a:avLst>
          </a:prstGeom>
          <a:solidFill>
            <a:srgbClr val="F6FAFE"/>
          </a:solidFill>
          <a:ln w="12700">
            <a:solidFill>
              <a:srgbClr val="DCE8F4"/>
            </a:solidFill>
            <a:prstDash val="solid"/>
          </a:ln>
        </p:spPr>
      </p:sp>
      <p:sp>
        <p:nvSpPr>
          <p:cNvPr id="6" name="Shape 4"/>
          <p:cNvSpPr/>
          <p:nvPr/>
        </p:nvSpPr>
        <p:spPr>
          <a:xfrm>
            <a:off x="914400" y="1600200"/>
            <a:ext cx="2788920" cy="384048"/>
          </a:xfrm>
          <a:prstGeom prst="roundRect">
            <a:avLst>
              <a:gd name="adj" fmla="val 11905"/>
            </a:avLst>
          </a:prstGeom>
          <a:solidFill>
            <a:srgbClr val="173F70"/>
          </a:solidFill>
          <a:ln w="12700">
            <a:solidFill>
              <a:srgbClr val="173F70">
                <a:alpha val="0"/>
              </a:srgbClr>
            </a:solidFill>
            <a:prstDash val="solid"/>
          </a:ln>
        </p:spPr>
      </p:sp>
      <p:sp>
        <p:nvSpPr>
          <p:cNvPr id="7" name="Text 5"/>
          <p:cNvSpPr/>
          <p:nvPr/>
        </p:nvSpPr>
        <p:spPr>
          <a:xfrm>
            <a:off x="1024128" y="1645920"/>
            <a:ext cx="256946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Expert</a:t>
            </a:r>
            <a:endParaRPr lang="en-US" sz="1100" dirty="0"/>
          </a:p>
        </p:txBody>
      </p:sp>
      <p:sp>
        <p:nvSpPr>
          <p:cNvPr id="8" name="Text 6"/>
          <p:cNvSpPr/>
          <p:nvPr/>
        </p:nvSpPr>
        <p:spPr>
          <a:xfrm>
            <a:off x="1033272" y="2240280"/>
            <a:ext cx="2606040" cy="2331720"/>
          </a:xfrm>
          <a:prstGeom prst="rect">
            <a:avLst/>
          </a:prstGeom>
          <a:noFill/>
          <a:ln/>
        </p:spPr>
        <p:txBody>
          <a:bodyPr wrap="square" lIns="1016" tIns="1016" rIns="1016" bIns="1016" rtlCol="0" anchor="t">
            <a:normAutofit/>
          </a:bodyPr>
          <a:lstStyle/>
          <a:p>
            <a:pPr indent="0" marL="0">
              <a:buNone/>
            </a:pPr>
            <a:r>
              <a:rPr lang="en-US" sz="1260" dirty="0">
                <a:solidFill>
                  <a:srgbClr val="10243D"/>
                </a:solidFill>
                <a:latin typeface="Aptos" pitchFamily="34" charset="0"/>
                <a:ea typeface="Aptos" pitchFamily="34" charset="-122"/>
                <a:cs typeface="Aptos" pitchFamily="34" charset="-120"/>
              </a:rPr>
              <a:t>• Développe la base nationale
</a:t>
            </a:r>
            <a:pPr indent="0" marL="0">
              <a:buNone/>
            </a:pPr>
            <a:r>
              <a:rPr lang="en-US" sz="1260" dirty="0">
                <a:solidFill>
                  <a:srgbClr val="10243D"/>
                </a:solidFill>
                <a:latin typeface="Aptos" pitchFamily="34" charset="0"/>
                <a:ea typeface="Aptos" pitchFamily="34" charset="-122"/>
                <a:cs typeface="Aptos" pitchFamily="34" charset="-120"/>
              </a:rPr>
              <a:t>• Conçoit les outils de collecte et de contrôle
</a:t>
            </a:r>
            <a:pPr indent="0" marL="0">
              <a:buNone/>
            </a:pPr>
            <a:r>
              <a:rPr lang="en-US" sz="1260" dirty="0">
                <a:solidFill>
                  <a:srgbClr val="10243D"/>
                </a:solidFill>
                <a:latin typeface="Aptos" pitchFamily="34" charset="0"/>
                <a:ea typeface="Aptos" pitchFamily="34" charset="-122"/>
                <a:cs typeface="Aptos" pitchFamily="34" charset="-120"/>
              </a:rPr>
              <a:t>• Structure tableaux de bord, alertes et reporting
</a:t>
            </a:r>
            <a:pPr indent="0" marL="0">
              <a:buNone/>
            </a:pPr>
            <a:r>
              <a:rPr lang="en-US" sz="1260" dirty="0">
                <a:solidFill>
                  <a:srgbClr val="10243D"/>
                </a:solidFill>
                <a:latin typeface="Aptos" pitchFamily="34" charset="0"/>
                <a:ea typeface="Aptos" pitchFamily="34" charset="-122"/>
                <a:cs typeface="Aptos" pitchFamily="34" charset="-120"/>
              </a:rPr>
              <a:t>• Forme les équipes et fournit les guides</a:t>
            </a:r>
            <a:endParaRPr lang="en-US" sz="1260" dirty="0"/>
          </a:p>
        </p:txBody>
      </p:sp>
      <p:sp>
        <p:nvSpPr>
          <p:cNvPr id="9" name="Shape 7"/>
          <p:cNvSpPr/>
          <p:nvPr/>
        </p:nvSpPr>
        <p:spPr>
          <a:xfrm>
            <a:off x="4480560" y="1325880"/>
            <a:ext cx="3246120" cy="4251960"/>
          </a:xfrm>
          <a:prstGeom prst="roundRect">
            <a:avLst>
              <a:gd name="adj" fmla="val 1690"/>
            </a:avLst>
          </a:prstGeom>
          <a:solidFill>
            <a:srgbClr val="F6FAFE"/>
          </a:solidFill>
          <a:ln w="16510">
            <a:solidFill>
              <a:srgbClr val="00B7A8"/>
            </a:solidFill>
            <a:prstDash val="solid"/>
          </a:ln>
        </p:spPr>
      </p:sp>
      <p:sp>
        <p:nvSpPr>
          <p:cNvPr id="10" name="Shape 8"/>
          <p:cNvSpPr/>
          <p:nvPr/>
        </p:nvSpPr>
        <p:spPr>
          <a:xfrm>
            <a:off x="4709160" y="1600200"/>
            <a:ext cx="2788920" cy="384048"/>
          </a:xfrm>
          <a:prstGeom prst="roundRect">
            <a:avLst>
              <a:gd name="adj" fmla="val 11905"/>
            </a:avLst>
          </a:prstGeom>
          <a:solidFill>
            <a:srgbClr val="00B7A8"/>
          </a:solidFill>
          <a:ln w="12700">
            <a:solidFill>
              <a:srgbClr val="00B7A8">
                <a:alpha val="0"/>
              </a:srgbClr>
            </a:solidFill>
            <a:prstDash val="solid"/>
          </a:ln>
        </p:spPr>
      </p:sp>
      <p:sp>
        <p:nvSpPr>
          <p:cNvPr id="11" name="Text 9"/>
          <p:cNvSpPr/>
          <p:nvPr/>
        </p:nvSpPr>
        <p:spPr>
          <a:xfrm>
            <a:off x="4818888" y="1645920"/>
            <a:ext cx="256946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HAUQE</a:t>
            </a:r>
            <a:endParaRPr lang="en-US" sz="1100" dirty="0"/>
          </a:p>
        </p:txBody>
      </p:sp>
      <p:sp>
        <p:nvSpPr>
          <p:cNvPr id="12" name="Text 10"/>
          <p:cNvSpPr/>
          <p:nvPr/>
        </p:nvSpPr>
        <p:spPr>
          <a:xfrm>
            <a:off x="4828032" y="2240280"/>
            <a:ext cx="2606040" cy="2331720"/>
          </a:xfrm>
          <a:prstGeom prst="rect">
            <a:avLst/>
          </a:prstGeom>
          <a:noFill/>
          <a:ln/>
        </p:spPr>
        <p:txBody>
          <a:bodyPr wrap="square" lIns="1016" tIns="1016" rIns="1016" bIns="1016" rtlCol="0" anchor="t">
            <a:normAutofit/>
          </a:bodyPr>
          <a:lstStyle/>
          <a:p>
            <a:pPr indent="0" marL="0">
              <a:buNone/>
            </a:pPr>
            <a:r>
              <a:rPr lang="en-US" sz="1260" dirty="0">
                <a:solidFill>
                  <a:srgbClr val="10243D"/>
                </a:solidFill>
                <a:latin typeface="Aptos" pitchFamily="34" charset="0"/>
                <a:ea typeface="Aptos" pitchFamily="34" charset="-122"/>
                <a:cs typeface="Aptos" pitchFamily="34" charset="-120"/>
              </a:rPr>
              <a:t>• Met à disposition les données existantes
</a:t>
            </a:r>
            <a:pPr indent="0" marL="0">
              <a:buNone/>
            </a:pPr>
            <a:r>
              <a:rPr lang="en-US" sz="1260" dirty="0">
                <a:solidFill>
                  <a:srgbClr val="10243D"/>
                </a:solidFill>
                <a:latin typeface="Aptos" pitchFamily="34" charset="0"/>
                <a:ea typeface="Aptos" pitchFamily="34" charset="-122"/>
                <a:cs typeface="Aptos" pitchFamily="34" charset="-120"/>
              </a:rPr>
              <a:t>• Désigne un point focal technique
</a:t>
            </a:r>
            <a:pPr indent="0" marL="0">
              <a:buNone/>
            </a:pPr>
            <a:r>
              <a:rPr lang="en-US" sz="1260" dirty="0">
                <a:solidFill>
                  <a:srgbClr val="10243D"/>
                </a:solidFill>
                <a:latin typeface="Aptos" pitchFamily="34" charset="0"/>
                <a:ea typeface="Aptos" pitchFamily="34" charset="-122"/>
                <a:cs typeface="Aptos" pitchFamily="34" charset="-120"/>
              </a:rPr>
              <a:t>• Valide les champs, règles métier et outils
</a:t>
            </a:r>
            <a:pPr indent="0" marL="0">
              <a:buNone/>
            </a:pPr>
            <a:r>
              <a:rPr lang="en-US" sz="1260" dirty="0">
                <a:solidFill>
                  <a:srgbClr val="10243D"/>
                </a:solidFill>
                <a:latin typeface="Aptos" pitchFamily="34" charset="0"/>
                <a:ea typeface="Aptos" pitchFamily="34" charset="-122"/>
                <a:cs typeface="Aptos" pitchFamily="34" charset="-120"/>
              </a:rPr>
              <a:t>• Assure l’appropriation et la mise à jour</a:t>
            </a:r>
            <a:endParaRPr lang="en-US" sz="1260" dirty="0"/>
          </a:p>
        </p:txBody>
      </p:sp>
      <p:sp>
        <p:nvSpPr>
          <p:cNvPr id="13" name="Shape 11"/>
          <p:cNvSpPr/>
          <p:nvPr/>
        </p:nvSpPr>
        <p:spPr>
          <a:xfrm>
            <a:off x="8275320" y="1325880"/>
            <a:ext cx="3246120" cy="4251960"/>
          </a:xfrm>
          <a:prstGeom prst="roundRect">
            <a:avLst>
              <a:gd name="adj" fmla="val 1690"/>
            </a:avLst>
          </a:prstGeom>
          <a:solidFill>
            <a:srgbClr val="F6FAFE"/>
          </a:solidFill>
          <a:ln w="12700">
            <a:solidFill>
              <a:srgbClr val="DCE8F4"/>
            </a:solidFill>
            <a:prstDash val="solid"/>
          </a:ln>
        </p:spPr>
      </p:sp>
      <p:sp>
        <p:nvSpPr>
          <p:cNvPr id="14" name="Shape 12"/>
          <p:cNvSpPr/>
          <p:nvPr/>
        </p:nvSpPr>
        <p:spPr>
          <a:xfrm>
            <a:off x="8503920" y="1600200"/>
            <a:ext cx="2788920" cy="384048"/>
          </a:xfrm>
          <a:prstGeom prst="roundRect">
            <a:avLst>
              <a:gd name="adj" fmla="val 11905"/>
            </a:avLst>
          </a:prstGeom>
          <a:solidFill>
            <a:srgbClr val="173F70"/>
          </a:solidFill>
          <a:ln w="12700">
            <a:solidFill>
              <a:srgbClr val="173F70">
                <a:alpha val="0"/>
              </a:srgbClr>
            </a:solidFill>
            <a:prstDash val="solid"/>
          </a:ln>
        </p:spPr>
      </p:sp>
      <p:sp>
        <p:nvSpPr>
          <p:cNvPr id="15" name="Text 13"/>
          <p:cNvSpPr/>
          <p:nvPr/>
        </p:nvSpPr>
        <p:spPr>
          <a:xfrm>
            <a:off x="8613648" y="1645920"/>
            <a:ext cx="256946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GFA</a:t>
            </a:r>
            <a:endParaRPr lang="en-US" sz="1100" dirty="0"/>
          </a:p>
        </p:txBody>
      </p:sp>
      <p:sp>
        <p:nvSpPr>
          <p:cNvPr id="16" name="Text 14"/>
          <p:cNvSpPr/>
          <p:nvPr/>
        </p:nvSpPr>
        <p:spPr>
          <a:xfrm>
            <a:off x="8622792" y="2240280"/>
            <a:ext cx="2606040" cy="2331720"/>
          </a:xfrm>
          <a:prstGeom prst="rect">
            <a:avLst/>
          </a:prstGeom>
          <a:noFill/>
          <a:ln/>
        </p:spPr>
        <p:txBody>
          <a:bodyPr wrap="square" lIns="1016" tIns="1016" rIns="1016" bIns="1016" rtlCol="0" anchor="t">
            <a:normAutofit/>
          </a:bodyPr>
          <a:lstStyle/>
          <a:p>
            <a:pPr indent="0" marL="0">
              <a:buNone/>
            </a:pPr>
            <a:r>
              <a:rPr lang="en-US" sz="1260" dirty="0">
                <a:solidFill>
                  <a:srgbClr val="10243D"/>
                </a:solidFill>
                <a:latin typeface="Aptos" pitchFamily="34" charset="0"/>
                <a:ea typeface="Aptos" pitchFamily="34" charset="-122"/>
                <a:cs typeface="Aptos" pitchFamily="34" charset="-120"/>
              </a:rPr>
              <a:t>• Coordonne l’appui technique
</a:t>
            </a:r>
            <a:pPr indent="0" marL="0">
              <a:buNone/>
            </a:pPr>
            <a:r>
              <a:rPr lang="en-US" sz="1260" dirty="0">
                <a:solidFill>
                  <a:srgbClr val="10243D"/>
                </a:solidFill>
                <a:latin typeface="Aptos" pitchFamily="34" charset="0"/>
                <a:ea typeface="Aptos" pitchFamily="34" charset="-122"/>
                <a:cs typeface="Aptos" pitchFamily="34" charset="-120"/>
              </a:rPr>
              <a:t>• Facilite le suivi de la mission
</a:t>
            </a:r>
            <a:pPr indent="0" marL="0">
              <a:buNone/>
            </a:pPr>
            <a:r>
              <a:rPr lang="en-US" sz="1260" dirty="0">
                <a:solidFill>
                  <a:srgbClr val="10243D"/>
                </a:solidFill>
                <a:latin typeface="Aptos" pitchFamily="34" charset="0"/>
                <a:ea typeface="Aptos" pitchFamily="34" charset="-122"/>
                <a:cs typeface="Aptos" pitchFamily="34" charset="-120"/>
              </a:rPr>
              <a:t>• Valide les livrables selon le cadre convenu
</a:t>
            </a:r>
            <a:pPr indent="0" marL="0">
              <a:buNone/>
            </a:pPr>
            <a:r>
              <a:rPr lang="en-US" sz="1260" dirty="0">
                <a:solidFill>
                  <a:srgbClr val="10243D"/>
                </a:solidFill>
                <a:latin typeface="Aptos" pitchFamily="34" charset="0"/>
                <a:ea typeface="Aptos" pitchFamily="34" charset="-122"/>
                <a:cs typeface="Aptos" pitchFamily="34" charset="-120"/>
              </a:rPr>
              <a:t>• Assure la qualité du processus</a:t>
            </a:r>
            <a:endParaRPr lang="en-US" sz="126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10  —  Calendrier 25 H/J</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Répartition claire des jours terrain, domicile et jalons de validation.</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685800" y="1115568"/>
            <a:ext cx="2331720" cy="758952"/>
          </a:xfrm>
          <a:prstGeom prst="roundRect">
            <a:avLst>
              <a:gd name="adj" fmla="val 7229"/>
            </a:avLst>
          </a:prstGeom>
          <a:solidFill>
            <a:srgbClr val="173F70"/>
          </a:solidFill>
          <a:ln w="12700">
            <a:solidFill>
              <a:srgbClr val="173F70"/>
            </a:solidFill>
            <a:prstDash val="solid"/>
          </a:ln>
        </p:spPr>
      </p:sp>
      <p:sp>
        <p:nvSpPr>
          <p:cNvPr id="6" name="Text 4"/>
          <p:cNvSpPr/>
          <p:nvPr/>
        </p:nvSpPr>
        <p:spPr>
          <a:xfrm>
            <a:off x="685800" y="1243584"/>
            <a:ext cx="2331720" cy="201168"/>
          </a:xfrm>
          <a:prstGeom prst="rect">
            <a:avLst/>
          </a:prstGeom>
          <a:noFill/>
          <a:ln/>
        </p:spPr>
        <p:txBody>
          <a:bodyPr wrap="square" lIns="635" tIns="635" rIns="635" bIns="635" rtlCol="0" anchor="ctr">
            <a:normAutofit/>
          </a:bodyPr>
          <a:lstStyle/>
          <a:p>
            <a:pPr algn="ctr" indent="0" marL="0">
              <a:buNone/>
            </a:pPr>
            <a:r>
              <a:rPr lang="en-US" sz="1700" b="1" dirty="0">
                <a:solidFill>
                  <a:srgbClr val="FFFFFF"/>
                </a:solidFill>
                <a:latin typeface="Aptos" pitchFamily="34" charset="0"/>
                <a:ea typeface="Aptos" pitchFamily="34" charset="-122"/>
                <a:cs typeface="Aptos" pitchFamily="34" charset="-120"/>
              </a:rPr>
              <a:t>25</a:t>
            </a:r>
            <a:endParaRPr lang="en-US" sz="1700" dirty="0"/>
          </a:p>
        </p:txBody>
      </p:sp>
      <p:sp>
        <p:nvSpPr>
          <p:cNvPr id="7" name="Text 5"/>
          <p:cNvSpPr/>
          <p:nvPr/>
        </p:nvSpPr>
        <p:spPr>
          <a:xfrm>
            <a:off x="685800" y="1536192"/>
            <a:ext cx="2331720" cy="164592"/>
          </a:xfrm>
          <a:prstGeom prst="rect">
            <a:avLst/>
          </a:prstGeom>
          <a:noFill/>
          <a:ln/>
        </p:spPr>
        <p:txBody>
          <a:bodyPr wrap="square" lIns="635" tIns="635" rIns="635" bIns="635" rtlCol="0" anchor="ctr">
            <a:normAutofit/>
          </a:bodyPr>
          <a:lstStyle/>
          <a:p>
            <a:pPr algn="ctr" indent="0" marL="0">
              <a:buNone/>
            </a:pPr>
            <a:r>
              <a:rPr lang="en-US" sz="950" dirty="0">
                <a:solidFill>
                  <a:srgbClr val="DCE8F4"/>
                </a:solidFill>
                <a:latin typeface="Aptos" pitchFamily="34" charset="0"/>
                <a:ea typeface="Aptos" pitchFamily="34" charset="-122"/>
                <a:cs typeface="Aptos" pitchFamily="34" charset="-120"/>
              </a:rPr>
              <a:t>Homme/Jour</a:t>
            </a:r>
            <a:endParaRPr lang="en-US" sz="950" dirty="0"/>
          </a:p>
        </p:txBody>
      </p:sp>
      <p:sp>
        <p:nvSpPr>
          <p:cNvPr id="8" name="Shape 6"/>
          <p:cNvSpPr/>
          <p:nvPr/>
        </p:nvSpPr>
        <p:spPr>
          <a:xfrm>
            <a:off x="3429000" y="1115568"/>
            <a:ext cx="2331720" cy="758952"/>
          </a:xfrm>
          <a:prstGeom prst="roundRect">
            <a:avLst>
              <a:gd name="adj" fmla="val 7229"/>
            </a:avLst>
          </a:prstGeom>
          <a:solidFill>
            <a:srgbClr val="F6FAFE"/>
          </a:solidFill>
          <a:ln w="12700">
            <a:solidFill>
              <a:srgbClr val="DCE8F4"/>
            </a:solidFill>
            <a:prstDash val="solid"/>
          </a:ln>
        </p:spPr>
      </p:sp>
      <p:sp>
        <p:nvSpPr>
          <p:cNvPr id="9" name="Text 7"/>
          <p:cNvSpPr/>
          <p:nvPr/>
        </p:nvSpPr>
        <p:spPr>
          <a:xfrm>
            <a:off x="3429000" y="1243584"/>
            <a:ext cx="2331720" cy="201168"/>
          </a:xfrm>
          <a:prstGeom prst="rect">
            <a:avLst/>
          </a:prstGeom>
          <a:noFill/>
          <a:ln/>
        </p:spPr>
        <p:txBody>
          <a:bodyPr wrap="square" lIns="635" tIns="635" rIns="635" bIns="635" rtlCol="0" anchor="ctr">
            <a:normAutofit/>
          </a:bodyPr>
          <a:lstStyle/>
          <a:p>
            <a:pPr algn="ctr" indent="0" marL="0">
              <a:buNone/>
            </a:pPr>
            <a:r>
              <a:rPr lang="en-US" sz="1700" b="1" dirty="0">
                <a:solidFill>
                  <a:srgbClr val="173F70"/>
                </a:solidFill>
                <a:latin typeface="Aptos" pitchFamily="34" charset="0"/>
                <a:ea typeface="Aptos" pitchFamily="34" charset="-122"/>
                <a:cs typeface="Aptos" pitchFamily="34" charset="-120"/>
              </a:rPr>
              <a:t>6 H/J</a:t>
            </a:r>
            <a:endParaRPr lang="en-US" sz="1700" dirty="0"/>
          </a:p>
        </p:txBody>
      </p:sp>
      <p:sp>
        <p:nvSpPr>
          <p:cNvPr id="10" name="Text 8"/>
          <p:cNvSpPr/>
          <p:nvPr/>
        </p:nvSpPr>
        <p:spPr>
          <a:xfrm>
            <a:off x="3429000" y="1536192"/>
            <a:ext cx="2331720" cy="164592"/>
          </a:xfrm>
          <a:prstGeom prst="rect">
            <a:avLst/>
          </a:prstGeom>
          <a:noFill/>
          <a:ln/>
        </p:spPr>
        <p:txBody>
          <a:bodyPr wrap="square" lIns="635" tIns="635" rIns="635" bIns="635" rtlCol="0" anchor="ctr">
            <a:normAutofit/>
          </a:bodyPr>
          <a:lstStyle/>
          <a:p>
            <a:pPr algn="ctr" indent="0" marL="0">
              <a:buNone/>
            </a:pPr>
            <a:r>
              <a:rPr lang="en-US" sz="950" dirty="0">
                <a:solidFill>
                  <a:srgbClr val="5A6B7E"/>
                </a:solidFill>
                <a:latin typeface="Aptos" pitchFamily="34" charset="0"/>
                <a:ea typeface="Aptos" pitchFamily="34" charset="-122"/>
                <a:cs typeface="Aptos" pitchFamily="34" charset="-120"/>
              </a:rPr>
              <a:t>Terrain</a:t>
            </a:r>
            <a:endParaRPr lang="en-US" sz="950" dirty="0"/>
          </a:p>
        </p:txBody>
      </p:sp>
      <p:sp>
        <p:nvSpPr>
          <p:cNvPr id="11" name="Shape 9"/>
          <p:cNvSpPr/>
          <p:nvPr/>
        </p:nvSpPr>
        <p:spPr>
          <a:xfrm>
            <a:off x="6172200" y="1115568"/>
            <a:ext cx="2331720" cy="758952"/>
          </a:xfrm>
          <a:prstGeom prst="roundRect">
            <a:avLst>
              <a:gd name="adj" fmla="val 7229"/>
            </a:avLst>
          </a:prstGeom>
          <a:solidFill>
            <a:srgbClr val="F6FAFE"/>
          </a:solidFill>
          <a:ln w="12700">
            <a:solidFill>
              <a:srgbClr val="DCE8F4"/>
            </a:solidFill>
            <a:prstDash val="solid"/>
          </a:ln>
        </p:spPr>
      </p:sp>
      <p:sp>
        <p:nvSpPr>
          <p:cNvPr id="12" name="Text 10"/>
          <p:cNvSpPr/>
          <p:nvPr/>
        </p:nvSpPr>
        <p:spPr>
          <a:xfrm>
            <a:off x="6172200" y="1243584"/>
            <a:ext cx="2331720" cy="201168"/>
          </a:xfrm>
          <a:prstGeom prst="rect">
            <a:avLst/>
          </a:prstGeom>
          <a:noFill/>
          <a:ln/>
        </p:spPr>
        <p:txBody>
          <a:bodyPr wrap="square" lIns="635" tIns="635" rIns="635" bIns="635" rtlCol="0" anchor="ctr">
            <a:normAutofit/>
          </a:bodyPr>
          <a:lstStyle/>
          <a:p>
            <a:pPr algn="ctr" indent="0" marL="0">
              <a:buNone/>
            </a:pPr>
            <a:r>
              <a:rPr lang="en-US" sz="1700" b="1" dirty="0">
                <a:solidFill>
                  <a:srgbClr val="173F70"/>
                </a:solidFill>
                <a:latin typeface="Aptos" pitchFamily="34" charset="0"/>
                <a:ea typeface="Aptos" pitchFamily="34" charset="-122"/>
                <a:cs typeface="Aptos" pitchFamily="34" charset="-120"/>
              </a:rPr>
              <a:t>19 H/J</a:t>
            </a:r>
            <a:endParaRPr lang="en-US" sz="1700" dirty="0"/>
          </a:p>
        </p:txBody>
      </p:sp>
      <p:sp>
        <p:nvSpPr>
          <p:cNvPr id="13" name="Text 11"/>
          <p:cNvSpPr/>
          <p:nvPr/>
        </p:nvSpPr>
        <p:spPr>
          <a:xfrm>
            <a:off x="6172200" y="1536192"/>
            <a:ext cx="2331720" cy="164592"/>
          </a:xfrm>
          <a:prstGeom prst="rect">
            <a:avLst/>
          </a:prstGeom>
          <a:noFill/>
          <a:ln/>
        </p:spPr>
        <p:txBody>
          <a:bodyPr wrap="square" lIns="635" tIns="635" rIns="635" bIns="635" rtlCol="0" anchor="ctr">
            <a:normAutofit/>
          </a:bodyPr>
          <a:lstStyle/>
          <a:p>
            <a:pPr algn="ctr" indent="0" marL="0">
              <a:buNone/>
            </a:pPr>
            <a:r>
              <a:rPr lang="en-US" sz="950" dirty="0">
                <a:solidFill>
                  <a:srgbClr val="5A6B7E"/>
                </a:solidFill>
                <a:latin typeface="Aptos" pitchFamily="34" charset="0"/>
                <a:ea typeface="Aptos" pitchFamily="34" charset="-122"/>
                <a:cs typeface="Aptos" pitchFamily="34" charset="-120"/>
              </a:rPr>
              <a:t>Domicile</a:t>
            </a:r>
            <a:endParaRPr lang="en-US" sz="950" dirty="0"/>
          </a:p>
        </p:txBody>
      </p:sp>
      <p:sp>
        <p:nvSpPr>
          <p:cNvPr id="14" name="Shape 12"/>
          <p:cNvSpPr/>
          <p:nvPr/>
        </p:nvSpPr>
        <p:spPr>
          <a:xfrm>
            <a:off x="8915400" y="1115568"/>
            <a:ext cx="2331720" cy="758952"/>
          </a:xfrm>
          <a:prstGeom prst="roundRect">
            <a:avLst>
              <a:gd name="adj" fmla="val 7229"/>
            </a:avLst>
          </a:prstGeom>
          <a:solidFill>
            <a:srgbClr val="F6FAFE"/>
          </a:solidFill>
          <a:ln w="12700">
            <a:solidFill>
              <a:srgbClr val="DCE8F4"/>
            </a:solidFill>
            <a:prstDash val="solid"/>
          </a:ln>
        </p:spPr>
      </p:sp>
      <p:sp>
        <p:nvSpPr>
          <p:cNvPr id="15" name="Text 13"/>
          <p:cNvSpPr/>
          <p:nvPr/>
        </p:nvSpPr>
        <p:spPr>
          <a:xfrm>
            <a:off x="8915400" y="1243584"/>
            <a:ext cx="2331720" cy="201168"/>
          </a:xfrm>
          <a:prstGeom prst="rect">
            <a:avLst/>
          </a:prstGeom>
          <a:noFill/>
          <a:ln/>
        </p:spPr>
        <p:txBody>
          <a:bodyPr wrap="square" lIns="635" tIns="635" rIns="635" bIns="635" rtlCol="0" anchor="ctr">
            <a:normAutofit/>
          </a:bodyPr>
          <a:lstStyle/>
          <a:p>
            <a:pPr algn="ctr" indent="0" marL="0">
              <a:buNone/>
            </a:pPr>
            <a:r>
              <a:rPr lang="en-US" sz="1700" b="1" dirty="0">
                <a:solidFill>
                  <a:srgbClr val="173F70"/>
                </a:solidFill>
                <a:latin typeface="Aptos" pitchFamily="34" charset="0"/>
                <a:ea typeface="Aptos" pitchFamily="34" charset="-122"/>
                <a:cs typeface="Aptos" pitchFamily="34" charset="-120"/>
              </a:rPr>
              <a:t>15 août</a:t>
            </a:r>
            <a:endParaRPr lang="en-US" sz="1700" dirty="0"/>
          </a:p>
        </p:txBody>
      </p:sp>
      <p:sp>
        <p:nvSpPr>
          <p:cNvPr id="16" name="Text 14"/>
          <p:cNvSpPr/>
          <p:nvPr/>
        </p:nvSpPr>
        <p:spPr>
          <a:xfrm>
            <a:off x="8915400" y="1536192"/>
            <a:ext cx="2331720" cy="164592"/>
          </a:xfrm>
          <a:prstGeom prst="rect">
            <a:avLst/>
          </a:prstGeom>
          <a:noFill/>
          <a:ln/>
        </p:spPr>
        <p:txBody>
          <a:bodyPr wrap="square" lIns="635" tIns="635" rIns="635" bIns="635" rtlCol="0" anchor="ctr">
            <a:normAutofit/>
          </a:bodyPr>
          <a:lstStyle/>
          <a:p>
            <a:pPr algn="ctr" indent="0" marL="0">
              <a:buNone/>
            </a:pPr>
            <a:r>
              <a:rPr lang="en-US" sz="950" dirty="0">
                <a:solidFill>
                  <a:srgbClr val="5A6B7E"/>
                </a:solidFill>
                <a:latin typeface="Aptos" pitchFamily="34" charset="0"/>
                <a:ea typeface="Aptos" pitchFamily="34" charset="-122"/>
                <a:cs typeface="Aptos" pitchFamily="34" charset="-120"/>
              </a:rPr>
              <a:t>Clôture prévue</a:t>
            </a:r>
            <a:endParaRPr lang="en-US" sz="950" dirty="0"/>
          </a:p>
        </p:txBody>
      </p:sp>
      <p:sp>
        <p:nvSpPr>
          <p:cNvPr id="17" name="Shape 15"/>
          <p:cNvSpPr/>
          <p:nvPr/>
        </p:nvSpPr>
        <p:spPr>
          <a:xfrm>
            <a:off x="1051560" y="2331720"/>
            <a:ext cx="5303520" cy="384048"/>
          </a:xfrm>
          <a:prstGeom prst="rect">
            <a:avLst/>
          </a:prstGeom>
          <a:solidFill>
            <a:srgbClr val="173F70"/>
          </a:solidFill>
          <a:ln w="6350">
            <a:solidFill>
              <a:srgbClr val="DCE8F4"/>
            </a:solidFill>
            <a:prstDash val="solid"/>
          </a:ln>
        </p:spPr>
      </p:sp>
      <p:sp>
        <p:nvSpPr>
          <p:cNvPr id="18" name="Text 16"/>
          <p:cNvSpPr/>
          <p:nvPr/>
        </p:nvSpPr>
        <p:spPr>
          <a:xfrm>
            <a:off x="1124712" y="2414016"/>
            <a:ext cx="5157216" cy="164592"/>
          </a:xfrm>
          <a:prstGeom prst="rect">
            <a:avLst/>
          </a:prstGeom>
          <a:noFill/>
          <a:ln/>
        </p:spPr>
        <p:txBody>
          <a:bodyPr wrap="square" lIns="635" tIns="635" rIns="635" bIns="635" rtlCol="0" anchor="ctr">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Phase</a:t>
            </a:r>
            <a:endParaRPr lang="en-US" sz="950" dirty="0"/>
          </a:p>
        </p:txBody>
      </p:sp>
      <p:sp>
        <p:nvSpPr>
          <p:cNvPr id="19" name="Shape 17"/>
          <p:cNvSpPr/>
          <p:nvPr/>
        </p:nvSpPr>
        <p:spPr>
          <a:xfrm>
            <a:off x="6355080" y="2331720"/>
            <a:ext cx="1097280" cy="384048"/>
          </a:xfrm>
          <a:prstGeom prst="rect">
            <a:avLst/>
          </a:prstGeom>
          <a:solidFill>
            <a:srgbClr val="173F70"/>
          </a:solidFill>
          <a:ln w="6350">
            <a:solidFill>
              <a:srgbClr val="DCE8F4"/>
            </a:solidFill>
            <a:prstDash val="solid"/>
          </a:ln>
        </p:spPr>
      </p:sp>
      <p:sp>
        <p:nvSpPr>
          <p:cNvPr id="20" name="Text 18"/>
          <p:cNvSpPr/>
          <p:nvPr/>
        </p:nvSpPr>
        <p:spPr>
          <a:xfrm>
            <a:off x="6428232" y="2414016"/>
            <a:ext cx="950976" cy="164592"/>
          </a:xfrm>
          <a:prstGeom prst="rect">
            <a:avLst/>
          </a:prstGeom>
          <a:noFill/>
          <a:ln/>
        </p:spPr>
        <p:txBody>
          <a:bodyPr wrap="square" lIns="635" tIns="635" rIns="635" bIns="635" rtlCol="0" anchor="ctr">
            <a:normAutofit/>
          </a:bodyPr>
          <a:lstStyle/>
          <a:p>
            <a:pPr algn="ctr" indent="0" marL="0">
              <a:buNone/>
            </a:pPr>
            <a:r>
              <a:rPr lang="en-US" sz="950" b="1" dirty="0">
                <a:solidFill>
                  <a:srgbClr val="FFFFFF"/>
                </a:solidFill>
                <a:latin typeface="Aptos" pitchFamily="34" charset="0"/>
                <a:ea typeface="Aptos" pitchFamily="34" charset="-122"/>
                <a:cs typeface="Aptos" pitchFamily="34" charset="-120"/>
              </a:rPr>
              <a:t>H/J</a:t>
            </a:r>
            <a:endParaRPr lang="en-US" sz="950" dirty="0"/>
          </a:p>
        </p:txBody>
      </p:sp>
      <p:sp>
        <p:nvSpPr>
          <p:cNvPr id="21" name="Shape 19"/>
          <p:cNvSpPr/>
          <p:nvPr/>
        </p:nvSpPr>
        <p:spPr>
          <a:xfrm>
            <a:off x="7452360" y="2331720"/>
            <a:ext cx="3474720" cy="384048"/>
          </a:xfrm>
          <a:prstGeom prst="rect">
            <a:avLst/>
          </a:prstGeom>
          <a:solidFill>
            <a:srgbClr val="173F70"/>
          </a:solidFill>
          <a:ln w="6350">
            <a:solidFill>
              <a:srgbClr val="DCE8F4"/>
            </a:solidFill>
            <a:prstDash val="solid"/>
          </a:ln>
        </p:spPr>
      </p:sp>
      <p:sp>
        <p:nvSpPr>
          <p:cNvPr id="22" name="Text 20"/>
          <p:cNvSpPr/>
          <p:nvPr/>
        </p:nvSpPr>
        <p:spPr>
          <a:xfrm>
            <a:off x="7525512" y="2414016"/>
            <a:ext cx="3328416" cy="164592"/>
          </a:xfrm>
          <a:prstGeom prst="rect">
            <a:avLst/>
          </a:prstGeom>
          <a:noFill/>
          <a:ln/>
        </p:spPr>
        <p:txBody>
          <a:bodyPr wrap="square" lIns="635" tIns="635" rIns="635" bIns="635" rtlCol="0" anchor="ctr">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Période</a:t>
            </a:r>
            <a:endParaRPr lang="en-US" sz="950" dirty="0"/>
          </a:p>
        </p:txBody>
      </p:sp>
      <p:sp>
        <p:nvSpPr>
          <p:cNvPr id="23" name="Shape 21"/>
          <p:cNvSpPr/>
          <p:nvPr/>
        </p:nvSpPr>
        <p:spPr>
          <a:xfrm>
            <a:off x="1051560" y="2715768"/>
            <a:ext cx="5303520" cy="384048"/>
          </a:xfrm>
          <a:prstGeom prst="rect">
            <a:avLst/>
          </a:prstGeom>
          <a:solidFill>
            <a:srgbClr val="FFFFFF"/>
          </a:solidFill>
          <a:ln w="6350">
            <a:solidFill>
              <a:srgbClr val="DCE8F4"/>
            </a:solidFill>
            <a:prstDash val="solid"/>
          </a:ln>
        </p:spPr>
      </p:sp>
      <p:sp>
        <p:nvSpPr>
          <p:cNvPr id="24" name="Text 22"/>
          <p:cNvSpPr/>
          <p:nvPr/>
        </p:nvSpPr>
        <p:spPr>
          <a:xfrm>
            <a:off x="1124712" y="2798064"/>
            <a:ext cx="51572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Cadrage &amp; méthodologie</a:t>
            </a:r>
            <a:endParaRPr lang="en-US" sz="1020" dirty="0"/>
          </a:p>
        </p:txBody>
      </p:sp>
      <p:sp>
        <p:nvSpPr>
          <p:cNvPr id="25" name="Shape 23"/>
          <p:cNvSpPr/>
          <p:nvPr/>
        </p:nvSpPr>
        <p:spPr>
          <a:xfrm>
            <a:off x="6355080" y="2715768"/>
            <a:ext cx="1097280" cy="384048"/>
          </a:xfrm>
          <a:prstGeom prst="rect">
            <a:avLst/>
          </a:prstGeom>
          <a:solidFill>
            <a:srgbClr val="FFFFFF"/>
          </a:solidFill>
          <a:ln w="6350">
            <a:solidFill>
              <a:srgbClr val="DCE8F4"/>
            </a:solidFill>
            <a:prstDash val="solid"/>
          </a:ln>
        </p:spPr>
      </p:sp>
      <p:sp>
        <p:nvSpPr>
          <p:cNvPr id="26" name="Text 24"/>
          <p:cNvSpPr/>
          <p:nvPr/>
        </p:nvSpPr>
        <p:spPr>
          <a:xfrm>
            <a:off x="6428232" y="2798064"/>
            <a:ext cx="950976" cy="164592"/>
          </a:xfrm>
          <a:prstGeom prst="rect">
            <a:avLst/>
          </a:prstGeom>
          <a:noFill/>
          <a:ln/>
        </p:spPr>
        <p:txBody>
          <a:bodyPr wrap="square" lIns="635" tIns="635" rIns="635" bIns="635" rtlCol="0" anchor="ctr">
            <a:normAutofit/>
          </a:bodyPr>
          <a:lstStyle/>
          <a:p>
            <a:pPr algn="ctr" indent="0" marL="0">
              <a:buNone/>
            </a:pPr>
            <a:r>
              <a:rPr lang="en-US" sz="1020" dirty="0">
                <a:solidFill>
                  <a:srgbClr val="10243D"/>
                </a:solidFill>
                <a:latin typeface="Aptos" pitchFamily="34" charset="0"/>
                <a:ea typeface="Aptos" pitchFamily="34" charset="-122"/>
                <a:cs typeface="Aptos" pitchFamily="34" charset="-120"/>
              </a:rPr>
              <a:t>3</a:t>
            </a:r>
            <a:endParaRPr lang="en-US" sz="1020" dirty="0"/>
          </a:p>
        </p:txBody>
      </p:sp>
      <p:sp>
        <p:nvSpPr>
          <p:cNvPr id="27" name="Shape 25"/>
          <p:cNvSpPr/>
          <p:nvPr/>
        </p:nvSpPr>
        <p:spPr>
          <a:xfrm>
            <a:off x="7452360" y="2715768"/>
            <a:ext cx="3474720" cy="384048"/>
          </a:xfrm>
          <a:prstGeom prst="rect">
            <a:avLst/>
          </a:prstGeom>
          <a:solidFill>
            <a:srgbClr val="FFFFFF"/>
          </a:solidFill>
          <a:ln w="6350">
            <a:solidFill>
              <a:srgbClr val="DCE8F4"/>
            </a:solidFill>
            <a:prstDash val="solid"/>
          </a:ln>
        </p:spPr>
      </p:sp>
      <p:sp>
        <p:nvSpPr>
          <p:cNvPr id="28" name="Text 26"/>
          <p:cNvSpPr/>
          <p:nvPr/>
        </p:nvSpPr>
        <p:spPr>
          <a:xfrm>
            <a:off x="7525512" y="2798064"/>
            <a:ext cx="33284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01 — 05 juillet</a:t>
            </a:r>
            <a:endParaRPr lang="en-US" sz="1020" dirty="0"/>
          </a:p>
        </p:txBody>
      </p:sp>
      <p:sp>
        <p:nvSpPr>
          <p:cNvPr id="29" name="Shape 27"/>
          <p:cNvSpPr/>
          <p:nvPr/>
        </p:nvSpPr>
        <p:spPr>
          <a:xfrm>
            <a:off x="1051560" y="3099816"/>
            <a:ext cx="5303520" cy="384048"/>
          </a:xfrm>
          <a:prstGeom prst="rect">
            <a:avLst/>
          </a:prstGeom>
          <a:solidFill>
            <a:srgbClr val="EFF6FC"/>
          </a:solidFill>
          <a:ln w="6350">
            <a:solidFill>
              <a:srgbClr val="DCE8F4"/>
            </a:solidFill>
            <a:prstDash val="solid"/>
          </a:ln>
        </p:spPr>
      </p:sp>
      <p:sp>
        <p:nvSpPr>
          <p:cNvPr id="30" name="Text 28"/>
          <p:cNvSpPr/>
          <p:nvPr/>
        </p:nvSpPr>
        <p:spPr>
          <a:xfrm>
            <a:off x="1124712" y="3182112"/>
            <a:ext cx="51572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Développement de la base</a:t>
            </a:r>
            <a:endParaRPr lang="en-US" sz="1020" dirty="0"/>
          </a:p>
        </p:txBody>
      </p:sp>
      <p:sp>
        <p:nvSpPr>
          <p:cNvPr id="31" name="Shape 29"/>
          <p:cNvSpPr/>
          <p:nvPr/>
        </p:nvSpPr>
        <p:spPr>
          <a:xfrm>
            <a:off x="6355080" y="3099816"/>
            <a:ext cx="1097280" cy="384048"/>
          </a:xfrm>
          <a:prstGeom prst="rect">
            <a:avLst/>
          </a:prstGeom>
          <a:solidFill>
            <a:srgbClr val="EFF6FC"/>
          </a:solidFill>
          <a:ln w="6350">
            <a:solidFill>
              <a:srgbClr val="DCE8F4"/>
            </a:solidFill>
            <a:prstDash val="solid"/>
          </a:ln>
        </p:spPr>
      </p:sp>
      <p:sp>
        <p:nvSpPr>
          <p:cNvPr id="32" name="Text 30"/>
          <p:cNvSpPr/>
          <p:nvPr/>
        </p:nvSpPr>
        <p:spPr>
          <a:xfrm>
            <a:off x="6428232" y="3182112"/>
            <a:ext cx="950976" cy="164592"/>
          </a:xfrm>
          <a:prstGeom prst="rect">
            <a:avLst/>
          </a:prstGeom>
          <a:noFill/>
          <a:ln/>
        </p:spPr>
        <p:txBody>
          <a:bodyPr wrap="square" lIns="635" tIns="635" rIns="635" bIns="635" rtlCol="0" anchor="ctr">
            <a:normAutofit/>
          </a:bodyPr>
          <a:lstStyle/>
          <a:p>
            <a:pPr algn="ctr" indent="0" marL="0">
              <a:buNone/>
            </a:pPr>
            <a:r>
              <a:rPr lang="en-US" sz="1020" dirty="0">
                <a:solidFill>
                  <a:srgbClr val="10243D"/>
                </a:solidFill>
                <a:latin typeface="Aptos" pitchFamily="34" charset="0"/>
                <a:ea typeface="Aptos" pitchFamily="34" charset="-122"/>
                <a:cs typeface="Aptos" pitchFamily="34" charset="-120"/>
              </a:rPr>
              <a:t>7</a:t>
            </a:r>
            <a:endParaRPr lang="en-US" sz="1020" dirty="0"/>
          </a:p>
        </p:txBody>
      </p:sp>
      <p:sp>
        <p:nvSpPr>
          <p:cNvPr id="33" name="Shape 31"/>
          <p:cNvSpPr/>
          <p:nvPr/>
        </p:nvSpPr>
        <p:spPr>
          <a:xfrm>
            <a:off x="7452360" y="3099816"/>
            <a:ext cx="3474720" cy="384048"/>
          </a:xfrm>
          <a:prstGeom prst="rect">
            <a:avLst/>
          </a:prstGeom>
          <a:solidFill>
            <a:srgbClr val="EFF6FC"/>
          </a:solidFill>
          <a:ln w="6350">
            <a:solidFill>
              <a:srgbClr val="DCE8F4"/>
            </a:solidFill>
            <a:prstDash val="solid"/>
          </a:ln>
        </p:spPr>
      </p:sp>
      <p:sp>
        <p:nvSpPr>
          <p:cNvPr id="34" name="Text 32"/>
          <p:cNvSpPr/>
          <p:nvPr/>
        </p:nvSpPr>
        <p:spPr>
          <a:xfrm>
            <a:off x="7525512" y="3182112"/>
            <a:ext cx="33284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06 — 20 juillet</a:t>
            </a:r>
            <a:endParaRPr lang="en-US" sz="1020" dirty="0"/>
          </a:p>
        </p:txBody>
      </p:sp>
      <p:sp>
        <p:nvSpPr>
          <p:cNvPr id="35" name="Shape 33"/>
          <p:cNvSpPr/>
          <p:nvPr/>
        </p:nvSpPr>
        <p:spPr>
          <a:xfrm>
            <a:off x="1051560" y="3483864"/>
            <a:ext cx="5303520" cy="384048"/>
          </a:xfrm>
          <a:prstGeom prst="rect">
            <a:avLst/>
          </a:prstGeom>
          <a:solidFill>
            <a:srgbClr val="FFFFFF"/>
          </a:solidFill>
          <a:ln w="6350">
            <a:solidFill>
              <a:srgbClr val="DCE8F4"/>
            </a:solidFill>
            <a:prstDash val="solid"/>
          </a:ln>
        </p:spPr>
      </p:sp>
      <p:sp>
        <p:nvSpPr>
          <p:cNvPr id="36" name="Text 34"/>
          <p:cNvSpPr/>
          <p:nvPr/>
        </p:nvSpPr>
        <p:spPr>
          <a:xfrm>
            <a:off x="1124712" y="3566160"/>
            <a:ext cx="51572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Outils collecte &amp; contrôle</a:t>
            </a:r>
            <a:endParaRPr lang="en-US" sz="1020" dirty="0"/>
          </a:p>
        </p:txBody>
      </p:sp>
      <p:sp>
        <p:nvSpPr>
          <p:cNvPr id="37" name="Shape 35"/>
          <p:cNvSpPr/>
          <p:nvPr/>
        </p:nvSpPr>
        <p:spPr>
          <a:xfrm>
            <a:off x="6355080" y="3483864"/>
            <a:ext cx="1097280" cy="384048"/>
          </a:xfrm>
          <a:prstGeom prst="rect">
            <a:avLst/>
          </a:prstGeom>
          <a:solidFill>
            <a:srgbClr val="FFFFFF"/>
          </a:solidFill>
          <a:ln w="6350">
            <a:solidFill>
              <a:srgbClr val="DCE8F4"/>
            </a:solidFill>
            <a:prstDash val="solid"/>
          </a:ln>
        </p:spPr>
      </p:sp>
      <p:sp>
        <p:nvSpPr>
          <p:cNvPr id="38" name="Text 36"/>
          <p:cNvSpPr/>
          <p:nvPr/>
        </p:nvSpPr>
        <p:spPr>
          <a:xfrm>
            <a:off x="6428232" y="3566160"/>
            <a:ext cx="950976" cy="164592"/>
          </a:xfrm>
          <a:prstGeom prst="rect">
            <a:avLst/>
          </a:prstGeom>
          <a:noFill/>
          <a:ln/>
        </p:spPr>
        <p:txBody>
          <a:bodyPr wrap="square" lIns="635" tIns="635" rIns="635" bIns="635" rtlCol="0" anchor="ctr">
            <a:normAutofit/>
          </a:bodyPr>
          <a:lstStyle/>
          <a:p>
            <a:pPr algn="ctr" indent="0" marL="0">
              <a:buNone/>
            </a:pPr>
            <a:r>
              <a:rPr lang="en-US" sz="1020" dirty="0">
                <a:solidFill>
                  <a:srgbClr val="10243D"/>
                </a:solidFill>
                <a:latin typeface="Aptos" pitchFamily="34" charset="0"/>
                <a:ea typeface="Aptos" pitchFamily="34" charset="-122"/>
                <a:cs typeface="Aptos" pitchFamily="34" charset="-120"/>
              </a:rPr>
              <a:t>4</a:t>
            </a:r>
            <a:endParaRPr lang="en-US" sz="1020" dirty="0"/>
          </a:p>
        </p:txBody>
      </p:sp>
      <p:sp>
        <p:nvSpPr>
          <p:cNvPr id="39" name="Shape 37"/>
          <p:cNvSpPr/>
          <p:nvPr/>
        </p:nvSpPr>
        <p:spPr>
          <a:xfrm>
            <a:off x="7452360" y="3483864"/>
            <a:ext cx="3474720" cy="384048"/>
          </a:xfrm>
          <a:prstGeom prst="rect">
            <a:avLst/>
          </a:prstGeom>
          <a:solidFill>
            <a:srgbClr val="FFFFFF"/>
          </a:solidFill>
          <a:ln w="6350">
            <a:solidFill>
              <a:srgbClr val="DCE8F4"/>
            </a:solidFill>
            <a:prstDash val="solid"/>
          </a:ln>
        </p:spPr>
      </p:sp>
      <p:sp>
        <p:nvSpPr>
          <p:cNvPr id="40" name="Text 38"/>
          <p:cNvSpPr/>
          <p:nvPr/>
        </p:nvSpPr>
        <p:spPr>
          <a:xfrm>
            <a:off x="7525512" y="3566160"/>
            <a:ext cx="33284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16 — 31 juillet</a:t>
            </a:r>
            <a:endParaRPr lang="en-US" sz="1020" dirty="0"/>
          </a:p>
        </p:txBody>
      </p:sp>
      <p:sp>
        <p:nvSpPr>
          <p:cNvPr id="41" name="Shape 39"/>
          <p:cNvSpPr/>
          <p:nvPr/>
        </p:nvSpPr>
        <p:spPr>
          <a:xfrm>
            <a:off x="1051560" y="3867912"/>
            <a:ext cx="5303520" cy="384048"/>
          </a:xfrm>
          <a:prstGeom prst="rect">
            <a:avLst/>
          </a:prstGeom>
          <a:solidFill>
            <a:srgbClr val="EFF6FC"/>
          </a:solidFill>
          <a:ln w="6350">
            <a:solidFill>
              <a:srgbClr val="DCE8F4"/>
            </a:solidFill>
            <a:prstDash val="solid"/>
          </a:ln>
        </p:spPr>
      </p:sp>
      <p:sp>
        <p:nvSpPr>
          <p:cNvPr id="42" name="Text 40"/>
          <p:cNvSpPr/>
          <p:nvPr/>
        </p:nvSpPr>
        <p:spPr>
          <a:xfrm>
            <a:off x="1124712" y="3950208"/>
            <a:ext cx="51572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Intégration des données</a:t>
            </a:r>
            <a:endParaRPr lang="en-US" sz="1020" dirty="0"/>
          </a:p>
        </p:txBody>
      </p:sp>
      <p:sp>
        <p:nvSpPr>
          <p:cNvPr id="43" name="Shape 41"/>
          <p:cNvSpPr/>
          <p:nvPr/>
        </p:nvSpPr>
        <p:spPr>
          <a:xfrm>
            <a:off x="6355080" y="3867912"/>
            <a:ext cx="1097280" cy="384048"/>
          </a:xfrm>
          <a:prstGeom prst="rect">
            <a:avLst/>
          </a:prstGeom>
          <a:solidFill>
            <a:srgbClr val="EFF6FC"/>
          </a:solidFill>
          <a:ln w="6350">
            <a:solidFill>
              <a:srgbClr val="DCE8F4"/>
            </a:solidFill>
            <a:prstDash val="solid"/>
          </a:ln>
        </p:spPr>
      </p:sp>
      <p:sp>
        <p:nvSpPr>
          <p:cNvPr id="44" name="Text 42"/>
          <p:cNvSpPr/>
          <p:nvPr/>
        </p:nvSpPr>
        <p:spPr>
          <a:xfrm>
            <a:off x="6428232" y="3950208"/>
            <a:ext cx="950976" cy="164592"/>
          </a:xfrm>
          <a:prstGeom prst="rect">
            <a:avLst/>
          </a:prstGeom>
          <a:noFill/>
          <a:ln/>
        </p:spPr>
        <p:txBody>
          <a:bodyPr wrap="square" lIns="635" tIns="635" rIns="635" bIns="635" rtlCol="0" anchor="ctr">
            <a:normAutofit/>
          </a:bodyPr>
          <a:lstStyle/>
          <a:p>
            <a:pPr algn="ctr" indent="0" marL="0">
              <a:buNone/>
            </a:pPr>
            <a:r>
              <a:rPr lang="en-US" sz="1020" dirty="0">
                <a:solidFill>
                  <a:srgbClr val="10243D"/>
                </a:solidFill>
                <a:latin typeface="Aptos" pitchFamily="34" charset="0"/>
                <a:ea typeface="Aptos" pitchFamily="34" charset="-122"/>
                <a:cs typeface="Aptos" pitchFamily="34" charset="-120"/>
              </a:rPr>
              <a:t>4</a:t>
            </a:r>
            <a:endParaRPr lang="en-US" sz="1020" dirty="0"/>
          </a:p>
        </p:txBody>
      </p:sp>
      <p:sp>
        <p:nvSpPr>
          <p:cNvPr id="45" name="Shape 43"/>
          <p:cNvSpPr/>
          <p:nvPr/>
        </p:nvSpPr>
        <p:spPr>
          <a:xfrm>
            <a:off x="7452360" y="3867912"/>
            <a:ext cx="3474720" cy="384048"/>
          </a:xfrm>
          <a:prstGeom prst="rect">
            <a:avLst/>
          </a:prstGeom>
          <a:solidFill>
            <a:srgbClr val="EFF6FC"/>
          </a:solidFill>
          <a:ln w="6350">
            <a:solidFill>
              <a:srgbClr val="DCE8F4"/>
            </a:solidFill>
            <a:prstDash val="solid"/>
          </a:ln>
        </p:spPr>
      </p:sp>
      <p:sp>
        <p:nvSpPr>
          <p:cNvPr id="46" name="Text 44"/>
          <p:cNvSpPr/>
          <p:nvPr/>
        </p:nvSpPr>
        <p:spPr>
          <a:xfrm>
            <a:off x="7525512" y="3950208"/>
            <a:ext cx="33284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01 — 08 août</a:t>
            </a:r>
            <a:endParaRPr lang="en-US" sz="1020" dirty="0"/>
          </a:p>
        </p:txBody>
      </p:sp>
      <p:sp>
        <p:nvSpPr>
          <p:cNvPr id="47" name="Shape 45"/>
          <p:cNvSpPr/>
          <p:nvPr/>
        </p:nvSpPr>
        <p:spPr>
          <a:xfrm>
            <a:off x="1051560" y="4251960"/>
            <a:ext cx="5303520" cy="384048"/>
          </a:xfrm>
          <a:prstGeom prst="rect">
            <a:avLst/>
          </a:prstGeom>
          <a:solidFill>
            <a:srgbClr val="FFFFFF"/>
          </a:solidFill>
          <a:ln w="6350">
            <a:solidFill>
              <a:srgbClr val="DCE8F4"/>
            </a:solidFill>
            <a:prstDash val="solid"/>
          </a:ln>
        </p:spPr>
      </p:sp>
      <p:sp>
        <p:nvSpPr>
          <p:cNvPr id="48" name="Text 46"/>
          <p:cNvSpPr/>
          <p:nvPr/>
        </p:nvSpPr>
        <p:spPr>
          <a:xfrm>
            <a:off x="1124712" y="4334256"/>
            <a:ext cx="51572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Tableaux de bord &amp; suivi</a:t>
            </a:r>
            <a:endParaRPr lang="en-US" sz="1020" dirty="0"/>
          </a:p>
        </p:txBody>
      </p:sp>
      <p:sp>
        <p:nvSpPr>
          <p:cNvPr id="49" name="Shape 47"/>
          <p:cNvSpPr/>
          <p:nvPr/>
        </p:nvSpPr>
        <p:spPr>
          <a:xfrm>
            <a:off x="6355080" y="4251960"/>
            <a:ext cx="1097280" cy="384048"/>
          </a:xfrm>
          <a:prstGeom prst="rect">
            <a:avLst/>
          </a:prstGeom>
          <a:solidFill>
            <a:srgbClr val="FFFFFF"/>
          </a:solidFill>
          <a:ln w="6350">
            <a:solidFill>
              <a:srgbClr val="DCE8F4"/>
            </a:solidFill>
            <a:prstDash val="solid"/>
          </a:ln>
        </p:spPr>
      </p:sp>
      <p:sp>
        <p:nvSpPr>
          <p:cNvPr id="50" name="Text 48"/>
          <p:cNvSpPr/>
          <p:nvPr/>
        </p:nvSpPr>
        <p:spPr>
          <a:xfrm>
            <a:off x="6428232" y="4334256"/>
            <a:ext cx="950976" cy="164592"/>
          </a:xfrm>
          <a:prstGeom prst="rect">
            <a:avLst/>
          </a:prstGeom>
          <a:noFill/>
          <a:ln/>
        </p:spPr>
        <p:txBody>
          <a:bodyPr wrap="square" lIns="635" tIns="635" rIns="635" bIns="635" rtlCol="0" anchor="ctr">
            <a:normAutofit/>
          </a:bodyPr>
          <a:lstStyle/>
          <a:p>
            <a:pPr algn="ctr" indent="0" marL="0">
              <a:buNone/>
            </a:pPr>
            <a:r>
              <a:rPr lang="en-US" sz="1020" dirty="0">
                <a:solidFill>
                  <a:srgbClr val="10243D"/>
                </a:solidFill>
                <a:latin typeface="Aptos" pitchFamily="34" charset="0"/>
                <a:ea typeface="Aptos" pitchFamily="34" charset="-122"/>
                <a:cs typeface="Aptos" pitchFamily="34" charset="-120"/>
              </a:rPr>
              <a:t>3</a:t>
            </a:r>
            <a:endParaRPr lang="en-US" sz="1020" dirty="0"/>
          </a:p>
        </p:txBody>
      </p:sp>
      <p:sp>
        <p:nvSpPr>
          <p:cNvPr id="51" name="Shape 49"/>
          <p:cNvSpPr/>
          <p:nvPr/>
        </p:nvSpPr>
        <p:spPr>
          <a:xfrm>
            <a:off x="7452360" y="4251960"/>
            <a:ext cx="3474720" cy="384048"/>
          </a:xfrm>
          <a:prstGeom prst="rect">
            <a:avLst/>
          </a:prstGeom>
          <a:solidFill>
            <a:srgbClr val="FFFFFF"/>
          </a:solidFill>
          <a:ln w="6350">
            <a:solidFill>
              <a:srgbClr val="DCE8F4"/>
            </a:solidFill>
            <a:prstDash val="solid"/>
          </a:ln>
        </p:spPr>
      </p:sp>
      <p:sp>
        <p:nvSpPr>
          <p:cNvPr id="52" name="Text 50"/>
          <p:cNvSpPr/>
          <p:nvPr/>
        </p:nvSpPr>
        <p:spPr>
          <a:xfrm>
            <a:off x="7525512" y="4334256"/>
            <a:ext cx="33284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09 — 12 août</a:t>
            </a:r>
            <a:endParaRPr lang="en-US" sz="1020" dirty="0"/>
          </a:p>
        </p:txBody>
      </p:sp>
      <p:sp>
        <p:nvSpPr>
          <p:cNvPr id="53" name="Shape 51"/>
          <p:cNvSpPr/>
          <p:nvPr/>
        </p:nvSpPr>
        <p:spPr>
          <a:xfrm>
            <a:off x="1051560" y="4636008"/>
            <a:ext cx="5303520" cy="384048"/>
          </a:xfrm>
          <a:prstGeom prst="rect">
            <a:avLst/>
          </a:prstGeom>
          <a:solidFill>
            <a:srgbClr val="EFF6FC"/>
          </a:solidFill>
          <a:ln w="6350">
            <a:solidFill>
              <a:srgbClr val="DCE8F4"/>
            </a:solidFill>
            <a:prstDash val="solid"/>
          </a:ln>
        </p:spPr>
      </p:sp>
      <p:sp>
        <p:nvSpPr>
          <p:cNvPr id="54" name="Text 52"/>
          <p:cNvSpPr/>
          <p:nvPr/>
        </p:nvSpPr>
        <p:spPr>
          <a:xfrm>
            <a:off x="1124712" y="4718304"/>
            <a:ext cx="51572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Formation &amp; transfert</a:t>
            </a:r>
            <a:endParaRPr lang="en-US" sz="1020" dirty="0"/>
          </a:p>
        </p:txBody>
      </p:sp>
      <p:sp>
        <p:nvSpPr>
          <p:cNvPr id="55" name="Shape 53"/>
          <p:cNvSpPr/>
          <p:nvPr/>
        </p:nvSpPr>
        <p:spPr>
          <a:xfrm>
            <a:off x="6355080" y="4636008"/>
            <a:ext cx="1097280" cy="384048"/>
          </a:xfrm>
          <a:prstGeom prst="rect">
            <a:avLst/>
          </a:prstGeom>
          <a:solidFill>
            <a:srgbClr val="EFF6FC"/>
          </a:solidFill>
          <a:ln w="6350">
            <a:solidFill>
              <a:srgbClr val="DCE8F4"/>
            </a:solidFill>
            <a:prstDash val="solid"/>
          </a:ln>
        </p:spPr>
      </p:sp>
      <p:sp>
        <p:nvSpPr>
          <p:cNvPr id="56" name="Text 54"/>
          <p:cNvSpPr/>
          <p:nvPr/>
        </p:nvSpPr>
        <p:spPr>
          <a:xfrm>
            <a:off x="6428232" y="4718304"/>
            <a:ext cx="950976" cy="164592"/>
          </a:xfrm>
          <a:prstGeom prst="rect">
            <a:avLst/>
          </a:prstGeom>
          <a:noFill/>
          <a:ln/>
        </p:spPr>
        <p:txBody>
          <a:bodyPr wrap="square" lIns="635" tIns="635" rIns="635" bIns="635" rtlCol="0" anchor="ctr">
            <a:normAutofit/>
          </a:bodyPr>
          <a:lstStyle/>
          <a:p>
            <a:pPr algn="ctr" indent="0" marL="0">
              <a:buNone/>
            </a:pPr>
            <a:r>
              <a:rPr lang="en-US" sz="1020" dirty="0">
                <a:solidFill>
                  <a:srgbClr val="10243D"/>
                </a:solidFill>
                <a:latin typeface="Aptos" pitchFamily="34" charset="0"/>
                <a:ea typeface="Aptos" pitchFamily="34" charset="-122"/>
                <a:cs typeface="Aptos" pitchFamily="34" charset="-120"/>
              </a:rPr>
              <a:t>2</a:t>
            </a:r>
            <a:endParaRPr lang="en-US" sz="1020" dirty="0"/>
          </a:p>
        </p:txBody>
      </p:sp>
      <p:sp>
        <p:nvSpPr>
          <p:cNvPr id="57" name="Shape 55"/>
          <p:cNvSpPr/>
          <p:nvPr/>
        </p:nvSpPr>
        <p:spPr>
          <a:xfrm>
            <a:off x="7452360" y="4636008"/>
            <a:ext cx="3474720" cy="384048"/>
          </a:xfrm>
          <a:prstGeom prst="rect">
            <a:avLst/>
          </a:prstGeom>
          <a:solidFill>
            <a:srgbClr val="EFF6FC"/>
          </a:solidFill>
          <a:ln w="6350">
            <a:solidFill>
              <a:srgbClr val="DCE8F4"/>
            </a:solidFill>
            <a:prstDash val="solid"/>
          </a:ln>
        </p:spPr>
      </p:sp>
      <p:sp>
        <p:nvSpPr>
          <p:cNvPr id="58" name="Text 56"/>
          <p:cNvSpPr/>
          <p:nvPr/>
        </p:nvSpPr>
        <p:spPr>
          <a:xfrm>
            <a:off x="7525512" y="4718304"/>
            <a:ext cx="33284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13 — 14 août</a:t>
            </a:r>
            <a:endParaRPr lang="en-US" sz="1020" dirty="0"/>
          </a:p>
        </p:txBody>
      </p:sp>
      <p:sp>
        <p:nvSpPr>
          <p:cNvPr id="59" name="Shape 57"/>
          <p:cNvSpPr/>
          <p:nvPr/>
        </p:nvSpPr>
        <p:spPr>
          <a:xfrm>
            <a:off x="1051560" y="5020056"/>
            <a:ext cx="5303520" cy="384048"/>
          </a:xfrm>
          <a:prstGeom prst="rect">
            <a:avLst/>
          </a:prstGeom>
          <a:solidFill>
            <a:srgbClr val="FFFFFF"/>
          </a:solidFill>
          <a:ln w="6350">
            <a:solidFill>
              <a:srgbClr val="DCE8F4"/>
            </a:solidFill>
            <a:prstDash val="solid"/>
          </a:ln>
        </p:spPr>
      </p:sp>
      <p:sp>
        <p:nvSpPr>
          <p:cNvPr id="60" name="Text 58"/>
          <p:cNvSpPr/>
          <p:nvPr/>
        </p:nvSpPr>
        <p:spPr>
          <a:xfrm>
            <a:off x="1124712" y="5102352"/>
            <a:ext cx="51572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Consolidation &amp; rapport final</a:t>
            </a:r>
            <a:endParaRPr lang="en-US" sz="1020" dirty="0"/>
          </a:p>
        </p:txBody>
      </p:sp>
      <p:sp>
        <p:nvSpPr>
          <p:cNvPr id="61" name="Shape 59"/>
          <p:cNvSpPr/>
          <p:nvPr/>
        </p:nvSpPr>
        <p:spPr>
          <a:xfrm>
            <a:off x="6355080" y="5020056"/>
            <a:ext cx="1097280" cy="384048"/>
          </a:xfrm>
          <a:prstGeom prst="rect">
            <a:avLst/>
          </a:prstGeom>
          <a:solidFill>
            <a:srgbClr val="FFFFFF"/>
          </a:solidFill>
          <a:ln w="6350">
            <a:solidFill>
              <a:srgbClr val="DCE8F4"/>
            </a:solidFill>
            <a:prstDash val="solid"/>
          </a:ln>
        </p:spPr>
      </p:sp>
      <p:sp>
        <p:nvSpPr>
          <p:cNvPr id="62" name="Text 60"/>
          <p:cNvSpPr/>
          <p:nvPr/>
        </p:nvSpPr>
        <p:spPr>
          <a:xfrm>
            <a:off x="6428232" y="5102352"/>
            <a:ext cx="950976" cy="164592"/>
          </a:xfrm>
          <a:prstGeom prst="rect">
            <a:avLst/>
          </a:prstGeom>
          <a:noFill/>
          <a:ln/>
        </p:spPr>
        <p:txBody>
          <a:bodyPr wrap="square" lIns="635" tIns="635" rIns="635" bIns="635" rtlCol="0" anchor="ctr">
            <a:normAutofit/>
          </a:bodyPr>
          <a:lstStyle/>
          <a:p>
            <a:pPr algn="ctr" indent="0" marL="0">
              <a:buNone/>
            </a:pPr>
            <a:r>
              <a:rPr lang="en-US" sz="1020" dirty="0">
                <a:solidFill>
                  <a:srgbClr val="10243D"/>
                </a:solidFill>
                <a:latin typeface="Aptos" pitchFamily="34" charset="0"/>
                <a:ea typeface="Aptos" pitchFamily="34" charset="-122"/>
                <a:cs typeface="Aptos" pitchFamily="34" charset="-120"/>
              </a:rPr>
              <a:t>2</a:t>
            </a:r>
            <a:endParaRPr lang="en-US" sz="1020" dirty="0"/>
          </a:p>
        </p:txBody>
      </p:sp>
      <p:sp>
        <p:nvSpPr>
          <p:cNvPr id="63" name="Shape 61"/>
          <p:cNvSpPr/>
          <p:nvPr/>
        </p:nvSpPr>
        <p:spPr>
          <a:xfrm>
            <a:off x="7452360" y="5020056"/>
            <a:ext cx="3474720" cy="384048"/>
          </a:xfrm>
          <a:prstGeom prst="rect">
            <a:avLst/>
          </a:prstGeom>
          <a:solidFill>
            <a:srgbClr val="FFFFFF"/>
          </a:solidFill>
          <a:ln w="6350">
            <a:solidFill>
              <a:srgbClr val="DCE8F4"/>
            </a:solidFill>
            <a:prstDash val="solid"/>
          </a:ln>
        </p:spPr>
      </p:sp>
      <p:sp>
        <p:nvSpPr>
          <p:cNvPr id="64" name="Text 62"/>
          <p:cNvSpPr/>
          <p:nvPr/>
        </p:nvSpPr>
        <p:spPr>
          <a:xfrm>
            <a:off x="7525512" y="5102352"/>
            <a:ext cx="3328416" cy="164592"/>
          </a:xfrm>
          <a:prstGeom prst="rect">
            <a:avLst/>
          </a:prstGeom>
          <a:noFill/>
          <a:ln/>
        </p:spPr>
        <p:txBody>
          <a:bodyPr wrap="square" lIns="635" tIns="635" rIns="635" bIns="635" rtlCol="0" anchor="ctr">
            <a:normAutofit/>
          </a:bodyPr>
          <a:lstStyle/>
          <a:p>
            <a:pPr algn="l" indent="0" marL="0">
              <a:buNone/>
            </a:pPr>
            <a:r>
              <a:rPr lang="en-US" sz="1020" dirty="0">
                <a:solidFill>
                  <a:srgbClr val="10243D"/>
                </a:solidFill>
                <a:latin typeface="Aptos" pitchFamily="34" charset="0"/>
                <a:ea typeface="Aptos" pitchFamily="34" charset="-122"/>
                <a:cs typeface="Aptos" pitchFamily="34" charset="-120"/>
              </a:rPr>
              <a:t>15 août</a:t>
            </a:r>
            <a:endParaRPr lang="en-US" sz="1020" dirty="0"/>
          </a:p>
        </p:txBody>
      </p:sp>
      <p:sp>
        <p:nvSpPr>
          <p:cNvPr id="65" name="Shape 63"/>
          <p:cNvSpPr/>
          <p:nvPr/>
        </p:nvSpPr>
        <p:spPr>
          <a:xfrm>
            <a:off x="1051560" y="5623560"/>
            <a:ext cx="9875520" cy="347472"/>
          </a:xfrm>
          <a:prstGeom prst="roundRect">
            <a:avLst>
              <a:gd name="adj" fmla="val 15789"/>
            </a:avLst>
          </a:prstGeom>
          <a:solidFill>
            <a:srgbClr val="0F335D"/>
          </a:solidFill>
          <a:ln w="12700">
            <a:solidFill>
              <a:srgbClr val="00B7A8"/>
            </a:solidFill>
            <a:prstDash val="solid"/>
          </a:ln>
        </p:spPr>
      </p:sp>
      <p:sp>
        <p:nvSpPr>
          <p:cNvPr id="66" name="Text 64"/>
          <p:cNvSpPr/>
          <p:nvPr/>
        </p:nvSpPr>
        <p:spPr>
          <a:xfrm>
            <a:off x="1234440" y="5715000"/>
            <a:ext cx="9509760" cy="128016"/>
          </a:xfrm>
          <a:prstGeom prst="rect">
            <a:avLst/>
          </a:prstGeom>
          <a:noFill/>
          <a:ln/>
        </p:spPr>
        <p:txBody>
          <a:bodyPr wrap="square" lIns="635" tIns="635" rIns="635" bIns="635" rtlCol="0" anchor="ctr">
            <a:normAutofit/>
          </a:bodyPr>
          <a:lstStyle/>
          <a:p>
            <a:pPr algn="ctr" indent="0" marL="0">
              <a:buNone/>
            </a:pPr>
            <a:r>
              <a:rPr lang="en-US" sz="1050" b="1" dirty="0">
                <a:solidFill>
                  <a:srgbClr val="FFFFFF"/>
                </a:solidFill>
                <a:latin typeface="Aptos" pitchFamily="34" charset="0"/>
                <a:ea typeface="Aptos" pitchFamily="34" charset="-122"/>
                <a:cs typeface="Aptos" pitchFamily="34" charset="-120"/>
              </a:rPr>
              <a:t>Le calendrier suppose une validation rapide des éléments clés : modèle de données, outils de collecte, maquettes et livrables.</a:t>
            </a:r>
            <a:endParaRPr lang="en-US" sz="105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11  —  Livrables + résultats attendus</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Des produits techniques et une capacité renforcée pour la HAUQE.</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685800" y="1234440"/>
            <a:ext cx="3154680" cy="2971800"/>
          </a:xfrm>
          <a:prstGeom prst="roundRect">
            <a:avLst>
              <a:gd name="adj" fmla="val 1846"/>
            </a:avLst>
          </a:prstGeom>
          <a:solidFill>
            <a:srgbClr val="F6FAFE"/>
          </a:solidFill>
          <a:ln w="12700">
            <a:solidFill>
              <a:srgbClr val="DCE8F4"/>
            </a:solidFill>
            <a:prstDash val="solid"/>
          </a:ln>
        </p:spPr>
      </p:sp>
      <p:sp>
        <p:nvSpPr>
          <p:cNvPr id="6" name="Shape 4"/>
          <p:cNvSpPr/>
          <p:nvPr/>
        </p:nvSpPr>
        <p:spPr>
          <a:xfrm>
            <a:off x="914400" y="1481328"/>
            <a:ext cx="2697480" cy="384048"/>
          </a:xfrm>
          <a:prstGeom prst="roundRect">
            <a:avLst>
              <a:gd name="adj" fmla="val 11905"/>
            </a:avLst>
          </a:prstGeom>
          <a:solidFill>
            <a:srgbClr val="173F70"/>
          </a:solidFill>
          <a:ln w="12700">
            <a:solidFill>
              <a:srgbClr val="173F70">
                <a:alpha val="0"/>
              </a:srgbClr>
            </a:solidFill>
            <a:prstDash val="solid"/>
          </a:ln>
        </p:spPr>
      </p:sp>
      <p:sp>
        <p:nvSpPr>
          <p:cNvPr id="7" name="Text 5"/>
          <p:cNvSpPr/>
          <p:nvPr/>
        </p:nvSpPr>
        <p:spPr>
          <a:xfrm>
            <a:off x="1024128" y="1527048"/>
            <a:ext cx="247802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15 juillet</a:t>
            </a:r>
            <a:endParaRPr lang="en-US" sz="1100" dirty="0"/>
          </a:p>
        </p:txBody>
      </p:sp>
      <p:sp>
        <p:nvSpPr>
          <p:cNvPr id="8" name="Text 6"/>
          <p:cNvSpPr/>
          <p:nvPr/>
        </p:nvSpPr>
        <p:spPr>
          <a:xfrm>
            <a:off x="1069848" y="2084832"/>
            <a:ext cx="2395728" cy="1600200"/>
          </a:xfrm>
          <a:prstGeom prst="rect">
            <a:avLst/>
          </a:prstGeom>
          <a:noFill/>
          <a:ln/>
        </p:spPr>
        <p:txBody>
          <a:bodyPr wrap="square" lIns="1016" tIns="1016" rIns="1016" bIns="1016" rtlCol="0" anchor="t">
            <a:normAutofit/>
          </a:bodyPr>
          <a:lstStyle/>
          <a:p>
            <a:pPr indent="0" marL="0">
              <a:buNone/>
            </a:pPr>
            <a:r>
              <a:rPr lang="en-US" sz="1180" dirty="0">
                <a:solidFill>
                  <a:srgbClr val="10243D"/>
                </a:solidFill>
                <a:latin typeface="Aptos" pitchFamily="34" charset="0"/>
                <a:ea typeface="Aptos" pitchFamily="34" charset="-122"/>
                <a:cs typeface="Aptos" pitchFamily="34" charset="-120"/>
              </a:rPr>
              <a:t>• Rapport de cadrage
</a:t>
            </a:r>
            <a:pPr indent="0" marL="0">
              <a:buNone/>
            </a:pPr>
            <a:r>
              <a:rPr lang="en-US" sz="1180" dirty="0">
                <a:solidFill>
                  <a:srgbClr val="10243D"/>
                </a:solidFill>
                <a:latin typeface="Aptos" pitchFamily="34" charset="0"/>
                <a:ea typeface="Aptos" pitchFamily="34" charset="-122"/>
                <a:cs typeface="Aptos" pitchFamily="34" charset="-120"/>
              </a:rPr>
              <a:t>• Architecture fonctionnelle
</a:t>
            </a:r>
            <a:pPr indent="0" marL="0">
              <a:buNone/>
            </a:pPr>
            <a:r>
              <a:rPr lang="en-US" sz="1180" dirty="0">
                <a:solidFill>
                  <a:srgbClr val="10243D"/>
                </a:solidFill>
                <a:latin typeface="Aptos" pitchFamily="34" charset="0"/>
                <a:ea typeface="Aptos" pitchFamily="34" charset="-122"/>
                <a:cs typeface="Aptos" pitchFamily="34" charset="-120"/>
              </a:rPr>
              <a:t>• Base nationale opérationnelle
</a:t>
            </a:r>
            <a:pPr indent="0" marL="0">
              <a:buNone/>
            </a:pPr>
            <a:r>
              <a:rPr lang="en-US" sz="1180" dirty="0">
                <a:solidFill>
                  <a:srgbClr val="10243D"/>
                </a:solidFill>
                <a:latin typeface="Aptos" pitchFamily="34" charset="0"/>
                <a:ea typeface="Aptos" pitchFamily="34" charset="-122"/>
                <a:cs typeface="Aptos" pitchFamily="34" charset="-120"/>
              </a:rPr>
              <a:t>• Premiers tableaux de bord</a:t>
            </a:r>
            <a:endParaRPr lang="en-US" sz="1180" dirty="0"/>
          </a:p>
        </p:txBody>
      </p:sp>
      <p:sp>
        <p:nvSpPr>
          <p:cNvPr id="9" name="Shape 7"/>
          <p:cNvSpPr/>
          <p:nvPr/>
        </p:nvSpPr>
        <p:spPr>
          <a:xfrm>
            <a:off x="4389120" y="1234440"/>
            <a:ext cx="3154680" cy="2971800"/>
          </a:xfrm>
          <a:prstGeom prst="roundRect">
            <a:avLst>
              <a:gd name="adj" fmla="val 1846"/>
            </a:avLst>
          </a:prstGeom>
          <a:solidFill>
            <a:srgbClr val="DDF7F5"/>
          </a:solidFill>
          <a:ln w="16510">
            <a:solidFill>
              <a:srgbClr val="00B7A8"/>
            </a:solidFill>
            <a:prstDash val="solid"/>
          </a:ln>
        </p:spPr>
      </p:sp>
      <p:sp>
        <p:nvSpPr>
          <p:cNvPr id="10" name="Shape 8"/>
          <p:cNvSpPr/>
          <p:nvPr/>
        </p:nvSpPr>
        <p:spPr>
          <a:xfrm>
            <a:off x="4617720" y="1481328"/>
            <a:ext cx="2697480" cy="384048"/>
          </a:xfrm>
          <a:prstGeom prst="roundRect">
            <a:avLst>
              <a:gd name="adj" fmla="val 11905"/>
            </a:avLst>
          </a:prstGeom>
          <a:solidFill>
            <a:srgbClr val="00B7A8"/>
          </a:solidFill>
          <a:ln w="12700">
            <a:solidFill>
              <a:srgbClr val="00B7A8">
                <a:alpha val="0"/>
              </a:srgbClr>
            </a:solidFill>
            <a:prstDash val="solid"/>
          </a:ln>
        </p:spPr>
      </p:sp>
      <p:sp>
        <p:nvSpPr>
          <p:cNvPr id="11" name="Text 9"/>
          <p:cNvSpPr/>
          <p:nvPr/>
        </p:nvSpPr>
        <p:spPr>
          <a:xfrm>
            <a:off x="4727448" y="1527048"/>
            <a:ext cx="247802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31 juillet</a:t>
            </a:r>
            <a:endParaRPr lang="en-US" sz="1100" dirty="0"/>
          </a:p>
        </p:txBody>
      </p:sp>
      <p:sp>
        <p:nvSpPr>
          <p:cNvPr id="12" name="Text 10"/>
          <p:cNvSpPr/>
          <p:nvPr/>
        </p:nvSpPr>
        <p:spPr>
          <a:xfrm>
            <a:off x="4773168" y="2084832"/>
            <a:ext cx="2395728" cy="1600200"/>
          </a:xfrm>
          <a:prstGeom prst="rect">
            <a:avLst/>
          </a:prstGeom>
          <a:noFill/>
          <a:ln/>
        </p:spPr>
        <p:txBody>
          <a:bodyPr wrap="square" lIns="1016" tIns="1016" rIns="1016" bIns="1016" rtlCol="0" anchor="t">
            <a:normAutofit/>
          </a:bodyPr>
          <a:lstStyle/>
          <a:p>
            <a:pPr indent="0" marL="0">
              <a:buNone/>
            </a:pPr>
            <a:r>
              <a:rPr lang="en-US" sz="1180" dirty="0">
                <a:solidFill>
                  <a:srgbClr val="10243D"/>
                </a:solidFill>
                <a:latin typeface="Aptos" pitchFamily="34" charset="0"/>
                <a:ea typeface="Aptos" pitchFamily="34" charset="-122"/>
                <a:cs typeface="Aptos" pitchFamily="34" charset="-120"/>
              </a:rPr>
              <a:t>• Fiches et formulaires
</a:t>
            </a:r>
            <a:pPr indent="0" marL="0">
              <a:buNone/>
            </a:pPr>
            <a:r>
              <a:rPr lang="en-US" sz="1180" dirty="0">
                <a:solidFill>
                  <a:srgbClr val="10243D"/>
                </a:solidFill>
                <a:latin typeface="Aptos" pitchFamily="34" charset="0"/>
                <a:ea typeface="Aptos" pitchFamily="34" charset="-122"/>
                <a:cs typeface="Aptos" pitchFamily="34" charset="-120"/>
              </a:rPr>
              <a:t>• Grilles de contrôle
</a:t>
            </a:r>
            <a:pPr indent="0" marL="0">
              <a:buNone/>
            </a:pPr>
            <a:r>
              <a:rPr lang="en-US" sz="1180" dirty="0">
                <a:solidFill>
                  <a:srgbClr val="10243D"/>
                </a:solidFill>
                <a:latin typeface="Aptos" pitchFamily="34" charset="0"/>
                <a:ea typeface="Aptos" pitchFamily="34" charset="-122"/>
                <a:cs typeface="Aptos" pitchFamily="34" charset="-120"/>
              </a:rPr>
              <a:t>• Codification / classification
</a:t>
            </a:r>
            <a:pPr indent="0" marL="0">
              <a:buNone/>
            </a:pPr>
            <a:r>
              <a:rPr lang="en-US" sz="1180" dirty="0">
                <a:solidFill>
                  <a:srgbClr val="10243D"/>
                </a:solidFill>
                <a:latin typeface="Aptos" pitchFamily="34" charset="0"/>
                <a:ea typeface="Aptos" pitchFamily="34" charset="-122"/>
                <a:cs typeface="Aptos" pitchFamily="34" charset="-120"/>
              </a:rPr>
              <a:t>• Mécanismes de scoring et suivi</a:t>
            </a:r>
            <a:endParaRPr lang="en-US" sz="1180" dirty="0"/>
          </a:p>
        </p:txBody>
      </p:sp>
      <p:sp>
        <p:nvSpPr>
          <p:cNvPr id="13" name="Shape 11"/>
          <p:cNvSpPr/>
          <p:nvPr/>
        </p:nvSpPr>
        <p:spPr>
          <a:xfrm>
            <a:off x="8092440" y="1234440"/>
            <a:ext cx="3154680" cy="2971800"/>
          </a:xfrm>
          <a:prstGeom prst="roundRect">
            <a:avLst>
              <a:gd name="adj" fmla="val 1846"/>
            </a:avLst>
          </a:prstGeom>
          <a:solidFill>
            <a:srgbClr val="F6FAFE"/>
          </a:solidFill>
          <a:ln w="12700">
            <a:solidFill>
              <a:srgbClr val="DCE8F4"/>
            </a:solidFill>
            <a:prstDash val="solid"/>
          </a:ln>
        </p:spPr>
      </p:sp>
      <p:sp>
        <p:nvSpPr>
          <p:cNvPr id="14" name="Shape 12"/>
          <p:cNvSpPr/>
          <p:nvPr/>
        </p:nvSpPr>
        <p:spPr>
          <a:xfrm>
            <a:off x="8321040" y="1481328"/>
            <a:ext cx="2697480" cy="384048"/>
          </a:xfrm>
          <a:prstGeom prst="roundRect">
            <a:avLst>
              <a:gd name="adj" fmla="val 11905"/>
            </a:avLst>
          </a:prstGeom>
          <a:solidFill>
            <a:srgbClr val="173F70"/>
          </a:solidFill>
          <a:ln w="12700">
            <a:solidFill>
              <a:srgbClr val="173F70">
                <a:alpha val="0"/>
              </a:srgbClr>
            </a:solidFill>
            <a:prstDash val="solid"/>
          </a:ln>
        </p:spPr>
      </p:sp>
      <p:sp>
        <p:nvSpPr>
          <p:cNvPr id="15" name="Text 13"/>
          <p:cNvSpPr/>
          <p:nvPr/>
        </p:nvSpPr>
        <p:spPr>
          <a:xfrm>
            <a:off x="8430768" y="1527048"/>
            <a:ext cx="247802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15 août</a:t>
            </a:r>
            <a:endParaRPr lang="en-US" sz="1100" dirty="0"/>
          </a:p>
        </p:txBody>
      </p:sp>
      <p:sp>
        <p:nvSpPr>
          <p:cNvPr id="16" name="Text 14"/>
          <p:cNvSpPr/>
          <p:nvPr/>
        </p:nvSpPr>
        <p:spPr>
          <a:xfrm>
            <a:off x="8476488" y="2084832"/>
            <a:ext cx="2395728" cy="1600200"/>
          </a:xfrm>
          <a:prstGeom prst="rect">
            <a:avLst/>
          </a:prstGeom>
          <a:noFill/>
          <a:ln/>
        </p:spPr>
        <p:txBody>
          <a:bodyPr wrap="square" lIns="1016" tIns="1016" rIns="1016" bIns="1016" rtlCol="0" anchor="t">
            <a:normAutofit/>
          </a:bodyPr>
          <a:lstStyle/>
          <a:p>
            <a:pPr indent="0" marL="0">
              <a:buNone/>
            </a:pPr>
            <a:r>
              <a:rPr lang="en-US" sz="1180" dirty="0">
                <a:solidFill>
                  <a:srgbClr val="10243D"/>
                </a:solidFill>
                <a:latin typeface="Aptos" pitchFamily="34" charset="0"/>
                <a:ea typeface="Aptos" pitchFamily="34" charset="-122"/>
                <a:cs typeface="Aptos" pitchFamily="34" charset="-120"/>
              </a:rPr>
              <a:t>• Guides et supports
</a:t>
            </a:r>
            <a:pPr indent="0" marL="0">
              <a:buNone/>
            </a:pPr>
            <a:r>
              <a:rPr lang="en-US" sz="1180" dirty="0">
                <a:solidFill>
                  <a:srgbClr val="10243D"/>
                </a:solidFill>
                <a:latin typeface="Aptos" pitchFamily="34" charset="0"/>
                <a:ea typeface="Aptos" pitchFamily="34" charset="-122"/>
                <a:cs typeface="Aptos" pitchFamily="34" charset="-120"/>
              </a:rPr>
              <a:t>• Formation des équipes
</a:t>
            </a:r>
            <a:pPr indent="0" marL="0">
              <a:buNone/>
            </a:pPr>
            <a:r>
              <a:rPr lang="en-US" sz="1180" dirty="0">
                <a:solidFill>
                  <a:srgbClr val="10243D"/>
                </a:solidFill>
                <a:latin typeface="Aptos" pitchFamily="34" charset="0"/>
                <a:ea typeface="Aptos" pitchFamily="34" charset="-122"/>
                <a:cs typeface="Aptos" pitchFamily="34" charset="-120"/>
              </a:rPr>
              <a:t>• Rapport de transfert
</a:t>
            </a:r>
            <a:pPr indent="0" marL="0">
              <a:buNone/>
            </a:pPr>
            <a:r>
              <a:rPr lang="en-US" sz="1180" dirty="0">
                <a:solidFill>
                  <a:srgbClr val="10243D"/>
                </a:solidFill>
                <a:latin typeface="Aptos" pitchFamily="34" charset="0"/>
                <a:ea typeface="Aptos" pitchFamily="34" charset="-122"/>
                <a:cs typeface="Aptos" pitchFamily="34" charset="-120"/>
              </a:rPr>
              <a:t>• Rapport final consolidé</a:t>
            </a:r>
            <a:endParaRPr lang="en-US" sz="1180" dirty="0"/>
          </a:p>
        </p:txBody>
      </p:sp>
      <p:sp>
        <p:nvSpPr>
          <p:cNvPr id="17" name="Shape 15"/>
          <p:cNvSpPr/>
          <p:nvPr/>
        </p:nvSpPr>
        <p:spPr>
          <a:xfrm>
            <a:off x="1143000" y="4617720"/>
            <a:ext cx="9875520" cy="384048"/>
          </a:xfrm>
          <a:prstGeom prst="roundRect">
            <a:avLst>
              <a:gd name="adj" fmla="val 11905"/>
            </a:avLst>
          </a:prstGeom>
          <a:solidFill>
            <a:srgbClr val="00B7A8"/>
          </a:solidFill>
          <a:ln w="12700">
            <a:solidFill>
              <a:srgbClr val="00B7A8">
                <a:alpha val="0"/>
              </a:srgbClr>
            </a:solidFill>
            <a:prstDash val="solid"/>
          </a:ln>
        </p:spPr>
      </p:sp>
      <p:sp>
        <p:nvSpPr>
          <p:cNvPr id="18" name="Text 16"/>
          <p:cNvSpPr/>
          <p:nvPr/>
        </p:nvSpPr>
        <p:spPr>
          <a:xfrm>
            <a:off x="1252728" y="4663440"/>
            <a:ext cx="965606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Résultats attendus</a:t>
            </a:r>
            <a:endParaRPr lang="en-US" sz="1100" dirty="0"/>
          </a:p>
        </p:txBody>
      </p:sp>
      <p:sp>
        <p:nvSpPr>
          <p:cNvPr id="19" name="Shape 17"/>
          <p:cNvSpPr/>
          <p:nvPr/>
        </p:nvSpPr>
        <p:spPr>
          <a:xfrm>
            <a:off x="1143000" y="5047488"/>
            <a:ext cx="9875520" cy="868680"/>
          </a:xfrm>
          <a:prstGeom prst="roundRect">
            <a:avLst>
              <a:gd name="adj" fmla="val 6316"/>
            </a:avLst>
          </a:prstGeom>
          <a:solidFill>
            <a:srgbClr val="0F335D"/>
          </a:solidFill>
          <a:ln w="12700">
            <a:solidFill>
              <a:srgbClr val="00B7A8"/>
            </a:solidFill>
            <a:prstDash val="solid"/>
          </a:ln>
        </p:spPr>
      </p:sp>
      <p:sp>
        <p:nvSpPr>
          <p:cNvPr id="20" name="Text 18"/>
          <p:cNvSpPr/>
          <p:nvPr/>
        </p:nvSpPr>
        <p:spPr>
          <a:xfrm>
            <a:off x="1417320" y="5330952"/>
            <a:ext cx="9326880" cy="201168"/>
          </a:xfrm>
          <a:prstGeom prst="rect">
            <a:avLst/>
          </a:prstGeom>
          <a:noFill/>
          <a:ln/>
        </p:spPr>
        <p:txBody>
          <a:bodyPr wrap="square" lIns="635" tIns="635" rIns="635" bIns="635" rtlCol="0" anchor="ctr">
            <a:normAutofit/>
          </a:bodyPr>
          <a:lstStyle/>
          <a:p>
            <a:pPr algn="ctr" indent="0" marL="0">
              <a:buNone/>
            </a:pPr>
            <a:r>
              <a:rPr lang="en-US" sz="1400" b="1" dirty="0">
                <a:solidFill>
                  <a:srgbClr val="FFFFFF"/>
                </a:solidFill>
                <a:latin typeface="Aptos" pitchFamily="34" charset="0"/>
                <a:ea typeface="Aptos" pitchFamily="34" charset="-122"/>
                <a:cs typeface="Aptos" pitchFamily="34" charset="-120"/>
              </a:rPr>
              <a:t>1. Base nationale fonctionnelle   •   2. Contrôle harmonisé des certifications   •   3. Autonomie progressive de la HAUQE</a:t>
            </a:r>
            <a:endParaRPr lang="en-US" sz="140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11480" y="256032"/>
            <a:ext cx="7863840" cy="347472"/>
          </a:xfrm>
          <a:prstGeom prst="rect">
            <a:avLst/>
          </a:prstGeom>
          <a:noFill/>
          <a:ln/>
        </p:spPr>
        <p:txBody>
          <a:bodyPr wrap="square" lIns="0" tIns="0" rIns="0" bIns="0"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12  —  Facteurs de succès + prochaines étapes</a:t>
            </a:r>
            <a:endParaRPr lang="en-US" sz="2200" dirty="0"/>
          </a:p>
        </p:txBody>
      </p:sp>
      <p:sp>
        <p:nvSpPr>
          <p:cNvPr id="3" name="Text 1"/>
          <p:cNvSpPr/>
          <p:nvPr/>
        </p:nvSpPr>
        <p:spPr>
          <a:xfrm>
            <a:off x="429768" y="685800"/>
            <a:ext cx="9875520" cy="292608"/>
          </a:xfrm>
          <a:prstGeom prst="rect">
            <a:avLst/>
          </a:prstGeom>
          <a:noFill/>
          <a:ln/>
        </p:spPr>
        <p:txBody>
          <a:bodyPr wrap="square" lIns="0" tIns="0" rIns="0" bIns="0" rtlCol="0" anchor="ctr"/>
          <a:lstStyle/>
          <a:p>
            <a:pPr indent="0" marL="0">
              <a:buNone/>
            </a:pPr>
            <a:r>
              <a:rPr lang="en-US" sz="1100" i="1" dirty="0">
                <a:solidFill>
                  <a:srgbClr val="C8D9EA"/>
                </a:solidFill>
                <a:latin typeface="Aptos" pitchFamily="34" charset="0"/>
                <a:ea typeface="Aptos" pitchFamily="34" charset="-122"/>
                <a:cs typeface="Aptos" pitchFamily="34" charset="-120"/>
              </a:rPr>
              <a:t>Ce qui doit être sécurisé immédiatement après la réunion.</a:t>
            </a:r>
            <a:endParaRPr lang="en-US" sz="1100" dirty="0"/>
          </a:p>
        </p:txBody>
      </p:sp>
      <p:sp>
        <p:nvSpPr>
          <p:cNvPr id="4" name="Text 2"/>
          <p:cNvSpPr/>
          <p:nvPr/>
        </p:nvSpPr>
        <p:spPr>
          <a:xfrm>
            <a:off x="411480" y="6473952"/>
            <a:ext cx="9784080" cy="146304"/>
          </a:xfrm>
          <a:prstGeom prst="rect">
            <a:avLst/>
          </a:prstGeom>
          <a:noFill/>
          <a:ln/>
        </p:spPr>
        <p:txBody>
          <a:bodyPr wrap="square" lIns="0" tIns="0" rIns="0" bIns="0" rtlCol="0" anchor="ctr"/>
          <a:lstStyle/>
          <a:p>
            <a:pPr indent="0" marL="0">
              <a:buNone/>
            </a:pPr>
            <a:r>
              <a:rPr lang="en-US" sz="650" dirty="0">
                <a:solidFill>
                  <a:srgbClr val="DCE8F4"/>
                </a:solidFill>
                <a:latin typeface="Aptos" pitchFamily="34" charset="0"/>
                <a:ea typeface="Aptos" pitchFamily="34" charset="-122"/>
                <a:cs typeface="Aptos" pitchFamily="34" charset="-120"/>
              </a:rPr>
              <a:t>Roland DJAGBA  |  Expert en Bases de Données &amp; Systèmes d’Information  |  HAUQE – GFA  |  Lomé, juillet 2026</a:t>
            </a:r>
            <a:endParaRPr lang="en-US" sz="650" dirty="0"/>
          </a:p>
        </p:txBody>
      </p:sp>
      <p:sp>
        <p:nvSpPr>
          <p:cNvPr id="5" name="Shape 3"/>
          <p:cNvSpPr/>
          <p:nvPr/>
        </p:nvSpPr>
        <p:spPr>
          <a:xfrm>
            <a:off x="777240" y="1234440"/>
            <a:ext cx="5257800" cy="3429000"/>
          </a:xfrm>
          <a:prstGeom prst="roundRect">
            <a:avLst>
              <a:gd name="adj" fmla="val 1600"/>
            </a:avLst>
          </a:prstGeom>
          <a:solidFill>
            <a:srgbClr val="F6FAFE"/>
          </a:solidFill>
          <a:ln w="12700">
            <a:solidFill>
              <a:srgbClr val="DCE8F4"/>
            </a:solidFill>
            <a:prstDash val="solid"/>
          </a:ln>
        </p:spPr>
      </p:sp>
      <p:sp>
        <p:nvSpPr>
          <p:cNvPr id="6" name="Shape 4"/>
          <p:cNvSpPr/>
          <p:nvPr/>
        </p:nvSpPr>
        <p:spPr>
          <a:xfrm>
            <a:off x="1005840" y="1508760"/>
            <a:ext cx="4800600" cy="384048"/>
          </a:xfrm>
          <a:prstGeom prst="roundRect">
            <a:avLst>
              <a:gd name="adj" fmla="val 11905"/>
            </a:avLst>
          </a:prstGeom>
          <a:solidFill>
            <a:srgbClr val="00B7A8"/>
          </a:solidFill>
          <a:ln w="12700">
            <a:solidFill>
              <a:srgbClr val="00B7A8">
                <a:alpha val="0"/>
              </a:srgbClr>
            </a:solidFill>
            <a:prstDash val="solid"/>
          </a:ln>
        </p:spPr>
      </p:sp>
      <p:sp>
        <p:nvSpPr>
          <p:cNvPr id="7" name="Text 5"/>
          <p:cNvSpPr/>
          <p:nvPr/>
        </p:nvSpPr>
        <p:spPr>
          <a:xfrm>
            <a:off x="1115568" y="1554480"/>
            <a:ext cx="458114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Facteurs clés de réussite</a:t>
            </a:r>
            <a:endParaRPr lang="en-US" sz="1100" dirty="0"/>
          </a:p>
        </p:txBody>
      </p:sp>
      <p:sp>
        <p:nvSpPr>
          <p:cNvPr id="8" name="Text 6"/>
          <p:cNvSpPr/>
          <p:nvPr/>
        </p:nvSpPr>
        <p:spPr>
          <a:xfrm>
            <a:off x="1143000" y="2148840"/>
            <a:ext cx="4480560" cy="1783080"/>
          </a:xfrm>
          <a:prstGeom prst="rect">
            <a:avLst/>
          </a:prstGeom>
          <a:noFill/>
          <a:ln/>
        </p:spPr>
        <p:txBody>
          <a:bodyPr wrap="square" lIns="1016" tIns="1016" rIns="1016" bIns="1016" rtlCol="0" anchor="t">
            <a:normAutofit/>
          </a:bodyPr>
          <a:lstStyle/>
          <a:p>
            <a:pPr indent="0" marL="0">
              <a:buNone/>
            </a:pPr>
            <a:r>
              <a:rPr lang="en-US" sz="1320" dirty="0">
                <a:solidFill>
                  <a:srgbClr val="10243D"/>
                </a:solidFill>
                <a:latin typeface="Aptos" pitchFamily="34" charset="0"/>
                <a:ea typeface="Aptos" pitchFamily="34" charset="-122"/>
                <a:cs typeface="Aptos" pitchFamily="34" charset="-120"/>
              </a:rPr>
              <a:t>• Point focal HAUQE identifié
</a:t>
            </a:r>
            <a:pPr indent="0" marL="0">
              <a:buNone/>
            </a:pPr>
            <a:r>
              <a:rPr lang="en-US" sz="1320" dirty="0">
                <a:solidFill>
                  <a:srgbClr val="10243D"/>
                </a:solidFill>
                <a:latin typeface="Aptos" pitchFamily="34" charset="0"/>
                <a:ea typeface="Aptos" pitchFamily="34" charset="-122"/>
                <a:cs typeface="Aptos" pitchFamily="34" charset="-120"/>
              </a:rPr>
              <a:t>• Données existantes disponibles rapidement
</a:t>
            </a:r>
            <a:pPr indent="0" marL="0">
              <a:buNone/>
            </a:pPr>
            <a:r>
              <a:rPr lang="en-US" sz="1320" dirty="0">
                <a:solidFill>
                  <a:srgbClr val="10243D"/>
                </a:solidFill>
                <a:latin typeface="Aptos" pitchFamily="34" charset="0"/>
                <a:ea typeface="Aptos" pitchFamily="34" charset="-122"/>
                <a:cs typeface="Aptos" pitchFamily="34" charset="-120"/>
              </a:rPr>
              <a:t>• Validation du modèle de données avant collecte
</a:t>
            </a:r>
            <a:pPr indent="0" marL="0">
              <a:buNone/>
            </a:pPr>
            <a:r>
              <a:rPr lang="en-US" sz="1320" dirty="0">
                <a:solidFill>
                  <a:srgbClr val="10243D"/>
                </a:solidFill>
                <a:latin typeface="Aptos" pitchFamily="34" charset="0"/>
                <a:ea typeface="Aptos" pitchFamily="34" charset="-122"/>
                <a:cs typeface="Aptos" pitchFamily="34" charset="-120"/>
              </a:rPr>
              <a:t>• Retours rapides sur les maquettes et livrables</a:t>
            </a:r>
            <a:endParaRPr lang="en-US" sz="1320" dirty="0"/>
          </a:p>
        </p:txBody>
      </p:sp>
      <p:sp>
        <p:nvSpPr>
          <p:cNvPr id="9" name="Shape 7"/>
          <p:cNvSpPr/>
          <p:nvPr/>
        </p:nvSpPr>
        <p:spPr>
          <a:xfrm>
            <a:off x="6355080" y="1234440"/>
            <a:ext cx="5074920" cy="3429000"/>
          </a:xfrm>
          <a:prstGeom prst="roundRect">
            <a:avLst>
              <a:gd name="adj" fmla="val 1600"/>
            </a:avLst>
          </a:prstGeom>
          <a:solidFill>
            <a:srgbClr val="F6FAFE"/>
          </a:solidFill>
          <a:ln w="12700">
            <a:solidFill>
              <a:srgbClr val="DCE8F4"/>
            </a:solidFill>
            <a:prstDash val="solid"/>
          </a:ln>
        </p:spPr>
      </p:sp>
      <p:sp>
        <p:nvSpPr>
          <p:cNvPr id="10" name="Shape 8"/>
          <p:cNvSpPr/>
          <p:nvPr/>
        </p:nvSpPr>
        <p:spPr>
          <a:xfrm>
            <a:off x="6583680" y="1508760"/>
            <a:ext cx="4617720" cy="384048"/>
          </a:xfrm>
          <a:prstGeom prst="roundRect">
            <a:avLst>
              <a:gd name="adj" fmla="val 11905"/>
            </a:avLst>
          </a:prstGeom>
          <a:solidFill>
            <a:srgbClr val="173F70"/>
          </a:solidFill>
          <a:ln w="12700">
            <a:solidFill>
              <a:srgbClr val="173F70">
                <a:alpha val="0"/>
              </a:srgbClr>
            </a:solidFill>
            <a:prstDash val="solid"/>
          </a:ln>
        </p:spPr>
      </p:sp>
      <p:sp>
        <p:nvSpPr>
          <p:cNvPr id="11" name="Text 9"/>
          <p:cNvSpPr/>
          <p:nvPr/>
        </p:nvSpPr>
        <p:spPr>
          <a:xfrm>
            <a:off x="6693408" y="1554480"/>
            <a:ext cx="4398264" cy="237744"/>
          </a:xfrm>
          <a:prstGeom prst="rect">
            <a:avLst/>
          </a:prstGeom>
          <a:noFill/>
          <a:ln/>
        </p:spPr>
        <p:txBody>
          <a:bodyPr wrap="square" lIns="0" tIns="0" rIns="0" bIns="0" rtlCol="0" anchor="ctr">
            <a:normAutofit/>
          </a:bodyPr>
          <a:lstStyle/>
          <a:p>
            <a:pPr algn="l" indent="0" marL="0">
              <a:buNone/>
            </a:pPr>
            <a:r>
              <a:rPr lang="en-US" sz="1100" b="1" dirty="0">
                <a:solidFill>
                  <a:srgbClr val="FFFFFF"/>
                </a:solidFill>
                <a:latin typeface="Aptos" pitchFamily="34" charset="0"/>
                <a:ea typeface="Aptos" pitchFamily="34" charset="-122"/>
                <a:cs typeface="Aptos" pitchFamily="34" charset="-120"/>
              </a:rPr>
              <a:t>Prochaines étapes immédiates</a:t>
            </a:r>
            <a:endParaRPr lang="en-US" sz="1100" dirty="0"/>
          </a:p>
        </p:txBody>
      </p:sp>
      <p:sp>
        <p:nvSpPr>
          <p:cNvPr id="12" name="Text 10"/>
          <p:cNvSpPr/>
          <p:nvPr/>
        </p:nvSpPr>
        <p:spPr>
          <a:xfrm>
            <a:off x="6720840" y="2148840"/>
            <a:ext cx="4251960" cy="1783080"/>
          </a:xfrm>
          <a:prstGeom prst="rect">
            <a:avLst/>
          </a:prstGeom>
          <a:noFill/>
          <a:ln/>
        </p:spPr>
        <p:txBody>
          <a:bodyPr wrap="square" lIns="1016" tIns="1016" rIns="1016" bIns="1016" rtlCol="0" anchor="t">
            <a:normAutofit/>
          </a:bodyPr>
          <a:lstStyle/>
          <a:p>
            <a:pPr indent="0" marL="0">
              <a:buNone/>
            </a:pPr>
            <a:r>
              <a:rPr lang="en-US" sz="1320" dirty="0">
                <a:solidFill>
                  <a:srgbClr val="10243D"/>
                </a:solidFill>
                <a:latin typeface="Aptos" pitchFamily="34" charset="0"/>
                <a:ea typeface="Aptos" pitchFamily="34" charset="-122"/>
                <a:cs typeface="Aptos" pitchFamily="34" charset="-120"/>
              </a:rPr>
              <a:t>• Valider la méthodologie
</a:t>
            </a:r>
            <a:pPr indent="0" marL="0">
              <a:buNone/>
            </a:pPr>
            <a:r>
              <a:rPr lang="en-US" sz="1320" dirty="0">
                <a:solidFill>
                  <a:srgbClr val="10243D"/>
                </a:solidFill>
                <a:latin typeface="Aptos" pitchFamily="34" charset="0"/>
                <a:ea typeface="Aptos" pitchFamily="34" charset="-122"/>
                <a:cs typeface="Aptos" pitchFamily="34" charset="-120"/>
              </a:rPr>
              <a:t>• Confirmer les champs et règles métier
</a:t>
            </a:r>
            <a:pPr indent="0" marL="0">
              <a:buNone/>
            </a:pPr>
            <a:r>
              <a:rPr lang="en-US" sz="1320" dirty="0">
                <a:solidFill>
                  <a:srgbClr val="10243D"/>
                </a:solidFill>
                <a:latin typeface="Aptos" pitchFamily="34" charset="0"/>
                <a:ea typeface="Aptos" pitchFamily="34" charset="-122"/>
                <a:cs typeface="Aptos" pitchFamily="34" charset="-120"/>
              </a:rPr>
              <a:t>• Valider les outils de collecte
</a:t>
            </a:r>
            <a:pPr indent="0" marL="0">
              <a:buNone/>
            </a:pPr>
            <a:r>
              <a:rPr lang="en-US" sz="1320" dirty="0">
                <a:solidFill>
                  <a:srgbClr val="10243D"/>
                </a:solidFill>
                <a:latin typeface="Aptos" pitchFamily="34" charset="0"/>
                <a:ea typeface="Aptos" pitchFamily="34" charset="-122"/>
                <a:cs typeface="Aptos" pitchFamily="34" charset="-120"/>
              </a:rPr>
              <a:t>• Démarrer le développement et les échanges techniques</a:t>
            </a:r>
            <a:endParaRPr lang="en-US" sz="1320" dirty="0"/>
          </a:p>
        </p:txBody>
      </p:sp>
      <p:sp>
        <p:nvSpPr>
          <p:cNvPr id="13" name="Shape 11"/>
          <p:cNvSpPr/>
          <p:nvPr/>
        </p:nvSpPr>
        <p:spPr>
          <a:xfrm>
            <a:off x="1417320" y="5166360"/>
            <a:ext cx="9326880" cy="713232"/>
          </a:xfrm>
          <a:prstGeom prst="roundRect">
            <a:avLst>
              <a:gd name="adj" fmla="val 7692"/>
            </a:avLst>
          </a:prstGeom>
          <a:solidFill>
            <a:srgbClr val="00B7A8"/>
          </a:solidFill>
          <a:ln w="12700">
            <a:solidFill>
              <a:srgbClr val="00B7A8"/>
            </a:solidFill>
            <a:prstDash val="solid"/>
          </a:ln>
        </p:spPr>
      </p:sp>
      <p:sp>
        <p:nvSpPr>
          <p:cNvPr id="14" name="Text 12"/>
          <p:cNvSpPr/>
          <p:nvPr/>
        </p:nvSpPr>
        <p:spPr>
          <a:xfrm>
            <a:off x="1691640" y="5367528"/>
            <a:ext cx="8778240" cy="210312"/>
          </a:xfrm>
          <a:prstGeom prst="rect">
            <a:avLst/>
          </a:prstGeom>
          <a:noFill/>
          <a:ln/>
        </p:spPr>
        <p:txBody>
          <a:bodyPr wrap="square" lIns="635" tIns="635" rIns="635" bIns="635" rtlCol="0" anchor="ctr">
            <a:normAutofit/>
          </a:bodyPr>
          <a:lstStyle/>
          <a:p>
            <a:pPr algn="ctr" indent="0" marL="0">
              <a:buNone/>
            </a:pPr>
            <a:r>
              <a:rPr lang="en-US" sz="1350" b="1" dirty="0">
                <a:solidFill>
                  <a:srgbClr val="FFFFFF"/>
                </a:solidFill>
                <a:latin typeface="Aptos" pitchFamily="34" charset="0"/>
                <a:ea typeface="Aptos" pitchFamily="34" charset="-122"/>
                <a:cs typeface="Aptos" pitchFamily="34" charset="-120"/>
              </a:rPr>
              <a:t>Je reste ouvert à vos observations et suggestions afin d’ajuster la mission aux besoins réels de la HAUQE.</a:t>
            </a:r>
            <a:endParaRPr lang="en-US" sz="1350" dirty="0"/>
          </a:p>
        </p:txBody>
      </p:sp>
      <p:sp>
        <p:nvSpPr>
          <p:cNvPr id="15" name="Text 13"/>
          <p:cNvSpPr/>
          <p:nvPr/>
        </p:nvSpPr>
        <p:spPr>
          <a:xfrm>
            <a:off x="2880360" y="5925312"/>
            <a:ext cx="6446520" cy="164592"/>
          </a:xfrm>
          <a:prstGeom prst="rect">
            <a:avLst/>
          </a:prstGeom>
          <a:noFill/>
          <a:ln/>
        </p:spPr>
        <p:txBody>
          <a:bodyPr wrap="square" lIns="0" tIns="0" rIns="0" bIns="0" rtlCol="0" anchor="ctr"/>
          <a:lstStyle/>
          <a:p>
            <a:pPr algn="ctr" indent="0" marL="0">
              <a:buNone/>
            </a:pPr>
            <a:r>
              <a:rPr lang="en-US" sz="900" b="1" dirty="0">
                <a:solidFill>
                  <a:srgbClr val="DCE8F4"/>
                </a:solidFill>
                <a:latin typeface="Aptos" pitchFamily="34" charset="0"/>
                <a:ea typeface="Aptos" pitchFamily="34" charset="-122"/>
                <a:cs typeface="Aptos" pitchFamily="34" charset="-120"/>
              </a:rPr>
              <a:t>Roland DJAGBA  —  roldja2001@gmail.com  —  +228 93356041</a:t>
            </a:r>
            <a:endParaRPr lang="en-US" sz="900" dirty="0"/>
          </a:p>
        </p:txBody>
      </p:sp>
      <p:sp>
        <p:nvSpPr>
          <p:cNvPr id="25" name="Slide Number Placeholder 0"/>
          <p:cNvSpPr>
            <a:spLocks noGrp="1"/>
          </p:cNvSpPr>
          <p:nvPr>
            <p:ph type="sldNum" sz="quarter" idx="4294967295"/>
          </p:nvPr>
        </p:nvSpPr>
        <p:spPr>
          <a:xfrm>
            <a:off x="11567160" y="6455664"/>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DDEAF7"/>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HAUQE - GFA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Réunion de cadrage — Activités R1.3.5 &amp; R1.4.3</dc:title>
  <dc:subject>Réunion de cadrage HAUQE - GFA</dc:subject>
  <dc:creator>OpenAI</dc:creator>
  <cp:lastModifiedBy>OpenAI</cp:lastModifiedBy>
  <cp:revision>1</cp:revision>
  <dcterms:created xsi:type="dcterms:W3CDTF">2026-07-04T14:15:16Z</dcterms:created>
  <dcterms:modified xsi:type="dcterms:W3CDTF">2026-07-04T14:15:16Z</dcterms:modified>
</cp:coreProperties>
</file>