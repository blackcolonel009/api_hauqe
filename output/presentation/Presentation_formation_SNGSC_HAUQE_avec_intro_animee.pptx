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63" r:id="rId2"/>
    <p:sldId id="256" r:id="rId3"/>
    <p:sldId id="257" r:id="rId4"/>
    <p:sldId id="264" r:id="rId5"/>
    <p:sldId id="258" r:id="rId6"/>
    <p:sldId id="259" r:id="rId7"/>
    <p:sldId id="260" r:id="rId8"/>
    <p:sldId id="261" r:id="rId9"/>
    <p:sldId id="262"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Ouvrir par l’idée centrale : une bonne base de données commence par une collecte complète, vérifiable et exploitable. Source : TDR de l’atelier de formation, version finale.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Court rappel d’ouverture. L’activité R1.3.5 porte sur la base de données des entreprises certifiées. L’activité R1.4.3 concerne le contrôle des certifications et l’exploitation des résultats. Le système permet aussi le suivi des échéances, des renouvellements, des suspensions, des retraits et des anomalies. Source : TDR de l’atelier de formation, version finale.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2979C-84E6-9E19-4C09-F9FA8BED9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39873-048E-842F-FAF1-59DF5234F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53858-713B-DE74-DBBE-095A70033252}"/>
              </a:ext>
            </a:extLst>
          </p:cNvPr>
          <p:cNvSpPr>
            <a:spLocks noGrp="1"/>
          </p:cNvSpPr>
          <p:nvPr>
            <p:ph type="body" idx="1"/>
          </p:nvPr>
        </p:nvSpPr>
        <p:spPr/>
        <p:txBody>
          <a:bodyPr/>
          <a:lstStyle/>
          <a:p>
            <a:r>
              <a:t>Court rappel d’ouverture. L’activité R1.3.5 porte sur la base de données des entreprises certifiées. L’activité R1.4.3 concerne le contrôle des certifications et l’exploitation des résultats. Le système permet aussi le suivi des échéances, des renouvellements, des suspensions, des retraits et des anomalies. Source : TDR de l’atelier de formation, version finale.</a:t>
            </a:r>
          </a:p>
        </p:txBody>
      </p:sp>
      <p:sp>
        <p:nvSpPr>
          <p:cNvPr id="4" name="Slide Number Placeholder 3">
            <a:extLst>
              <a:ext uri="{FF2B5EF4-FFF2-40B4-BE49-F238E27FC236}">
                <a16:creationId xmlns:a16="http://schemas.microsoft.com/office/drawing/2014/main" id="{3FA66AC0-D5B5-5CBE-ADF9-51FB69E9C30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27999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TDR présente le processus complet : collecter, vérifier, contrôler, corriger, valider, mettre à jour, suivre, analyser, restituer et décider. Ici, il est regroupé en cinq phases pour faciliter la mémorisation.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Scénario fictif pour la formation. Deux agents sont envoyés le même jour auprès de deux entreprises. L’objectif est de comparer les conséquences d’une collecte complète et d’une collecte insuffisante.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Demander aux participants quels champs et quelles pièces permettent de considérer la collecte comme complète. Préciser qu’une collecte complète ne signifie pas encore que la certification est validée : elle permet d’engager la vérification.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Dans ce scénario, les preuves de certification sont disponibles. Le seul problème concerne la fiche du déclarant : son identité, sa fonction et ses autres coordonnées manquent, tandis que son numéro de téléphone est enregistré. L’agent signale ces champs manquants et organise leur complétude sans remettre en cause les preuves déjà collectées.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Faire répondre les participants avant de conclure. Relier les réponses au cycle de traitement et rappeler la traçabilité : toute donnée incertaine doit être signalée, justifiée et suivie jusqu’à sa résolution.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9442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ntroduction animée HAUQE Certif" descr="Bienvenue à la formation de prise en main du SNGSC HAUQE Certif">
            <a:extLst>
              <a:ext uri="{FF2B5EF4-FFF2-40B4-BE49-F238E27FC236}">
                <a16:creationId xmlns:a16="http://schemas.microsoft.com/office/drawing/2014/main" id="{B6E75377-4288-3722-731B-CAC55016A1D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3612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9C8213-1A01-42D8-B53B-F2DBBB898515}"/>
              </a:ext>
            </a:extLst>
          </p:cNvPr>
          <p:cNvSpPr>
            <a:spLocks noGrp="1"/>
          </p:cNvSpPr>
          <p:nvPr/>
        </p:nvSpPr>
        <p:spPr>
          <a:xfrm>
            <a:off x="742950" y="628650"/>
            <a:ext cx="6191250" cy="285750"/>
          </a:xfrm>
          <a:prstGeom prst="rect">
            <a:avLst/>
          </a:prstGeom>
          <a:noFill/>
          <a:ln w="0">
            <a:noFill/>
          </a:ln>
        </p:spPr>
        <p:txBody>
          <a:bodyPr>
            <a:noAutofit/>
          </a:bodyPr>
          <a:lstStyle/>
          <a:p>
            <a:pPr>
              <a:defRPr sz="1200" b="1" i="0">
                <a:solidFill>
                  <a:srgbClr val="E8A62A"/>
                </a:solidFill>
                <a:latin typeface="Arial"/>
                <a:ea typeface="Arial"/>
                <a:cs typeface="Arial"/>
              </a:defRPr>
            </a:pPr>
            <a:r>
              <a:rPr sz="1200" b="1" i="0">
                <a:solidFill>
                  <a:srgbClr val="E8A62A"/>
                </a:solidFill>
                <a:latin typeface="Arial"/>
                <a:ea typeface="Arial"/>
                <a:cs typeface="Arial"/>
              </a:rPr>
              <a:t>FORMATION PRATIQUE HAUQE</a:t>
            </a:r>
          </a:p>
        </p:txBody>
      </p:sp>
      <p:sp>
        <p:nvSpPr>
          <p:cNvPr id="2" name="Rectangle 1">
            <a:extLst>
              <a:ext uri="{FF2B5EF4-FFF2-40B4-BE49-F238E27FC236}">
                <a16:creationId xmlns:a16="http://schemas.microsoft.com/office/drawing/2014/main" id="{909A65F7-3D9B-44B2-A352-05172757BD4D}"/>
              </a:ext>
            </a:extLst>
          </p:cNvPr>
          <p:cNvSpPr>
            <a:spLocks noGrp="1"/>
          </p:cNvSpPr>
          <p:nvPr/>
        </p:nvSpPr>
        <p:spPr>
          <a:xfrm>
            <a:off x="742950" y="1428750"/>
            <a:ext cx="8572500" cy="1952625"/>
          </a:xfrm>
          <a:prstGeom prst="rect">
            <a:avLst/>
          </a:prstGeom>
          <a:noFill/>
          <a:ln w="0">
            <a:noFill/>
          </a:ln>
        </p:spPr>
        <p:txBody>
          <a:bodyPr>
            <a:noAutofit/>
          </a:bodyPr>
          <a:lstStyle/>
          <a:p>
            <a:pPr>
              <a:defRPr sz="4950" b="1" i="0">
                <a:solidFill>
                  <a:srgbClr val="FFFFFF"/>
                </a:solidFill>
                <a:latin typeface="Arial"/>
                <a:ea typeface="Arial"/>
                <a:cs typeface="Arial"/>
              </a:defRPr>
            </a:pPr>
            <a:r>
              <a:rPr sz="4950" b="1" i="0">
                <a:solidFill>
                  <a:srgbClr val="FFFFFF"/>
                </a:solidFill>
                <a:latin typeface="Arial"/>
                <a:ea typeface="Arial"/>
                <a:cs typeface="Arial"/>
              </a:rPr>
              <a:t>Du terrain</a:t>
            </a:r>
          </a:p>
          <a:p>
            <a:pPr>
              <a:defRPr sz="4950" b="1" i="0">
                <a:solidFill>
                  <a:srgbClr val="FFFFFF"/>
                </a:solidFill>
                <a:latin typeface="Arial"/>
                <a:ea typeface="Arial"/>
                <a:cs typeface="Arial"/>
              </a:defRPr>
            </a:pPr>
            <a:r>
              <a:rPr sz="4950" b="1" i="0">
                <a:solidFill>
                  <a:srgbClr val="FFFFFF"/>
                </a:solidFill>
                <a:latin typeface="Arial"/>
                <a:ea typeface="Arial"/>
                <a:cs typeface="Arial"/>
              </a:rPr>
              <a:t>à la base</a:t>
            </a:r>
          </a:p>
        </p:txBody>
      </p:sp>
      <p:sp>
        <p:nvSpPr>
          <p:cNvPr id="3" name="Rectangle 2">
            <a:extLst>
              <a:ext uri="{FF2B5EF4-FFF2-40B4-BE49-F238E27FC236}">
                <a16:creationId xmlns:a16="http://schemas.microsoft.com/office/drawing/2014/main" id="{4BADD465-BD85-4AD3-8D91-0E566D8609FF}"/>
              </a:ext>
            </a:extLst>
          </p:cNvPr>
          <p:cNvSpPr>
            <a:spLocks noGrp="1"/>
          </p:cNvSpPr>
          <p:nvPr/>
        </p:nvSpPr>
        <p:spPr>
          <a:xfrm>
            <a:off x="781050" y="3714750"/>
            <a:ext cx="8667750" cy="876300"/>
          </a:xfrm>
          <a:prstGeom prst="rect">
            <a:avLst/>
          </a:prstGeom>
          <a:noFill/>
          <a:ln w="0">
            <a:noFill/>
          </a:ln>
        </p:spPr>
        <p:txBody>
          <a:bodyPr>
            <a:noAutofit/>
          </a:bodyPr>
          <a:lstStyle/>
          <a:p>
            <a:pPr>
              <a:defRPr sz="2025" b="0" i="0">
                <a:solidFill>
                  <a:srgbClr val="DDE7EE"/>
                </a:solidFill>
                <a:latin typeface="Arial"/>
                <a:ea typeface="Arial"/>
                <a:cs typeface="Arial"/>
              </a:defRPr>
            </a:pPr>
            <a:r>
              <a:rPr sz="2025" b="0" i="0">
                <a:solidFill>
                  <a:srgbClr val="DDE7EE"/>
                </a:solidFill>
                <a:latin typeface="Arial"/>
                <a:ea typeface="Arial"/>
                <a:cs typeface="Arial"/>
              </a:rPr>
              <a:t>Collecter des informations fiables et les transformer</a:t>
            </a:r>
          </a:p>
          <a:p>
            <a:pPr>
              <a:defRPr sz="2025" b="0" i="0">
                <a:solidFill>
                  <a:srgbClr val="DDE7EE"/>
                </a:solidFill>
                <a:latin typeface="Arial"/>
                <a:ea typeface="Arial"/>
                <a:cs typeface="Arial"/>
              </a:defRPr>
            </a:pPr>
            <a:r>
              <a:rPr sz="2025" b="0" i="0">
                <a:solidFill>
                  <a:srgbClr val="DDE7EE"/>
                </a:solidFill>
                <a:latin typeface="Arial"/>
                <a:ea typeface="Arial"/>
                <a:cs typeface="Arial"/>
              </a:rPr>
              <a:t>en données utiles pour le suivi des certifications</a:t>
            </a:r>
          </a:p>
        </p:txBody>
      </p:sp>
      <p:sp>
        <p:nvSpPr>
          <p:cNvPr id="4" name="Rectangle 3">
            <a:extLst>
              <a:ext uri="{FF2B5EF4-FFF2-40B4-BE49-F238E27FC236}">
                <a16:creationId xmlns:a16="http://schemas.microsoft.com/office/drawing/2014/main" id="{FDDC7A4A-B68C-4164-8F88-9F08FFE3F6A2}"/>
              </a:ext>
            </a:extLst>
          </p:cNvPr>
          <p:cNvSpPr>
            <a:spLocks noGrp="1"/>
          </p:cNvSpPr>
          <p:nvPr/>
        </p:nvSpPr>
        <p:spPr>
          <a:xfrm>
            <a:off x="781050" y="5572125"/>
            <a:ext cx="6667500" cy="342900"/>
          </a:xfrm>
          <a:prstGeom prst="rect">
            <a:avLst/>
          </a:prstGeom>
          <a:noFill/>
          <a:ln w="0">
            <a:noFill/>
          </a:ln>
        </p:spPr>
        <p:txBody>
          <a:bodyPr>
            <a:noAutofit/>
          </a:bodyPr>
          <a:lstStyle/>
          <a:p>
            <a:pPr>
              <a:defRPr sz="1425" b="1" i="0">
                <a:solidFill>
                  <a:srgbClr val="E8A62A"/>
                </a:solidFill>
                <a:latin typeface="Arial"/>
                <a:ea typeface="Arial"/>
                <a:cs typeface="Arial"/>
              </a:defRPr>
            </a:pPr>
            <a:r>
              <a:rPr sz="1425" b="1" i="0">
                <a:solidFill>
                  <a:srgbClr val="E8A62A"/>
                </a:solidFill>
                <a:latin typeface="Arial"/>
                <a:ea typeface="Arial"/>
                <a:cs typeface="Arial"/>
              </a:rPr>
              <a:t>22–24 septembre 2026  •  Lomé</a:t>
            </a:r>
          </a:p>
        </p:txBody>
      </p:sp>
      <p:sp>
        <p:nvSpPr>
          <p:cNvPr id="5" name="Rectangle 4">
            <a:extLst>
              <a:ext uri="{FF2B5EF4-FFF2-40B4-BE49-F238E27FC236}">
                <a16:creationId xmlns:a16="http://schemas.microsoft.com/office/drawing/2014/main" id="{2B66EE5B-0FE2-46F2-9385-06E093F329C7}"/>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D9E3EA"/>
                </a:solidFill>
                <a:latin typeface="Arial"/>
                <a:ea typeface="Arial"/>
                <a:cs typeface="Arial"/>
              </a:defRPr>
            </a:pPr>
            <a:r>
              <a:rPr sz="1050" b="1" i="0">
                <a:solidFill>
                  <a:srgbClr val="D9E3EA"/>
                </a:solidFill>
                <a:latin typeface="Arial"/>
                <a:ea typeface="Arial"/>
                <a:cs typeface="Arial"/>
              </a:rPr>
              <a:t>01</a:t>
            </a:r>
          </a:p>
        </p:txBody>
      </p:sp>
    </p:spTree>
    <p:extLst>
      <p:ext uri="{BB962C8B-B14F-4D97-AF65-F5344CB8AC3E}">
        <p14:creationId xmlns:p14="http://schemas.microsoft.com/office/powerpoint/2010/main" val="1622805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AD96873-A2A5-42B8-8709-BA642F73700C}"/>
              </a:ext>
            </a:extLst>
          </p:cNvPr>
          <p:cNvSpPr>
            <a:spLocks noGrp="1"/>
          </p:cNvSpPr>
          <p:nvPr/>
        </p:nvSpPr>
        <p:spPr>
          <a:xfrm>
            <a:off x="685800" y="400050"/>
            <a:ext cx="10820400" cy="285750"/>
          </a:xfrm>
          <a:prstGeom prst="rect">
            <a:avLst/>
          </a:prstGeom>
          <a:noFill/>
          <a:ln w="0">
            <a:noFill/>
          </a:ln>
        </p:spPr>
        <p:txBody>
          <a:bodyPr>
            <a:noAutofit/>
          </a:bodyPr>
          <a:lstStyle/>
          <a:p>
            <a:pPr>
              <a:defRPr sz="1200" b="1" i="0">
                <a:solidFill>
                  <a:srgbClr val="3F6B4A"/>
                </a:solidFill>
                <a:latin typeface="Arial"/>
                <a:ea typeface="Arial"/>
                <a:cs typeface="Arial"/>
              </a:defRPr>
            </a:pPr>
            <a:r>
              <a:rPr sz="1200" b="1" i="0">
                <a:solidFill>
                  <a:srgbClr val="3F6B4A"/>
                </a:solidFill>
                <a:latin typeface="Arial"/>
                <a:ea typeface="Arial"/>
                <a:cs typeface="Arial"/>
              </a:rPr>
              <a:t>LE PROJET</a:t>
            </a:r>
          </a:p>
        </p:txBody>
      </p:sp>
      <p:sp>
        <p:nvSpPr>
          <p:cNvPr id="2" name="Rectangle 1">
            <a:extLst>
              <a:ext uri="{FF2B5EF4-FFF2-40B4-BE49-F238E27FC236}">
                <a16:creationId xmlns:a16="http://schemas.microsoft.com/office/drawing/2014/main" id="{94EA7C0E-7813-4128-B4E8-FBFAC7CBEB81}"/>
              </a:ext>
            </a:extLst>
          </p:cNvPr>
          <p:cNvSpPr>
            <a:spLocks noGrp="1"/>
          </p:cNvSpPr>
          <p:nvPr/>
        </p:nvSpPr>
        <p:spPr>
          <a:xfrm>
            <a:off x="685800" y="742950"/>
            <a:ext cx="10820400" cy="609600"/>
          </a:xfrm>
          <a:prstGeom prst="rect">
            <a:avLst/>
          </a:prstGeom>
          <a:noFill/>
          <a:ln w="0">
            <a:noFill/>
          </a:ln>
        </p:spPr>
        <p:txBody>
          <a:bodyPr>
            <a:noAutofit/>
          </a:bodyPr>
          <a:lstStyle/>
          <a:p>
            <a:pPr>
              <a:defRPr sz="3150" b="1" i="0">
                <a:solidFill>
                  <a:srgbClr val="16324F"/>
                </a:solidFill>
                <a:latin typeface="Arial"/>
                <a:ea typeface="Arial"/>
                <a:cs typeface="Arial"/>
              </a:defRPr>
            </a:pPr>
            <a:r>
              <a:rPr sz="3150" b="1" i="0">
                <a:solidFill>
                  <a:srgbClr val="16324F"/>
                </a:solidFill>
                <a:latin typeface="Arial"/>
                <a:ea typeface="Arial"/>
                <a:cs typeface="Arial"/>
              </a:rPr>
              <a:t>Rappel des activités R1.3.5 et R1.4.3</a:t>
            </a:r>
          </a:p>
        </p:txBody>
      </p:sp>
      <p:sp>
        <p:nvSpPr>
          <p:cNvPr id="3" name="Rectangle 2">
            <a:extLst>
              <a:ext uri="{FF2B5EF4-FFF2-40B4-BE49-F238E27FC236}">
                <a16:creationId xmlns:a16="http://schemas.microsoft.com/office/drawing/2014/main" id="{B49E6AE5-A295-44CC-A574-61B25ECD21A2}"/>
              </a:ext>
            </a:extLst>
          </p:cNvPr>
          <p:cNvSpPr>
            <a:spLocks noGrp="1"/>
          </p:cNvSpPr>
          <p:nvPr/>
        </p:nvSpPr>
        <p:spPr>
          <a:xfrm>
            <a:off x="838200" y="1952625"/>
            <a:ext cx="2381250" cy="647700"/>
          </a:xfrm>
          <a:prstGeom prst="rect">
            <a:avLst/>
          </a:prstGeom>
          <a:noFill/>
          <a:ln w="0">
            <a:noFill/>
          </a:ln>
        </p:spPr>
        <p:txBody>
          <a:bodyPr>
            <a:noAutofit/>
          </a:bodyPr>
          <a:lstStyle/>
          <a:p>
            <a:pPr>
              <a:defRPr sz="3450" b="1" i="0">
                <a:solidFill>
                  <a:srgbClr val="E8A62A"/>
                </a:solidFill>
                <a:latin typeface="Arial"/>
                <a:ea typeface="Arial"/>
                <a:cs typeface="Arial"/>
              </a:defRPr>
            </a:pPr>
            <a:r>
              <a:rPr sz="3450" b="1" i="0">
                <a:solidFill>
                  <a:srgbClr val="E8A62A"/>
                </a:solidFill>
                <a:latin typeface="Arial"/>
                <a:ea typeface="Arial"/>
                <a:cs typeface="Arial"/>
              </a:rPr>
              <a:t>R1.3.5</a:t>
            </a:r>
          </a:p>
        </p:txBody>
      </p:sp>
      <p:sp>
        <p:nvSpPr>
          <p:cNvPr id="4" name="Rectangle 3">
            <a:extLst>
              <a:ext uri="{FF2B5EF4-FFF2-40B4-BE49-F238E27FC236}">
                <a16:creationId xmlns:a16="http://schemas.microsoft.com/office/drawing/2014/main" id="{358B85E5-5223-4D96-B539-FED9D0A9765B}"/>
              </a:ext>
            </a:extLst>
          </p:cNvPr>
          <p:cNvSpPr>
            <a:spLocks noGrp="1"/>
          </p:cNvSpPr>
          <p:nvPr/>
        </p:nvSpPr>
        <p:spPr>
          <a:xfrm>
            <a:off x="838200" y="2743200"/>
            <a:ext cx="4000500" cy="952500"/>
          </a:xfrm>
          <a:prstGeom prst="rect">
            <a:avLst/>
          </a:prstGeom>
          <a:noFill/>
          <a:ln w="0">
            <a:noFill/>
          </a:ln>
        </p:spPr>
        <p:txBody>
          <a:bodyPr>
            <a:noAutofit/>
          </a:bodyPr>
          <a:lstStyle/>
          <a:p>
            <a:pPr>
              <a:defRPr sz="2175" b="1" i="0">
                <a:solidFill>
                  <a:srgbClr val="16324F"/>
                </a:solidFill>
                <a:latin typeface="Arial"/>
                <a:ea typeface="Arial"/>
                <a:cs typeface="Arial"/>
              </a:defRPr>
            </a:pPr>
            <a:r>
              <a:rPr sz="2175" b="1" i="0">
                <a:solidFill>
                  <a:srgbClr val="16324F"/>
                </a:solidFill>
                <a:latin typeface="Arial"/>
                <a:ea typeface="Arial"/>
                <a:cs typeface="Arial"/>
              </a:rPr>
              <a:t>Base de données des</a:t>
            </a:r>
          </a:p>
          <a:p>
            <a:pPr>
              <a:defRPr sz="2175" b="1" i="0">
                <a:solidFill>
                  <a:srgbClr val="16324F"/>
                </a:solidFill>
                <a:latin typeface="Arial"/>
                <a:ea typeface="Arial"/>
                <a:cs typeface="Arial"/>
              </a:defRPr>
            </a:pPr>
            <a:r>
              <a:rPr sz="2175" b="1" i="0">
                <a:solidFill>
                  <a:srgbClr val="16324F"/>
                </a:solidFill>
                <a:latin typeface="Arial"/>
                <a:ea typeface="Arial"/>
                <a:cs typeface="Arial"/>
              </a:rPr>
              <a:t>entreprises certifiées</a:t>
            </a:r>
          </a:p>
        </p:txBody>
      </p:sp>
      <p:sp>
        <p:nvSpPr>
          <p:cNvPr id="5" name="Rectangle 4">
            <a:extLst>
              <a:ext uri="{FF2B5EF4-FFF2-40B4-BE49-F238E27FC236}">
                <a16:creationId xmlns:a16="http://schemas.microsoft.com/office/drawing/2014/main" id="{59EEA4CF-93D9-4B19-8D55-C9393F00369E}"/>
              </a:ext>
            </a:extLst>
          </p:cNvPr>
          <p:cNvSpPr>
            <a:spLocks noGrp="1"/>
          </p:cNvSpPr>
          <p:nvPr/>
        </p:nvSpPr>
        <p:spPr>
          <a:xfrm>
            <a:off x="838200" y="3857625"/>
            <a:ext cx="4572000" cy="1476375"/>
          </a:xfrm>
          <a:prstGeom prst="rect">
            <a:avLst/>
          </a:prstGeom>
          <a:noFill/>
          <a:ln w="0">
            <a:noFill/>
          </a:ln>
        </p:spPr>
        <p:txBody>
          <a:bodyPr>
            <a:noAutofit/>
          </a:bodyPr>
          <a:lstStyle/>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Centralisation des informations sur les entreprises et leurs certificats</a:t>
            </a:r>
          </a:p>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Mise à jour, recherche et exploitation des données</a:t>
            </a:r>
          </a:p>
        </p:txBody>
      </p:sp>
      <p:sp>
        <p:nvSpPr>
          <p:cNvPr id="6" name="Rectangle 5">
            <a:extLst>
              <a:ext uri="{FF2B5EF4-FFF2-40B4-BE49-F238E27FC236}">
                <a16:creationId xmlns:a16="http://schemas.microsoft.com/office/drawing/2014/main" id="{6D569DE6-838A-400C-B020-2A61919DB509}"/>
              </a:ext>
            </a:extLst>
          </p:cNvPr>
          <p:cNvSpPr>
            <a:spLocks noGrp="1"/>
          </p:cNvSpPr>
          <p:nvPr/>
        </p:nvSpPr>
        <p:spPr>
          <a:xfrm>
            <a:off x="6524625" y="1952625"/>
            <a:ext cx="2381250" cy="647700"/>
          </a:xfrm>
          <a:prstGeom prst="rect">
            <a:avLst/>
          </a:prstGeom>
          <a:noFill/>
          <a:ln w="0">
            <a:noFill/>
          </a:ln>
        </p:spPr>
        <p:txBody>
          <a:bodyPr>
            <a:noAutofit/>
          </a:bodyPr>
          <a:lstStyle/>
          <a:p>
            <a:pPr>
              <a:defRPr sz="3450" b="1" i="0">
                <a:solidFill>
                  <a:srgbClr val="3F6B4A"/>
                </a:solidFill>
                <a:latin typeface="Arial"/>
                <a:ea typeface="Arial"/>
                <a:cs typeface="Arial"/>
              </a:defRPr>
            </a:pPr>
            <a:r>
              <a:rPr sz="3450" b="1" i="0">
                <a:solidFill>
                  <a:srgbClr val="3F6B4A"/>
                </a:solidFill>
                <a:latin typeface="Arial"/>
                <a:ea typeface="Arial"/>
                <a:cs typeface="Arial"/>
              </a:rPr>
              <a:t>R1.4.3</a:t>
            </a:r>
          </a:p>
        </p:txBody>
      </p:sp>
      <p:sp>
        <p:nvSpPr>
          <p:cNvPr id="7" name="Rectangle 6">
            <a:extLst>
              <a:ext uri="{FF2B5EF4-FFF2-40B4-BE49-F238E27FC236}">
                <a16:creationId xmlns:a16="http://schemas.microsoft.com/office/drawing/2014/main" id="{5815871B-3E17-4F04-A16B-3EC38AD5D36F}"/>
              </a:ext>
            </a:extLst>
          </p:cNvPr>
          <p:cNvSpPr>
            <a:spLocks noGrp="1"/>
          </p:cNvSpPr>
          <p:nvPr/>
        </p:nvSpPr>
        <p:spPr>
          <a:xfrm>
            <a:off x="6524625" y="2743200"/>
            <a:ext cx="4572000" cy="952500"/>
          </a:xfrm>
          <a:prstGeom prst="rect">
            <a:avLst/>
          </a:prstGeom>
          <a:noFill/>
          <a:ln w="0">
            <a:noFill/>
          </a:ln>
        </p:spPr>
        <p:txBody>
          <a:bodyPr>
            <a:noAutofit/>
          </a:bodyPr>
          <a:lstStyle/>
          <a:p>
            <a:pPr>
              <a:defRPr sz="2175" b="1" i="0">
                <a:solidFill>
                  <a:srgbClr val="16324F"/>
                </a:solidFill>
                <a:latin typeface="Arial"/>
                <a:ea typeface="Arial"/>
                <a:cs typeface="Arial"/>
              </a:defRPr>
            </a:pPr>
            <a:r>
              <a:rPr sz="2175" b="1" i="0">
                <a:solidFill>
                  <a:srgbClr val="16324F"/>
                </a:solidFill>
                <a:latin typeface="Arial"/>
                <a:ea typeface="Arial"/>
                <a:cs typeface="Arial"/>
              </a:rPr>
              <a:t>Contrôle des certifications</a:t>
            </a:r>
          </a:p>
          <a:p>
            <a:pPr>
              <a:defRPr sz="2175" b="1" i="0">
                <a:solidFill>
                  <a:srgbClr val="16324F"/>
                </a:solidFill>
                <a:latin typeface="Arial"/>
                <a:ea typeface="Arial"/>
                <a:cs typeface="Arial"/>
              </a:defRPr>
            </a:pPr>
            <a:r>
              <a:rPr sz="2175" b="1" i="0">
                <a:solidFill>
                  <a:srgbClr val="16324F"/>
                </a:solidFill>
                <a:latin typeface="Arial"/>
                <a:ea typeface="Arial"/>
                <a:cs typeface="Arial"/>
              </a:rPr>
              <a:t>et exploitation des résultats</a:t>
            </a:r>
          </a:p>
        </p:txBody>
      </p:sp>
      <p:sp>
        <p:nvSpPr>
          <p:cNvPr id="8" name="Rectangle 7">
            <a:extLst>
              <a:ext uri="{FF2B5EF4-FFF2-40B4-BE49-F238E27FC236}">
                <a16:creationId xmlns:a16="http://schemas.microsoft.com/office/drawing/2014/main" id="{E4C717A8-5347-45FD-8B6B-7BE50ED0E57B}"/>
              </a:ext>
            </a:extLst>
          </p:cNvPr>
          <p:cNvSpPr>
            <a:spLocks noGrp="1"/>
          </p:cNvSpPr>
          <p:nvPr/>
        </p:nvSpPr>
        <p:spPr>
          <a:xfrm>
            <a:off x="6524625" y="3857625"/>
            <a:ext cx="4762500" cy="1476375"/>
          </a:xfrm>
          <a:prstGeom prst="rect">
            <a:avLst/>
          </a:prstGeom>
          <a:noFill/>
          <a:ln w="0">
            <a:noFill/>
          </a:ln>
        </p:spPr>
        <p:txBody>
          <a:bodyPr>
            <a:noAutofit/>
          </a:bodyPr>
          <a:lstStyle/>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Vérification de la cohérence et de la validité des certificats</a:t>
            </a:r>
          </a:p>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Suivi des échéances, anomalies et décisions</a:t>
            </a:r>
          </a:p>
        </p:txBody>
      </p:sp>
      <p:sp>
        <p:nvSpPr>
          <p:cNvPr id="9" name="Rectangle 8">
            <a:extLst>
              <a:ext uri="{FF2B5EF4-FFF2-40B4-BE49-F238E27FC236}">
                <a16:creationId xmlns:a16="http://schemas.microsoft.com/office/drawing/2014/main" id="{E9C68D6E-E9D5-4C3F-A9D4-21FAC981E2BA}"/>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66727C"/>
                </a:solidFill>
                <a:latin typeface="Arial"/>
                <a:ea typeface="Arial"/>
                <a:cs typeface="Arial"/>
              </a:defRPr>
            </a:pPr>
            <a:r>
              <a:rPr sz="1050" b="1" i="0">
                <a:solidFill>
                  <a:srgbClr val="66727C"/>
                </a:solidFill>
                <a:latin typeface="Arial"/>
                <a:ea typeface="Arial"/>
                <a:cs typeface="Arial"/>
              </a:rPr>
              <a:t>02</a:t>
            </a:r>
          </a:p>
        </p:txBody>
      </p:sp>
    </p:spTree>
    <p:extLst>
      <p:ext uri="{BB962C8B-B14F-4D97-AF65-F5344CB8AC3E}">
        <p14:creationId xmlns:p14="http://schemas.microsoft.com/office/powerpoint/2010/main" val="1914746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a:extLst>
            <a:ext uri="{FF2B5EF4-FFF2-40B4-BE49-F238E27FC236}">
              <a16:creationId xmlns:a16="http://schemas.microsoft.com/office/drawing/2014/main" id="{63AE214A-4870-A477-7017-E2EF6AC77BB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1838432-FE9C-590B-E971-DF3B60E8A7CA}"/>
              </a:ext>
            </a:extLst>
          </p:cNvPr>
          <p:cNvSpPr>
            <a:spLocks noGrp="1"/>
          </p:cNvSpPr>
          <p:nvPr/>
        </p:nvSpPr>
        <p:spPr>
          <a:xfrm>
            <a:off x="685800" y="400050"/>
            <a:ext cx="10820400" cy="285750"/>
          </a:xfrm>
          <a:prstGeom prst="rect">
            <a:avLst/>
          </a:prstGeom>
          <a:noFill/>
          <a:ln w="0">
            <a:noFill/>
          </a:ln>
        </p:spPr>
        <p:txBody>
          <a:bodyPr>
            <a:noAutofit/>
          </a:bodyPr>
          <a:lstStyle/>
          <a:p>
            <a:pPr>
              <a:defRPr sz="1200" b="1" i="0">
                <a:solidFill>
                  <a:srgbClr val="3F6B4A"/>
                </a:solidFill>
                <a:latin typeface="Arial"/>
                <a:ea typeface="Arial"/>
                <a:cs typeface="Arial"/>
              </a:defRPr>
            </a:pPr>
            <a:r>
              <a:rPr sz="1200" b="1" i="0">
                <a:solidFill>
                  <a:srgbClr val="3F6B4A"/>
                </a:solidFill>
                <a:latin typeface="Arial"/>
                <a:ea typeface="Arial"/>
                <a:cs typeface="Arial"/>
              </a:rPr>
              <a:t>LE PROJET</a:t>
            </a:r>
          </a:p>
        </p:txBody>
      </p:sp>
      <p:sp>
        <p:nvSpPr>
          <p:cNvPr id="2" name="Rectangle 1">
            <a:extLst>
              <a:ext uri="{FF2B5EF4-FFF2-40B4-BE49-F238E27FC236}">
                <a16:creationId xmlns:a16="http://schemas.microsoft.com/office/drawing/2014/main" id="{85528C4B-CC26-016D-7D82-E86806245C09}"/>
              </a:ext>
            </a:extLst>
          </p:cNvPr>
          <p:cNvSpPr>
            <a:spLocks noGrp="1"/>
          </p:cNvSpPr>
          <p:nvPr/>
        </p:nvSpPr>
        <p:spPr>
          <a:xfrm>
            <a:off x="685800" y="742950"/>
            <a:ext cx="10820400" cy="609600"/>
          </a:xfrm>
          <a:prstGeom prst="rect">
            <a:avLst/>
          </a:prstGeom>
          <a:noFill/>
          <a:ln w="0">
            <a:noFill/>
          </a:ln>
        </p:spPr>
        <p:txBody>
          <a:bodyPr>
            <a:noAutofit/>
          </a:bodyPr>
          <a:lstStyle/>
          <a:p>
            <a:pPr>
              <a:defRPr sz="3150" b="1" i="0">
                <a:solidFill>
                  <a:srgbClr val="16324F"/>
                </a:solidFill>
                <a:latin typeface="Arial"/>
                <a:ea typeface="Arial"/>
                <a:cs typeface="Arial"/>
              </a:defRPr>
            </a:pPr>
            <a:r>
              <a:rPr lang="fr-FR" sz="3150" b="1" dirty="0">
                <a:solidFill>
                  <a:srgbClr val="16324F"/>
                </a:solidFill>
                <a:latin typeface="Arial"/>
                <a:ea typeface="Arial"/>
                <a:cs typeface="Arial"/>
              </a:rPr>
              <a:t>Le But du SNGSC</a:t>
            </a:r>
            <a:endParaRPr sz="3150" b="1" i="0" dirty="0">
              <a:solidFill>
                <a:srgbClr val="16324F"/>
              </a:solidFill>
              <a:latin typeface="Arial"/>
              <a:ea typeface="Arial"/>
              <a:cs typeface="Arial"/>
            </a:endParaRPr>
          </a:p>
        </p:txBody>
      </p:sp>
      <p:sp>
        <p:nvSpPr>
          <p:cNvPr id="3" name="Rectangle 2">
            <a:extLst>
              <a:ext uri="{FF2B5EF4-FFF2-40B4-BE49-F238E27FC236}">
                <a16:creationId xmlns:a16="http://schemas.microsoft.com/office/drawing/2014/main" id="{448A9CE6-2212-9902-F140-510006585E86}"/>
              </a:ext>
            </a:extLst>
          </p:cNvPr>
          <p:cNvSpPr>
            <a:spLocks noGrp="1"/>
          </p:cNvSpPr>
          <p:nvPr/>
        </p:nvSpPr>
        <p:spPr>
          <a:xfrm>
            <a:off x="838200" y="1952625"/>
            <a:ext cx="2381250" cy="647700"/>
          </a:xfrm>
          <a:prstGeom prst="rect">
            <a:avLst/>
          </a:prstGeom>
          <a:noFill/>
          <a:ln w="0">
            <a:noFill/>
          </a:ln>
        </p:spPr>
        <p:txBody>
          <a:bodyPr>
            <a:noAutofit/>
          </a:bodyPr>
          <a:lstStyle/>
          <a:p>
            <a:pPr>
              <a:defRPr sz="3450" b="1" i="0">
                <a:solidFill>
                  <a:srgbClr val="E8A62A"/>
                </a:solidFill>
                <a:latin typeface="Arial"/>
                <a:ea typeface="Arial"/>
                <a:cs typeface="Arial"/>
              </a:defRPr>
            </a:pPr>
            <a:r>
              <a:rPr sz="3450" b="1" i="0" dirty="0">
                <a:solidFill>
                  <a:srgbClr val="E8A62A"/>
                </a:solidFill>
                <a:latin typeface="Arial"/>
                <a:ea typeface="Arial"/>
                <a:cs typeface="Arial"/>
              </a:rPr>
              <a:t>R1.3.5</a:t>
            </a:r>
          </a:p>
        </p:txBody>
      </p:sp>
      <p:sp>
        <p:nvSpPr>
          <p:cNvPr id="4" name="Rectangle 3">
            <a:extLst>
              <a:ext uri="{FF2B5EF4-FFF2-40B4-BE49-F238E27FC236}">
                <a16:creationId xmlns:a16="http://schemas.microsoft.com/office/drawing/2014/main" id="{DCDEC3EE-13A6-5310-B915-11BAF5D53CE4}"/>
              </a:ext>
            </a:extLst>
          </p:cNvPr>
          <p:cNvSpPr>
            <a:spLocks noGrp="1"/>
          </p:cNvSpPr>
          <p:nvPr/>
        </p:nvSpPr>
        <p:spPr>
          <a:xfrm>
            <a:off x="838200" y="2743200"/>
            <a:ext cx="4000500" cy="952500"/>
          </a:xfrm>
          <a:prstGeom prst="rect">
            <a:avLst/>
          </a:prstGeom>
          <a:noFill/>
          <a:ln w="0">
            <a:noFill/>
          </a:ln>
        </p:spPr>
        <p:txBody>
          <a:bodyPr>
            <a:noAutofit/>
          </a:bodyPr>
          <a:lstStyle/>
          <a:p>
            <a:pPr>
              <a:defRPr sz="2175" b="1" i="0">
                <a:solidFill>
                  <a:srgbClr val="16324F"/>
                </a:solidFill>
                <a:latin typeface="Arial"/>
                <a:ea typeface="Arial"/>
                <a:cs typeface="Arial"/>
              </a:defRPr>
            </a:pPr>
            <a:r>
              <a:rPr sz="2175" b="1" i="0" dirty="0">
                <a:solidFill>
                  <a:srgbClr val="16324F"/>
                </a:solidFill>
                <a:latin typeface="Arial"/>
                <a:ea typeface="Arial"/>
                <a:cs typeface="Arial"/>
              </a:rPr>
              <a:t>Base de données des</a:t>
            </a:r>
          </a:p>
          <a:p>
            <a:pPr>
              <a:defRPr sz="2175" b="1" i="0">
                <a:solidFill>
                  <a:srgbClr val="16324F"/>
                </a:solidFill>
                <a:latin typeface="Arial"/>
                <a:ea typeface="Arial"/>
                <a:cs typeface="Arial"/>
              </a:defRPr>
            </a:pPr>
            <a:r>
              <a:rPr sz="2175" b="1" i="0" dirty="0" err="1">
                <a:solidFill>
                  <a:srgbClr val="16324F"/>
                </a:solidFill>
                <a:latin typeface="Arial"/>
                <a:ea typeface="Arial"/>
                <a:cs typeface="Arial"/>
              </a:rPr>
              <a:t>entreprises</a:t>
            </a:r>
            <a:r>
              <a:rPr sz="2175" b="1" i="0" dirty="0">
                <a:solidFill>
                  <a:srgbClr val="16324F"/>
                </a:solidFill>
                <a:latin typeface="Arial"/>
                <a:ea typeface="Arial"/>
                <a:cs typeface="Arial"/>
              </a:rPr>
              <a:t> </a:t>
            </a:r>
            <a:r>
              <a:rPr sz="2175" b="1" i="0" dirty="0" err="1">
                <a:solidFill>
                  <a:srgbClr val="16324F"/>
                </a:solidFill>
                <a:latin typeface="Arial"/>
                <a:ea typeface="Arial"/>
                <a:cs typeface="Arial"/>
              </a:rPr>
              <a:t>certifiées</a:t>
            </a:r>
            <a:endParaRPr sz="2175" b="1" i="0" dirty="0">
              <a:solidFill>
                <a:srgbClr val="16324F"/>
              </a:solidFill>
              <a:latin typeface="Arial"/>
              <a:ea typeface="Arial"/>
              <a:cs typeface="Arial"/>
            </a:endParaRPr>
          </a:p>
        </p:txBody>
      </p:sp>
      <p:sp>
        <p:nvSpPr>
          <p:cNvPr id="5" name="Rectangle 4">
            <a:extLst>
              <a:ext uri="{FF2B5EF4-FFF2-40B4-BE49-F238E27FC236}">
                <a16:creationId xmlns:a16="http://schemas.microsoft.com/office/drawing/2014/main" id="{D69C40DF-ED9A-7120-D2DE-B5529CE2BC90}"/>
              </a:ext>
            </a:extLst>
          </p:cNvPr>
          <p:cNvSpPr>
            <a:spLocks noGrp="1"/>
          </p:cNvSpPr>
          <p:nvPr/>
        </p:nvSpPr>
        <p:spPr>
          <a:xfrm>
            <a:off x="838200" y="3857625"/>
            <a:ext cx="4572000" cy="1476375"/>
          </a:xfrm>
          <a:prstGeom prst="rect">
            <a:avLst/>
          </a:prstGeom>
          <a:noFill/>
          <a:ln w="0">
            <a:noFill/>
          </a:ln>
        </p:spPr>
        <p:txBody>
          <a:bodyPr>
            <a:noAutofit/>
          </a:bodyPr>
          <a:lstStyle/>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Centralisation des informations sur les entreprises et leurs certificats</a:t>
            </a:r>
          </a:p>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Mise à jour, recherche et exploitation des données</a:t>
            </a:r>
          </a:p>
        </p:txBody>
      </p:sp>
      <p:sp>
        <p:nvSpPr>
          <p:cNvPr id="6" name="Rectangle 5">
            <a:extLst>
              <a:ext uri="{FF2B5EF4-FFF2-40B4-BE49-F238E27FC236}">
                <a16:creationId xmlns:a16="http://schemas.microsoft.com/office/drawing/2014/main" id="{99E27CCF-EDE2-6FA1-B0AE-F6D920C6D33B}"/>
              </a:ext>
            </a:extLst>
          </p:cNvPr>
          <p:cNvSpPr>
            <a:spLocks noGrp="1"/>
          </p:cNvSpPr>
          <p:nvPr/>
        </p:nvSpPr>
        <p:spPr>
          <a:xfrm>
            <a:off x="6524625" y="1952625"/>
            <a:ext cx="2381250" cy="647700"/>
          </a:xfrm>
          <a:prstGeom prst="rect">
            <a:avLst/>
          </a:prstGeom>
          <a:noFill/>
          <a:ln w="0">
            <a:noFill/>
          </a:ln>
        </p:spPr>
        <p:txBody>
          <a:bodyPr>
            <a:noAutofit/>
          </a:bodyPr>
          <a:lstStyle/>
          <a:p>
            <a:pPr>
              <a:defRPr sz="3450" b="1" i="0">
                <a:solidFill>
                  <a:srgbClr val="3F6B4A"/>
                </a:solidFill>
                <a:latin typeface="Arial"/>
                <a:ea typeface="Arial"/>
                <a:cs typeface="Arial"/>
              </a:defRPr>
            </a:pPr>
            <a:r>
              <a:rPr sz="3450" b="1" i="0">
                <a:solidFill>
                  <a:srgbClr val="3F6B4A"/>
                </a:solidFill>
                <a:latin typeface="Arial"/>
                <a:ea typeface="Arial"/>
                <a:cs typeface="Arial"/>
              </a:rPr>
              <a:t>R1.4.3</a:t>
            </a:r>
          </a:p>
        </p:txBody>
      </p:sp>
      <p:sp>
        <p:nvSpPr>
          <p:cNvPr id="7" name="Rectangle 6">
            <a:extLst>
              <a:ext uri="{FF2B5EF4-FFF2-40B4-BE49-F238E27FC236}">
                <a16:creationId xmlns:a16="http://schemas.microsoft.com/office/drawing/2014/main" id="{96594D04-E227-09B1-092F-3A5C821DAB1A}"/>
              </a:ext>
            </a:extLst>
          </p:cNvPr>
          <p:cNvSpPr>
            <a:spLocks noGrp="1"/>
          </p:cNvSpPr>
          <p:nvPr/>
        </p:nvSpPr>
        <p:spPr>
          <a:xfrm>
            <a:off x="6524625" y="2743200"/>
            <a:ext cx="4572000" cy="952500"/>
          </a:xfrm>
          <a:prstGeom prst="rect">
            <a:avLst/>
          </a:prstGeom>
          <a:noFill/>
          <a:ln w="0">
            <a:noFill/>
          </a:ln>
        </p:spPr>
        <p:txBody>
          <a:bodyPr>
            <a:noAutofit/>
          </a:bodyPr>
          <a:lstStyle/>
          <a:p>
            <a:pPr>
              <a:defRPr sz="2175" b="1" i="0">
                <a:solidFill>
                  <a:srgbClr val="16324F"/>
                </a:solidFill>
                <a:latin typeface="Arial"/>
                <a:ea typeface="Arial"/>
                <a:cs typeface="Arial"/>
              </a:defRPr>
            </a:pPr>
            <a:r>
              <a:rPr sz="2175" b="1" i="0">
                <a:solidFill>
                  <a:srgbClr val="16324F"/>
                </a:solidFill>
                <a:latin typeface="Arial"/>
                <a:ea typeface="Arial"/>
                <a:cs typeface="Arial"/>
              </a:rPr>
              <a:t>Contrôle des certifications</a:t>
            </a:r>
          </a:p>
          <a:p>
            <a:pPr>
              <a:defRPr sz="2175" b="1" i="0">
                <a:solidFill>
                  <a:srgbClr val="16324F"/>
                </a:solidFill>
                <a:latin typeface="Arial"/>
                <a:ea typeface="Arial"/>
                <a:cs typeface="Arial"/>
              </a:defRPr>
            </a:pPr>
            <a:r>
              <a:rPr sz="2175" b="1" i="0">
                <a:solidFill>
                  <a:srgbClr val="16324F"/>
                </a:solidFill>
                <a:latin typeface="Arial"/>
                <a:ea typeface="Arial"/>
                <a:cs typeface="Arial"/>
              </a:rPr>
              <a:t>et exploitation des résultats</a:t>
            </a:r>
          </a:p>
        </p:txBody>
      </p:sp>
      <p:sp>
        <p:nvSpPr>
          <p:cNvPr id="8" name="Rectangle 7">
            <a:extLst>
              <a:ext uri="{FF2B5EF4-FFF2-40B4-BE49-F238E27FC236}">
                <a16:creationId xmlns:a16="http://schemas.microsoft.com/office/drawing/2014/main" id="{33069725-F69B-CE08-AA73-9D90011F18D7}"/>
              </a:ext>
            </a:extLst>
          </p:cNvPr>
          <p:cNvSpPr>
            <a:spLocks noGrp="1"/>
          </p:cNvSpPr>
          <p:nvPr/>
        </p:nvSpPr>
        <p:spPr>
          <a:xfrm>
            <a:off x="6524625" y="3857625"/>
            <a:ext cx="4762500" cy="1476375"/>
          </a:xfrm>
          <a:prstGeom prst="rect">
            <a:avLst/>
          </a:prstGeom>
          <a:noFill/>
          <a:ln w="0">
            <a:noFill/>
          </a:ln>
        </p:spPr>
        <p:txBody>
          <a:bodyPr>
            <a:noAutofit/>
          </a:bodyPr>
          <a:lstStyle/>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Vérification de la cohérence et de la validité des certificats</a:t>
            </a:r>
          </a:p>
          <a:p>
            <a:pPr marL="279400" indent="-127000">
              <a:spcAft>
                <a:spcPts val="1200"/>
              </a:spcAft>
              <a:buChar char="•"/>
              <a:defRPr sz="1650">
                <a:solidFill>
                  <a:srgbClr val="1E2B35"/>
                </a:solidFill>
                <a:latin typeface="Arial"/>
                <a:ea typeface="Arial"/>
                <a:cs typeface="Arial"/>
              </a:defRPr>
            </a:pPr>
            <a:r>
              <a:rPr sz="1650">
                <a:solidFill>
                  <a:srgbClr val="1E2B35"/>
                </a:solidFill>
                <a:latin typeface="Arial"/>
                <a:ea typeface="Arial"/>
                <a:cs typeface="Arial"/>
              </a:rPr>
              <a:t>Suivi des échéances, anomalies et décisions</a:t>
            </a:r>
          </a:p>
        </p:txBody>
      </p:sp>
      <p:sp>
        <p:nvSpPr>
          <p:cNvPr id="9" name="Rectangle 8">
            <a:extLst>
              <a:ext uri="{FF2B5EF4-FFF2-40B4-BE49-F238E27FC236}">
                <a16:creationId xmlns:a16="http://schemas.microsoft.com/office/drawing/2014/main" id="{C100EB7F-1D2F-380F-2A46-0113E3A49359}"/>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66727C"/>
                </a:solidFill>
                <a:latin typeface="Arial"/>
                <a:ea typeface="Arial"/>
                <a:cs typeface="Arial"/>
              </a:defRPr>
            </a:pPr>
            <a:r>
              <a:rPr sz="1050" b="1" i="0">
                <a:solidFill>
                  <a:srgbClr val="66727C"/>
                </a:solidFill>
                <a:latin typeface="Arial"/>
                <a:ea typeface="Arial"/>
                <a:cs typeface="Arial"/>
              </a:rPr>
              <a:t>02</a:t>
            </a:r>
          </a:p>
        </p:txBody>
      </p:sp>
    </p:spTree>
    <p:extLst>
      <p:ext uri="{BB962C8B-B14F-4D97-AF65-F5344CB8AC3E}">
        <p14:creationId xmlns:p14="http://schemas.microsoft.com/office/powerpoint/2010/main" val="321436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59D820A-AFB0-40B6-BC1E-18484820FE23}"/>
              </a:ext>
            </a:extLst>
          </p:cNvPr>
          <p:cNvSpPr>
            <a:spLocks noGrp="1"/>
          </p:cNvSpPr>
          <p:nvPr/>
        </p:nvSpPr>
        <p:spPr>
          <a:xfrm>
            <a:off x="685800" y="400050"/>
            <a:ext cx="10820400" cy="285750"/>
          </a:xfrm>
          <a:prstGeom prst="rect">
            <a:avLst/>
          </a:prstGeom>
          <a:noFill/>
          <a:ln w="0">
            <a:noFill/>
          </a:ln>
        </p:spPr>
        <p:txBody>
          <a:bodyPr>
            <a:noAutofit/>
          </a:bodyPr>
          <a:lstStyle/>
          <a:p>
            <a:pPr>
              <a:defRPr sz="1200" b="1" i="0">
                <a:solidFill>
                  <a:srgbClr val="3F6B4A"/>
                </a:solidFill>
                <a:latin typeface="Arial"/>
                <a:ea typeface="Arial"/>
                <a:cs typeface="Arial"/>
              </a:defRPr>
            </a:pPr>
            <a:r>
              <a:rPr sz="1200" b="1" i="0">
                <a:solidFill>
                  <a:srgbClr val="3F6B4A"/>
                </a:solidFill>
                <a:latin typeface="Arial"/>
                <a:ea typeface="Arial"/>
                <a:cs typeface="Arial"/>
              </a:rPr>
              <a:t>DU TERRAIN À LA DÉCISION</a:t>
            </a:r>
          </a:p>
        </p:txBody>
      </p:sp>
      <p:sp>
        <p:nvSpPr>
          <p:cNvPr id="2" name="Rectangle 1">
            <a:extLst>
              <a:ext uri="{FF2B5EF4-FFF2-40B4-BE49-F238E27FC236}">
                <a16:creationId xmlns:a16="http://schemas.microsoft.com/office/drawing/2014/main" id="{7E44BB0E-4383-4AE6-A3C1-CAF654BEB2ED}"/>
              </a:ext>
            </a:extLst>
          </p:cNvPr>
          <p:cNvSpPr>
            <a:spLocks noGrp="1"/>
          </p:cNvSpPr>
          <p:nvPr/>
        </p:nvSpPr>
        <p:spPr>
          <a:xfrm>
            <a:off x="685800" y="742950"/>
            <a:ext cx="10820400" cy="609600"/>
          </a:xfrm>
          <a:prstGeom prst="rect">
            <a:avLst/>
          </a:prstGeom>
          <a:noFill/>
          <a:ln w="0">
            <a:noFill/>
          </a:ln>
        </p:spPr>
        <p:txBody>
          <a:bodyPr>
            <a:noAutofit/>
          </a:bodyPr>
          <a:lstStyle/>
          <a:p>
            <a:pPr>
              <a:defRPr sz="3150" b="1" i="0">
                <a:solidFill>
                  <a:srgbClr val="16324F"/>
                </a:solidFill>
                <a:latin typeface="Arial"/>
                <a:ea typeface="Arial"/>
                <a:cs typeface="Arial"/>
              </a:defRPr>
            </a:pPr>
            <a:r>
              <a:rPr sz="3150" b="1" i="0">
                <a:solidFill>
                  <a:srgbClr val="16324F"/>
                </a:solidFill>
                <a:latin typeface="Arial"/>
                <a:ea typeface="Arial"/>
                <a:cs typeface="Arial"/>
              </a:rPr>
              <a:t>Le cycle de traitement</a:t>
            </a:r>
          </a:p>
        </p:txBody>
      </p:sp>
      <p:sp>
        <p:nvSpPr>
          <p:cNvPr id="3" name="Rectangle 2">
            <a:extLst>
              <a:ext uri="{FF2B5EF4-FFF2-40B4-BE49-F238E27FC236}">
                <a16:creationId xmlns:a16="http://schemas.microsoft.com/office/drawing/2014/main" id="{220B100F-910B-4C61-8086-9FCCFC327CCE}"/>
              </a:ext>
            </a:extLst>
          </p:cNvPr>
          <p:cNvSpPr>
            <a:spLocks noGrp="1"/>
          </p:cNvSpPr>
          <p:nvPr/>
        </p:nvSpPr>
        <p:spPr>
          <a:xfrm>
            <a:off x="628650" y="2000250"/>
            <a:ext cx="1095375" cy="628650"/>
          </a:xfrm>
          <a:prstGeom prst="rect">
            <a:avLst/>
          </a:prstGeom>
          <a:noFill/>
          <a:ln w="0">
            <a:noFill/>
          </a:ln>
        </p:spPr>
        <p:txBody>
          <a:bodyPr>
            <a:noAutofit/>
          </a:bodyPr>
          <a:lstStyle/>
          <a:p>
            <a:pPr>
              <a:defRPr sz="3300" b="1" i="0">
                <a:solidFill>
                  <a:srgbClr val="E8A62A"/>
                </a:solidFill>
                <a:latin typeface="Arial"/>
                <a:ea typeface="Arial"/>
                <a:cs typeface="Arial"/>
              </a:defRPr>
            </a:pPr>
            <a:r>
              <a:rPr sz="3300" b="1" i="0">
                <a:solidFill>
                  <a:srgbClr val="E8A62A"/>
                </a:solidFill>
                <a:latin typeface="Arial"/>
                <a:ea typeface="Arial"/>
                <a:cs typeface="Arial"/>
              </a:rPr>
              <a:t>01</a:t>
            </a:r>
          </a:p>
        </p:txBody>
      </p:sp>
      <p:sp>
        <p:nvSpPr>
          <p:cNvPr id="4" name="Rectangle 3">
            <a:extLst>
              <a:ext uri="{FF2B5EF4-FFF2-40B4-BE49-F238E27FC236}">
                <a16:creationId xmlns:a16="http://schemas.microsoft.com/office/drawing/2014/main" id="{C0925181-8A24-4CBA-AA20-2FE5DC41214D}"/>
              </a:ext>
            </a:extLst>
          </p:cNvPr>
          <p:cNvSpPr>
            <a:spLocks noGrp="1"/>
          </p:cNvSpPr>
          <p:nvPr/>
        </p:nvSpPr>
        <p:spPr>
          <a:xfrm>
            <a:off x="628650" y="2781300"/>
            <a:ext cx="1857375" cy="952500"/>
          </a:xfrm>
          <a:prstGeom prst="rect">
            <a:avLst/>
          </a:prstGeom>
          <a:noFill/>
          <a:ln w="0">
            <a:noFill/>
          </a:ln>
        </p:spPr>
        <p:txBody>
          <a:bodyPr>
            <a:noAutofit/>
          </a:bodyPr>
          <a:lstStyle/>
          <a:p>
            <a:pPr>
              <a:defRPr sz="1800" b="1" i="0">
                <a:solidFill>
                  <a:srgbClr val="16324F"/>
                </a:solidFill>
                <a:latin typeface="Arial"/>
                <a:ea typeface="Arial"/>
                <a:cs typeface="Arial"/>
              </a:defRPr>
            </a:pPr>
            <a:r>
              <a:rPr sz="1800" b="1" i="0">
                <a:solidFill>
                  <a:srgbClr val="16324F"/>
                </a:solidFill>
                <a:latin typeface="Arial"/>
                <a:ea typeface="Arial"/>
                <a:cs typeface="Arial"/>
              </a:rPr>
              <a:t>Collecter</a:t>
            </a:r>
          </a:p>
          <a:p>
            <a:pPr>
              <a:defRPr sz="1800" b="1" i="0">
                <a:solidFill>
                  <a:srgbClr val="16324F"/>
                </a:solidFill>
                <a:latin typeface="Arial"/>
                <a:ea typeface="Arial"/>
                <a:cs typeface="Arial"/>
              </a:defRPr>
            </a:pPr>
            <a:r>
              <a:rPr sz="1800" b="1" i="0">
                <a:solidFill>
                  <a:srgbClr val="16324F"/>
                </a:solidFill>
                <a:latin typeface="Arial"/>
                <a:ea typeface="Arial"/>
                <a:cs typeface="Arial"/>
              </a:rPr>
              <a:t>et saisir</a:t>
            </a:r>
          </a:p>
        </p:txBody>
      </p:sp>
      <p:sp>
        <p:nvSpPr>
          <p:cNvPr id="5" name="Rectangle 4">
            <a:extLst>
              <a:ext uri="{FF2B5EF4-FFF2-40B4-BE49-F238E27FC236}">
                <a16:creationId xmlns:a16="http://schemas.microsoft.com/office/drawing/2014/main" id="{749F9CAD-6CA9-4021-86C3-2FE08A40F235}"/>
              </a:ext>
            </a:extLst>
          </p:cNvPr>
          <p:cNvSpPr>
            <a:spLocks noGrp="1"/>
          </p:cNvSpPr>
          <p:nvPr/>
        </p:nvSpPr>
        <p:spPr>
          <a:xfrm>
            <a:off x="2924175" y="2000250"/>
            <a:ext cx="1095375" cy="628650"/>
          </a:xfrm>
          <a:prstGeom prst="rect">
            <a:avLst/>
          </a:prstGeom>
          <a:noFill/>
          <a:ln w="0">
            <a:noFill/>
          </a:ln>
        </p:spPr>
        <p:txBody>
          <a:bodyPr>
            <a:noAutofit/>
          </a:bodyPr>
          <a:lstStyle/>
          <a:p>
            <a:pPr>
              <a:defRPr sz="3300" b="1" i="0">
                <a:solidFill>
                  <a:srgbClr val="3F6B4A"/>
                </a:solidFill>
                <a:latin typeface="Arial"/>
                <a:ea typeface="Arial"/>
                <a:cs typeface="Arial"/>
              </a:defRPr>
            </a:pPr>
            <a:r>
              <a:rPr sz="3300" b="1" i="0">
                <a:solidFill>
                  <a:srgbClr val="3F6B4A"/>
                </a:solidFill>
                <a:latin typeface="Arial"/>
                <a:ea typeface="Arial"/>
                <a:cs typeface="Arial"/>
              </a:rPr>
              <a:t>02</a:t>
            </a:r>
          </a:p>
        </p:txBody>
      </p:sp>
      <p:sp>
        <p:nvSpPr>
          <p:cNvPr id="6" name="Rectangle 5">
            <a:extLst>
              <a:ext uri="{FF2B5EF4-FFF2-40B4-BE49-F238E27FC236}">
                <a16:creationId xmlns:a16="http://schemas.microsoft.com/office/drawing/2014/main" id="{E1932D54-0880-4F52-B2D1-0911BCFF395B}"/>
              </a:ext>
            </a:extLst>
          </p:cNvPr>
          <p:cNvSpPr>
            <a:spLocks noGrp="1"/>
          </p:cNvSpPr>
          <p:nvPr/>
        </p:nvSpPr>
        <p:spPr>
          <a:xfrm>
            <a:off x="2924175" y="2781300"/>
            <a:ext cx="1857375" cy="952500"/>
          </a:xfrm>
          <a:prstGeom prst="rect">
            <a:avLst/>
          </a:prstGeom>
          <a:noFill/>
          <a:ln w="0">
            <a:noFill/>
          </a:ln>
        </p:spPr>
        <p:txBody>
          <a:bodyPr>
            <a:noAutofit/>
          </a:bodyPr>
          <a:lstStyle/>
          <a:p>
            <a:pPr>
              <a:defRPr sz="1800" b="1" i="0">
                <a:solidFill>
                  <a:srgbClr val="16324F"/>
                </a:solidFill>
                <a:latin typeface="Arial"/>
                <a:ea typeface="Arial"/>
                <a:cs typeface="Arial"/>
              </a:defRPr>
            </a:pPr>
            <a:r>
              <a:rPr sz="1800" b="1" i="0">
                <a:solidFill>
                  <a:srgbClr val="16324F"/>
                </a:solidFill>
                <a:latin typeface="Arial"/>
                <a:ea typeface="Arial"/>
                <a:cs typeface="Arial"/>
              </a:rPr>
              <a:t>Vérifier</a:t>
            </a:r>
          </a:p>
          <a:p>
            <a:pPr>
              <a:defRPr sz="1800" b="1" i="0">
                <a:solidFill>
                  <a:srgbClr val="16324F"/>
                </a:solidFill>
                <a:latin typeface="Arial"/>
                <a:ea typeface="Arial"/>
                <a:cs typeface="Arial"/>
              </a:defRPr>
            </a:pPr>
            <a:r>
              <a:rPr sz="1800" b="1" i="0">
                <a:solidFill>
                  <a:srgbClr val="16324F"/>
                </a:solidFill>
                <a:latin typeface="Arial"/>
                <a:ea typeface="Arial"/>
                <a:cs typeface="Arial"/>
              </a:rPr>
              <a:t>et contrôler</a:t>
            </a:r>
          </a:p>
        </p:txBody>
      </p:sp>
      <p:sp>
        <p:nvSpPr>
          <p:cNvPr id="7" name="Rectangle 6">
            <a:extLst>
              <a:ext uri="{FF2B5EF4-FFF2-40B4-BE49-F238E27FC236}">
                <a16:creationId xmlns:a16="http://schemas.microsoft.com/office/drawing/2014/main" id="{09F7A801-6CC5-4059-B431-844A6E1F2D5B}"/>
              </a:ext>
            </a:extLst>
          </p:cNvPr>
          <p:cNvSpPr>
            <a:spLocks noGrp="1"/>
          </p:cNvSpPr>
          <p:nvPr/>
        </p:nvSpPr>
        <p:spPr>
          <a:xfrm>
            <a:off x="5219700" y="2000250"/>
            <a:ext cx="1095375" cy="628650"/>
          </a:xfrm>
          <a:prstGeom prst="rect">
            <a:avLst/>
          </a:prstGeom>
          <a:noFill/>
          <a:ln w="0">
            <a:noFill/>
          </a:ln>
        </p:spPr>
        <p:txBody>
          <a:bodyPr>
            <a:noAutofit/>
          </a:bodyPr>
          <a:lstStyle/>
          <a:p>
            <a:pPr>
              <a:defRPr sz="3300" b="1" i="0">
                <a:solidFill>
                  <a:srgbClr val="16324F"/>
                </a:solidFill>
                <a:latin typeface="Arial"/>
                <a:ea typeface="Arial"/>
                <a:cs typeface="Arial"/>
              </a:defRPr>
            </a:pPr>
            <a:r>
              <a:rPr sz="3300" b="1" i="0">
                <a:solidFill>
                  <a:srgbClr val="16324F"/>
                </a:solidFill>
                <a:latin typeface="Arial"/>
                <a:ea typeface="Arial"/>
                <a:cs typeface="Arial"/>
              </a:rPr>
              <a:t>03</a:t>
            </a:r>
          </a:p>
        </p:txBody>
      </p:sp>
      <p:sp>
        <p:nvSpPr>
          <p:cNvPr id="8" name="Rectangle 7">
            <a:extLst>
              <a:ext uri="{FF2B5EF4-FFF2-40B4-BE49-F238E27FC236}">
                <a16:creationId xmlns:a16="http://schemas.microsoft.com/office/drawing/2014/main" id="{6B524027-BD37-4E87-A25F-7DA4A56B6085}"/>
              </a:ext>
            </a:extLst>
          </p:cNvPr>
          <p:cNvSpPr>
            <a:spLocks noGrp="1"/>
          </p:cNvSpPr>
          <p:nvPr/>
        </p:nvSpPr>
        <p:spPr>
          <a:xfrm>
            <a:off x="5219700" y="2781300"/>
            <a:ext cx="1857375" cy="952500"/>
          </a:xfrm>
          <a:prstGeom prst="rect">
            <a:avLst/>
          </a:prstGeom>
          <a:noFill/>
          <a:ln w="0">
            <a:noFill/>
          </a:ln>
        </p:spPr>
        <p:txBody>
          <a:bodyPr>
            <a:noAutofit/>
          </a:bodyPr>
          <a:lstStyle/>
          <a:p>
            <a:pPr>
              <a:defRPr sz="1800" b="1" i="0">
                <a:solidFill>
                  <a:srgbClr val="16324F"/>
                </a:solidFill>
                <a:latin typeface="Arial"/>
                <a:ea typeface="Arial"/>
                <a:cs typeface="Arial"/>
              </a:defRPr>
            </a:pPr>
            <a:r>
              <a:rPr sz="1800" b="1" i="0">
                <a:solidFill>
                  <a:srgbClr val="16324F"/>
                </a:solidFill>
                <a:latin typeface="Arial"/>
                <a:ea typeface="Arial"/>
                <a:cs typeface="Arial"/>
              </a:rPr>
              <a:t>Corriger</a:t>
            </a:r>
          </a:p>
          <a:p>
            <a:pPr>
              <a:defRPr sz="1800" b="1" i="0">
                <a:solidFill>
                  <a:srgbClr val="16324F"/>
                </a:solidFill>
                <a:latin typeface="Arial"/>
                <a:ea typeface="Arial"/>
                <a:cs typeface="Arial"/>
              </a:defRPr>
            </a:pPr>
            <a:r>
              <a:rPr sz="1800" b="1" i="0">
                <a:solidFill>
                  <a:srgbClr val="16324F"/>
                </a:solidFill>
                <a:latin typeface="Arial"/>
                <a:ea typeface="Arial"/>
                <a:cs typeface="Arial"/>
              </a:rPr>
              <a:t>et valider</a:t>
            </a:r>
          </a:p>
        </p:txBody>
      </p:sp>
      <p:sp>
        <p:nvSpPr>
          <p:cNvPr id="9" name="Rectangle 8">
            <a:extLst>
              <a:ext uri="{FF2B5EF4-FFF2-40B4-BE49-F238E27FC236}">
                <a16:creationId xmlns:a16="http://schemas.microsoft.com/office/drawing/2014/main" id="{02273E7B-02DA-48D8-BCAD-91B664976ABB}"/>
              </a:ext>
            </a:extLst>
          </p:cNvPr>
          <p:cNvSpPr>
            <a:spLocks noGrp="1"/>
          </p:cNvSpPr>
          <p:nvPr/>
        </p:nvSpPr>
        <p:spPr>
          <a:xfrm>
            <a:off x="7515225" y="2000250"/>
            <a:ext cx="1095375" cy="628650"/>
          </a:xfrm>
          <a:prstGeom prst="rect">
            <a:avLst/>
          </a:prstGeom>
          <a:noFill/>
          <a:ln w="0">
            <a:noFill/>
          </a:ln>
        </p:spPr>
        <p:txBody>
          <a:bodyPr>
            <a:noAutofit/>
          </a:bodyPr>
          <a:lstStyle/>
          <a:p>
            <a:pPr>
              <a:defRPr sz="3300" b="1" i="0">
                <a:solidFill>
                  <a:srgbClr val="E8A62A"/>
                </a:solidFill>
                <a:latin typeface="Arial"/>
                <a:ea typeface="Arial"/>
                <a:cs typeface="Arial"/>
              </a:defRPr>
            </a:pPr>
            <a:r>
              <a:rPr sz="3300" b="1" i="0">
                <a:solidFill>
                  <a:srgbClr val="E8A62A"/>
                </a:solidFill>
                <a:latin typeface="Arial"/>
                <a:ea typeface="Arial"/>
                <a:cs typeface="Arial"/>
              </a:rPr>
              <a:t>04</a:t>
            </a:r>
          </a:p>
        </p:txBody>
      </p:sp>
      <p:sp>
        <p:nvSpPr>
          <p:cNvPr id="10" name="Rectangle 9">
            <a:extLst>
              <a:ext uri="{FF2B5EF4-FFF2-40B4-BE49-F238E27FC236}">
                <a16:creationId xmlns:a16="http://schemas.microsoft.com/office/drawing/2014/main" id="{285525EF-B66B-4FFD-872A-BD7B8C18EFCF}"/>
              </a:ext>
            </a:extLst>
          </p:cNvPr>
          <p:cNvSpPr>
            <a:spLocks noGrp="1"/>
          </p:cNvSpPr>
          <p:nvPr/>
        </p:nvSpPr>
        <p:spPr>
          <a:xfrm>
            <a:off x="7515225" y="2781300"/>
            <a:ext cx="1857375" cy="952500"/>
          </a:xfrm>
          <a:prstGeom prst="rect">
            <a:avLst/>
          </a:prstGeom>
          <a:noFill/>
          <a:ln w="0">
            <a:noFill/>
          </a:ln>
        </p:spPr>
        <p:txBody>
          <a:bodyPr>
            <a:noAutofit/>
          </a:bodyPr>
          <a:lstStyle/>
          <a:p>
            <a:pPr>
              <a:defRPr sz="1800" b="1" i="0">
                <a:solidFill>
                  <a:srgbClr val="16324F"/>
                </a:solidFill>
                <a:latin typeface="Arial"/>
                <a:ea typeface="Arial"/>
                <a:cs typeface="Arial"/>
              </a:defRPr>
            </a:pPr>
            <a:r>
              <a:rPr sz="1800" b="1" i="0">
                <a:solidFill>
                  <a:srgbClr val="16324F"/>
                </a:solidFill>
                <a:latin typeface="Arial"/>
                <a:ea typeface="Arial"/>
                <a:cs typeface="Arial"/>
              </a:rPr>
              <a:t>Mettre à jour</a:t>
            </a:r>
          </a:p>
          <a:p>
            <a:pPr>
              <a:defRPr sz="1800" b="1" i="0">
                <a:solidFill>
                  <a:srgbClr val="16324F"/>
                </a:solidFill>
                <a:latin typeface="Arial"/>
                <a:ea typeface="Arial"/>
                <a:cs typeface="Arial"/>
              </a:defRPr>
            </a:pPr>
            <a:r>
              <a:rPr sz="1800" b="1" i="0">
                <a:solidFill>
                  <a:srgbClr val="16324F"/>
                </a:solidFill>
                <a:latin typeface="Arial"/>
                <a:ea typeface="Arial"/>
                <a:cs typeface="Arial"/>
              </a:rPr>
              <a:t>et suivre</a:t>
            </a:r>
          </a:p>
        </p:txBody>
      </p:sp>
      <p:sp>
        <p:nvSpPr>
          <p:cNvPr id="11" name="Rectangle 10">
            <a:extLst>
              <a:ext uri="{FF2B5EF4-FFF2-40B4-BE49-F238E27FC236}">
                <a16:creationId xmlns:a16="http://schemas.microsoft.com/office/drawing/2014/main" id="{52ECD835-ECF6-4060-9AB4-AA122865C6F9}"/>
              </a:ext>
            </a:extLst>
          </p:cNvPr>
          <p:cNvSpPr>
            <a:spLocks noGrp="1"/>
          </p:cNvSpPr>
          <p:nvPr/>
        </p:nvSpPr>
        <p:spPr>
          <a:xfrm>
            <a:off x="9810750" y="2000250"/>
            <a:ext cx="1095375" cy="628650"/>
          </a:xfrm>
          <a:prstGeom prst="rect">
            <a:avLst/>
          </a:prstGeom>
          <a:noFill/>
          <a:ln w="0">
            <a:noFill/>
          </a:ln>
        </p:spPr>
        <p:txBody>
          <a:bodyPr>
            <a:noAutofit/>
          </a:bodyPr>
          <a:lstStyle/>
          <a:p>
            <a:pPr>
              <a:defRPr sz="3300" b="1" i="0">
                <a:solidFill>
                  <a:srgbClr val="3F6B4A"/>
                </a:solidFill>
                <a:latin typeface="Arial"/>
                <a:ea typeface="Arial"/>
                <a:cs typeface="Arial"/>
              </a:defRPr>
            </a:pPr>
            <a:r>
              <a:rPr sz="3300" b="1" i="0">
                <a:solidFill>
                  <a:srgbClr val="3F6B4A"/>
                </a:solidFill>
                <a:latin typeface="Arial"/>
                <a:ea typeface="Arial"/>
                <a:cs typeface="Arial"/>
              </a:rPr>
              <a:t>05</a:t>
            </a:r>
          </a:p>
        </p:txBody>
      </p:sp>
      <p:sp>
        <p:nvSpPr>
          <p:cNvPr id="12" name="Rectangle 11">
            <a:extLst>
              <a:ext uri="{FF2B5EF4-FFF2-40B4-BE49-F238E27FC236}">
                <a16:creationId xmlns:a16="http://schemas.microsoft.com/office/drawing/2014/main" id="{C241E27E-3488-4A17-8634-36319133EABB}"/>
              </a:ext>
            </a:extLst>
          </p:cNvPr>
          <p:cNvSpPr>
            <a:spLocks noGrp="1"/>
          </p:cNvSpPr>
          <p:nvPr/>
        </p:nvSpPr>
        <p:spPr>
          <a:xfrm>
            <a:off x="9810750" y="2781300"/>
            <a:ext cx="1857375" cy="952500"/>
          </a:xfrm>
          <a:prstGeom prst="rect">
            <a:avLst/>
          </a:prstGeom>
          <a:noFill/>
          <a:ln w="0">
            <a:noFill/>
          </a:ln>
        </p:spPr>
        <p:txBody>
          <a:bodyPr>
            <a:noAutofit/>
          </a:bodyPr>
          <a:lstStyle/>
          <a:p>
            <a:pPr>
              <a:defRPr sz="1800" b="1" i="0">
                <a:solidFill>
                  <a:srgbClr val="16324F"/>
                </a:solidFill>
                <a:latin typeface="Arial"/>
                <a:ea typeface="Arial"/>
                <a:cs typeface="Arial"/>
              </a:defRPr>
            </a:pPr>
            <a:r>
              <a:rPr sz="1800" b="1" i="0">
                <a:solidFill>
                  <a:srgbClr val="16324F"/>
                </a:solidFill>
                <a:latin typeface="Arial"/>
                <a:ea typeface="Arial"/>
                <a:cs typeface="Arial"/>
              </a:rPr>
              <a:t>Analyser, restituer</a:t>
            </a:r>
          </a:p>
          <a:p>
            <a:pPr>
              <a:defRPr sz="1800" b="1" i="0">
                <a:solidFill>
                  <a:srgbClr val="16324F"/>
                </a:solidFill>
                <a:latin typeface="Arial"/>
                <a:ea typeface="Arial"/>
                <a:cs typeface="Arial"/>
              </a:defRPr>
            </a:pPr>
            <a:r>
              <a:rPr sz="1800" b="1" i="0">
                <a:solidFill>
                  <a:srgbClr val="16324F"/>
                </a:solidFill>
                <a:latin typeface="Arial"/>
                <a:ea typeface="Arial"/>
                <a:cs typeface="Arial"/>
              </a:rPr>
              <a:t>et décider</a:t>
            </a:r>
          </a:p>
        </p:txBody>
      </p:sp>
      <p:sp>
        <p:nvSpPr>
          <p:cNvPr id="13" name="Rectangle 12">
            <a:extLst>
              <a:ext uri="{FF2B5EF4-FFF2-40B4-BE49-F238E27FC236}">
                <a16:creationId xmlns:a16="http://schemas.microsoft.com/office/drawing/2014/main" id="{592E6EE5-272C-4DE7-B385-7AD12B2F422B}"/>
              </a:ext>
            </a:extLst>
          </p:cNvPr>
          <p:cNvSpPr>
            <a:spLocks noGrp="1"/>
          </p:cNvSpPr>
          <p:nvPr/>
        </p:nvSpPr>
        <p:spPr>
          <a:xfrm>
            <a:off x="685800" y="4953000"/>
            <a:ext cx="10820400" cy="552450"/>
          </a:xfrm>
          <a:prstGeom prst="rect">
            <a:avLst/>
          </a:prstGeom>
          <a:noFill/>
          <a:ln w="0">
            <a:noFill/>
          </a:ln>
        </p:spPr>
        <p:txBody>
          <a:bodyPr>
            <a:noAutofit/>
          </a:bodyPr>
          <a:lstStyle/>
          <a:p>
            <a:pPr>
              <a:defRPr sz="2400" b="1" i="0">
                <a:solidFill>
                  <a:srgbClr val="1E2B35"/>
                </a:solidFill>
                <a:latin typeface="Arial"/>
                <a:ea typeface="Arial"/>
                <a:cs typeface="Arial"/>
              </a:defRPr>
            </a:pPr>
            <a:r>
              <a:rPr sz="2400" b="1" i="0">
                <a:solidFill>
                  <a:srgbClr val="1E2B35"/>
                </a:solidFill>
                <a:latin typeface="Arial"/>
                <a:ea typeface="Arial"/>
                <a:cs typeface="Arial"/>
              </a:rPr>
              <a:t>Chaque étape dépend de la qualité de la précédente.</a:t>
            </a:r>
          </a:p>
        </p:txBody>
      </p:sp>
      <p:sp>
        <p:nvSpPr>
          <p:cNvPr id="14" name="Rectangle 13">
            <a:extLst>
              <a:ext uri="{FF2B5EF4-FFF2-40B4-BE49-F238E27FC236}">
                <a16:creationId xmlns:a16="http://schemas.microsoft.com/office/drawing/2014/main" id="{45DB70BC-3DE6-466D-97BA-24C287A0BFA9}"/>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66727C"/>
                </a:solidFill>
                <a:latin typeface="Arial"/>
                <a:ea typeface="Arial"/>
                <a:cs typeface="Arial"/>
              </a:defRPr>
            </a:pPr>
            <a:r>
              <a:rPr sz="1050" b="1" i="0">
                <a:solidFill>
                  <a:srgbClr val="66727C"/>
                </a:solidFill>
                <a:latin typeface="Arial"/>
                <a:ea typeface="Arial"/>
                <a:cs typeface="Arial"/>
              </a:rPr>
              <a:t>03</a:t>
            </a:r>
          </a:p>
        </p:txBody>
      </p:sp>
    </p:spTree>
    <p:extLst>
      <p:ext uri="{BB962C8B-B14F-4D97-AF65-F5344CB8AC3E}">
        <p14:creationId xmlns:p14="http://schemas.microsoft.com/office/powerpoint/2010/main" val="48887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C26799-7E3E-4E26-81E3-6D4264A5F2EB}"/>
              </a:ext>
            </a:extLst>
          </p:cNvPr>
          <p:cNvSpPr>
            <a:spLocks noGrp="1"/>
          </p:cNvSpPr>
          <p:nvPr/>
        </p:nvSpPr>
        <p:spPr>
          <a:xfrm>
            <a:off x="685800" y="400050"/>
            <a:ext cx="10820400" cy="285750"/>
          </a:xfrm>
          <a:prstGeom prst="rect">
            <a:avLst/>
          </a:prstGeom>
          <a:noFill/>
          <a:ln w="0">
            <a:noFill/>
          </a:ln>
        </p:spPr>
        <p:txBody>
          <a:bodyPr>
            <a:noAutofit/>
          </a:bodyPr>
          <a:lstStyle/>
          <a:p>
            <a:pPr>
              <a:defRPr sz="1200" b="1" i="0">
                <a:solidFill>
                  <a:srgbClr val="3F6B4A"/>
                </a:solidFill>
                <a:latin typeface="Arial"/>
                <a:ea typeface="Arial"/>
                <a:cs typeface="Arial"/>
              </a:defRPr>
            </a:pPr>
            <a:r>
              <a:rPr sz="1200" b="1" i="0">
                <a:solidFill>
                  <a:srgbClr val="3F6B4A"/>
                </a:solidFill>
                <a:latin typeface="Arial"/>
                <a:ea typeface="Arial"/>
                <a:cs typeface="Arial"/>
              </a:rPr>
              <a:t>UNE MISSION, DEUX SITUATIONS</a:t>
            </a:r>
          </a:p>
        </p:txBody>
      </p:sp>
      <p:sp>
        <p:nvSpPr>
          <p:cNvPr id="2" name="Rectangle 1">
            <a:extLst>
              <a:ext uri="{FF2B5EF4-FFF2-40B4-BE49-F238E27FC236}">
                <a16:creationId xmlns:a16="http://schemas.microsoft.com/office/drawing/2014/main" id="{B6ACA425-181C-4962-AD80-25CAAC7B4BBB}"/>
              </a:ext>
            </a:extLst>
          </p:cNvPr>
          <p:cNvSpPr>
            <a:spLocks noGrp="1"/>
          </p:cNvSpPr>
          <p:nvPr/>
        </p:nvSpPr>
        <p:spPr>
          <a:xfrm>
            <a:off x="685800" y="742950"/>
            <a:ext cx="10820400" cy="609600"/>
          </a:xfrm>
          <a:prstGeom prst="rect">
            <a:avLst/>
          </a:prstGeom>
          <a:noFill/>
          <a:ln w="0">
            <a:noFill/>
          </a:ln>
        </p:spPr>
        <p:txBody>
          <a:bodyPr>
            <a:noAutofit/>
          </a:bodyPr>
          <a:lstStyle/>
          <a:p>
            <a:pPr>
              <a:defRPr sz="3150" b="1" i="0">
                <a:solidFill>
                  <a:srgbClr val="16324F"/>
                </a:solidFill>
                <a:latin typeface="Arial"/>
                <a:ea typeface="Arial"/>
                <a:cs typeface="Arial"/>
              </a:defRPr>
            </a:pPr>
            <a:r>
              <a:rPr sz="3150" b="1" i="0">
                <a:solidFill>
                  <a:srgbClr val="16324F"/>
                </a:solidFill>
                <a:latin typeface="Arial"/>
                <a:ea typeface="Arial"/>
                <a:cs typeface="Arial"/>
              </a:rPr>
              <a:t>Cas pratique de collecte</a:t>
            </a:r>
          </a:p>
        </p:txBody>
      </p:sp>
      <p:pic>
        <p:nvPicPr>
          <p:cNvPr id="9" name="Image 8"/>
          <p:cNvPicPr>
            <a:picLocks noChangeAspect="1"/>
          </p:cNvPicPr>
          <p:nvPr/>
        </p:nvPicPr>
        <p:blipFill>
          <a:blip r:embed="rId3"/>
          <a:srcRect t="17936" b="17936"/>
          <a:stretch>
            <a:fillRect/>
          </a:stretch>
        </p:blipFill>
        <p:spPr>
          <a:xfrm>
            <a:off x="685800" y="1571625"/>
            <a:ext cx="10820400" cy="3905250"/>
          </a:xfrm>
          <a:prstGeom prst="rect">
            <a:avLst/>
          </a:prstGeom>
        </p:spPr>
      </p:pic>
      <p:sp>
        <p:nvSpPr>
          <p:cNvPr id="4" name="Rectangle 3">
            <a:extLst>
              <a:ext uri="{FF2B5EF4-FFF2-40B4-BE49-F238E27FC236}">
                <a16:creationId xmlns:a16="http://schemas.microsoft.com/office/drawing/2014/main" id="{35F5EDFC-7BCE-41D3-933F-F91C432F4402}"/>
              </a:ext>
            </a:extLst>
          </p:cNvPr>
          <p:cNvSpPr>
            <a:spLocks noGrp="1"/>
          </p:cNvSpPr>
          <p:nvPr/>
        </p:nvSpPr>
        <p:spPr>
          <a:xfrm>
            <a:off x="838200" y="5676900"/>
            <a:ext cx="4667250" cy="400050"/>
          </a:xfrm>
          <a:prstGeom prst="rect">
            <a:avLst/>
          </a:prstGeom>
          <a:noFill/>
          <a:ln w="0">
            <a:noFill/>
          </a:ln>
        </p:spPr>
        <p:txBody>
          <a:bodyPr>
            <a:noAutofit/>
          </a:bodyPr>
          <a:lstStyle/>
          <a:p>
            <a:pPr>
              <a:defRPr sz="1725" b="1" i="0">
                <a:solidFill>
                  <a:srgbClr val="3F6B4A"/>
                </a:solidFill>
                <a:latin typeface="Arial"/>
                <a:ea typeface="Arial"/>
                <a:cs typeface="Arial"/>
              </a:defRPr>
            </a:pPr>
            <a:r>
              <a:rPr sz="1725" b="1" i="0">
                <a:solidFill>
                  <a:srgbClr val="3F6B4A"/>
                </a:solidFill>
                <a:latin typeface="Arial"/>
                <a:ea typeface="Arial"/>
                <a:cs typeface="Arial"/>
              </a:rPr>
              <a:t>Agent 1  •  KOLIKO Group</a:t>
            </a:r>
          </a:p>
        </p:txBody>
      </p:sp>
      <p:sp>
        <p:nvSpPr>
          <p:cNvPr id="5" name="Rectangle 4">
            <a:extLst>
              <a:ext uri="{FF2B5EF4-FFF2-40B4-BE49-F238E27FC236}">
                <a16:creationId xmlns:a16="http://schemas.microsoft.com/office/drawing/2014/main" id="{3B3ED339-E156-45D8-8893-CCCFA87ACA14}"/>
              </a:ext>
            </a:extLst>
          </p:cNvPr>
          <p:cNvSpPr>
            <a:spLocks noGrp="1"/>
          </p:cNvSpPr>
          <p:nvPr/>
        </p:nvSpPr>
        <p:spPr>
          <a:xfrm>
            <a:off x="6619875" y="5676900"/>
            <a:ext cx="4667250" cy="400050"/>
          </a:xfrm>
          <a:prstGeom prst="rect">
            <a:avLst/>
          </a:prstGeom>
          <a:noFill/>
          <a:ln w="0">
            <a:noFill/>
          </a:ln>
        </p:spPr>
        <p:txBody>
          <a:bodyPr>
            <a:noAutofit/>
          </a:bodyPr>
          <a:lstStyle/>
          <a:p>
            <a:pPr>
              <a:defRPr sz="1725" b="1" i="0">
                <a:solidFill>
                  <a:srgbClr val="B24C3D"/>
                </a:solidFill>
                <a:latin typeface="Arial"/>
                <a:ea typeface="Arial"/>
                <a:cs typeface="Arial"/>
              </a:defRPr>
            </a:pPr>
            <a:r>
              <a:rPr sz="1725" b="1" i="0">
                <a:solidFill>
                  <a:srgbClr val="B24C3D"/>
                </a:solidFill>
                <a:latin typeface="Arial"/>
                <a:ea typeface="Arial"/>
                <a:cs typeface="Arial"/>
              </a:rPr>
              <a:t>Agent 2  •  Global MAIS</a:t>
            </a:r>
          </a:p>
        </p:txBody>
      </p:sp>
      <p:sp>
        <p:nvSpPr>
          <p:cNvPr id="6" name="Rectangle 5">
            <a:extLst>
              <a:ext uri="{FF2B5EF4-FFF2-40B4-BE49-F238E27FC236}">
                <a16:creationId xmlns:a16="http://schemas.microsoft.com/office/drawing/2014/main" id="{EB912860-46D7-4544-B56B-7557ACB938FE}"/>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66727C"/>
                </a:solidFill>
                <a:latin typeface="Arial"/>
                <a:ea typeface="Arial"/>
                <a:cs typeface="Arial"/>
              </a:defRPr>
            </a:pPr>
            <a:r>
              <a:rPr sz="1050" b="1" i="0">
                <a:solidFill>
                  <a:srgbClr val="66727C"/>
                </a:solidFill>
                <a:latin typeface="Arial"/>
                <a:ea typeface="Arial"/>
                <a:cs typeface="Arial"/>
              </a:rPr>
              <a:t>04</a:t>
            </a:r>
          </a:p>
        </p:txBody>
      </p:sp>
    </p:spTree>
    <p:extLst>
      <p:ext uri="{BB962C8B-B14F-4D97-AF65-F5344CB8AC3E}">
        <p14:creationId xmlns:p14="http://schemas.microsoft.com/office/powerpoint/2010/main" val="1014230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F2E9"/>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648974-415A-498A-958F-E104422067EE}"/>
              </a:ext>
            </a:extLst>
          </p:cNvPr>
          <p:cNvSpPr>
            <a:spLocks noGrp="1"/>
          </p:cNvSpPr>
          <p:nvPr/>
        </p:nvSpPr>
        <p:spPr>
          <a:xfrm>
            <a:off x="685800" y="400050"/>
            <a:ext cx="10820400" cy="285750"/>
          </a:xfrm>
          <a:prstGeom prst="rect">
            <a:avLst/>
          </a:prstGeom>
          <a:noFill/>
          <a:ln w="0">
            <a:noFill/>
          </a:ln>
        </p:spPr>
        <p:txBody>
          <a:bodyPr>
            <a:noAutofit/>
          </a:bodyPr>
          <a:lstStyle/>
          <a:p>
            <a:pPr>
              <a:defRPr sz="1200" b="1" i="0">
                <a:solidFill>
                  <a:srgbClr val="3F6B4A"/>
                </a:solidFill>
                <a:latin typeface="Arial"/>
                <a:ea typeface="Arial"/>
                <a:cs typeface="Arial"/>
              </a:defRPr>
            </a:pPr>
            <a:r>
              <a:rPr sz="1200" b="1" i="0">
                <a:solidFill>
                  <a:srgbClr val="3F6B4A"/>
                </a:solidFill>
                <a:latin typeface="Arial"/>
                <a:ea typeface="Arial"/>
                <a:cs typeface="Arial"/>
              </a:rPr>
              <a:t>SITUATION A</a:t>
            </a:r>
          </a:p>
        </p:txBody>
      </p:sp>
      <p:sp>
        <p:nvSpPr>
          <p:cNvPr id="2" name="Rectangle 1">
            <a:extLst>
              <a:ext uri="{FF2B5EF4-FFF2-40B4-BE49-F238E27FC236}">
                <a16:creationId xmlns:a16="http://schemas.microsoft.com/office/drawing/2014/main" id="{6ECA0261-17B0-4475-A341-6779341394D7}"/>
              </a:ext>
            </a:extLst>
          </p:cNvPr>
          <p:cNvSpPr>
            <a:spLocks noGrp="1"/>
          </p:cNvSpPr>
          <p:nvPr/>
        </p:nvSpPr>
        <p:spPr>
          <a:xfrm>
            <a:off x="685800" y="742950"/>
            <a:ext cx="10820400" cy="609600"/>
          </a:xfrm>
          <a:prstGeom prst="rect">
            <a:avLst/>
          </a:prstGeom>
          <a:noFill/>
          <a:ln w="0">
            <a:noFill/>
          </a:ln>
        </p:spPr>
        <p:txBody>
          <a:bodyPr>
            <a:noAutofit/>
          </a:bodyPr>
          <a:lstStyle/>
          <a:p>
            <a:pPr>
              <a:defRPr sz="3150" b="1" i="0">
                <a:solidFill>
                  <a:srgbClr val="16324F"/>
                </a:solidFill>
                <a:latin typeface="Arial"/>
                <a:ea typeface="Arial"/>
                <a:cs typeface="Arial"/>
              </a:defRPr>
            </a:pPr>
            <a:r>
              <a:rPr sz="3150" b="1" i="0">
                <a:solidFill>
                  <a:srgbClr val="16324F"/>
                </a:solidFill>
                <a:latin typeface="Arial"/>
                <a:ea typeface="Arial"/>
                <a:cs typeface="Arial"/>
              </a:rPr>
              <a:t>Collecte complète chez KOLIKO Group</a:t>
            </a:r>
          </a:p>
        </p:txBody>
      </p:sp>
      <p:sp>
        <p:nvSpPr>
          <p:cNvPr id="3" name="Rectangle 2">
            <a:extLst>
              <a:ext uri="{FF2B5EF4-FFF2-40B4-BE49-F238E27FC236}">
                <a16:creationId xmlns:a16="http://schemas.microsoft.com/office/drawing/2014/main" id="{FAD7E9DA-E7AB-45A5-ADE1-72E285393040}"/>
              </a:ext>
            </a:extLst>
          </p:cNvPr>
          <p:cNvSpPr>
            <a:spLocks noGrp="1"/>
          </p:cNvSpPr>
          <p:nvPr/>
        </p:nvSpPr>
        <p:spPr>
          <a:xfrm>
            <a:off x="809625" y="1790700"/>
            <a:ext cx="1238250" cy="1190625"/>
          </a:xfrm>
          <a:prstGeom prst="rect">
            <a:avLst/>
          </a:prstGeom>
          <a:noFill/>
          <a:ln w="0">
            <a:noFill/>
          </a:ln>
        </p:spPr>
        <p:txBody>
          <a:bodyPr>
            <a:noAutofit/>
          </a:bodyPr>
          <a:lstStyle/>
          <a:p>
            <a:pPr>
              <a:defRPr sz="6600" b="1" i="0">
                <a:solidFill>
                  <a:srgbClr val="3F6B4A"/>
                </a:solidFill>
                <a:latin typeface="Arial"/>
                <a:ea typeface="Arial"/>
                <a:cs typeface="Arial"/>
              </a:defRPr>
            </a:pPr>
            <a:r>
              <a:rPr sz="6600" b="1" i="0">
                <a:solidFill>
                  <a:srgbClr val="3F6B4A"/>
                </a:solidFill>
                <a:latin typeface="Arial"/>
                <a:ea typeface="Arial"/>
                <a:cs typeface="Arial"/>
              </a:rPr>
              <a:t>✓</a:t>
            </a:r>
          </a:p>
        </p:txBody>
      </p:sp>
      <p:sp>
        <p:nvSpPr>
          <p:cNvPr id="4" name="Rectangle 3">
            <a:extLst>
              <a:ext uri="{FF2B5EF4-FFF2-40B4-BE49-F238E27FC236}">
                <a16:creationId xmlns:a16="http://schemas.microsoft.com/office/drawing/2014/main" id="{E8824989-EE35-4B35-82AF-1866826AEA58}"/>
              </a:ext>
            </a:extLst>
          </p:cNvPr>
          <p:cNvSpPr>
            <a:spLocks noGrp="1"/>
          </p:cNvSpPr>
          <p:nvPr/>
        </p:nvSpPr>
        <p:spPr>
          <a:xfrm>
            <a:off x="2333625" y="1714500"/>
            <a:ext cx="8572500" cy="3143250"/>
          </a:xfrm>
          <a:prstGeom prst="rect">
            <a:avLst/>
          </a:prstGeom>
          <a:noFill/>
          <a:ln w="0">
            <a:noFill/>
          </a:ln>
        </p:spPr>
        <p:txBody>
          <a:bodyPr>
            <a:noAutofit/>
          </a:bodyPr>
          <a:lstStyle/>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Entreprise et déclarant correctement identifiés</a:t>
            </a:r>
          </a:p>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Activités, produits, contacts et marchés renseignés</a:t>
            </a:r>
          </a:p>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Certification : référentiel, organisme, numéro, dates et portée</a:t>
            </a:r>
          </a:p>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Preuves jointes, consentement et observations complétés</a:t>
            </a:r>
          </a:p>
        </p:txBody>
      </p:sp>
      <p:sp>
        <p:nvSpPr>
          <p:cNvPr id="5" name="Rectangle 4">
            <a:extLst>
              <a:ext uri="{FF2B5EF4-FFF2-40B4-BE49-F238E27FC236}">
                <a16:creationId xmlns:a16="http://schemas.microsoft.com/office/drawing/2014/main" id="{1F84F37F-70FB-4C8A-90A6-6B2776F82915}"/>
              </a:ext>
            </a:extLst>
          </p:cNvPr>
          <p:cNvSpPr>
            <a:spLocks noGrp="1"/>
          </p:cNvSpPr>
          <p:nvPr/>
        </p:nvSpPr>
        <p:spPr>
          <a:xfrm>
            <a:off x="2333625" y="5095875"/>
            <a:ext cx="8572500" cy="590550"/>
          </a:xfrm>
          <a:prstGeom prst="rect">
            <a:avLst/>
          </a:prstGeom>
          <a:noFill/>
          <a:ln w="0">
            <a:noFill/>
          </a:ln>
        </p:spPr>
        <p:txBody>
          <a:bodyPr>
            <a:noAutofit/>
          </a:bodyPr>
          <a:lstStyle/>
          <a:p>
            <a:pPr>
              <a:defRPr sz="2175" b="1" i="0">
                <a:solidFill>
                  <a:srgbClr val="3F6B4A"/>
                </a:solidFill>
                <a:latin typeface="Arial"/>
                <a:ea typeface="Arial"/>
                <a:cs typeface="Arial"/>
              </a:defRPr>
            </a:pPr>
            <a:r>
              <a:rPr sz="2175" b="1" i="0">
                <a:solidFill>
                  <a:srgbClr val="3F6B4A"/>
                </a:solidFill>
                <a:latin typeface="Arial"/>
                <a:ea typeface="Arial"/>
                <a:cs typeface="Arial"/>
              </a:rPr>
              <a:t>Résultat : le dossier peut passer à l’étape de vérification.</a:t>
            </a:r>
          </a:p>
        </p:txBody>
      </p:sp>
      <p:sp>
        <p:nvSpPr>
          <p:cNvPr id="6" name="Rectangle 5">
            <a:extLst>
              <a:ext uri="{FF2B5EF4-FFF2-40B4-BE49-F238E27FC236}">
                <a16:creationId xmlns:a16="http://schemas.microsoft.com/office/drawing/2014/main" id="{BCA7440E-0474-4D36-A907-C87C3A7BB713}"/>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66727C"/>
                </a:solidFill>
                <a:latin typeface="Arial"/>
                <a:ea typeface="Arial"/>
                <a:cs typeface="Arial"/>
              </a:defRPr>
            </a:pPr>
            <a:r>
              <a:rPr sz="1050" b="1" i="0">
                <a:solidFill>
                  <a:srgbClr val="66727C"/>
                </a:solidFill>
                <a:latin typeface="Arial"/>
                <a:ea typeface="Arial"/>
                <a:cs typeface="Arial"/>
              </a:rPr>
              <a:t>05</a:t>
            </a:r>
          </a:p>
        </p:txBody>
      </p:sp>
    </p:spTree>
    <p:extLst>
      <p:ext uri="{BB962C8B-B14F-4D97-AF65-F5344CB8AC3E}">
        <p14:creationId xmlns:p14="http://schemas.microsoft.com/office/powerpoint/2010/main" val="1416296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E8E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6BD57E-3BCB-4333-ACE5-06AD5E8EDC23}"/>
              </a:ext>
            </a:extLst>
          </p:cNvPr>
          <p:cNvSpPr>
            <a:spLocks noGrp="1"/>
          </p:cNvSpPr>
          <p:nvPr/>
        </p:nvSpPr>
        <p:spPr>
          <a:xfrm>
            <a:off x="685800" y="400050"/>
            <a:ext cx="10820400" cy="285750"/>
          </a:xfrm>
          <a:prstGeom prst="rect">
            <a:avLst/>
          </a:prstGeom>
          <a:noFill/>
          <a:ln w="0">
            <a:noFill/>
          </a:ln>
        </p:spPr>
        <p:txBody>
          <a:bodyPr>
            <a:noAutofit/>
          </a:bodyPr>
          <a:lstStyle/>
          <a:p>
            <a:pPr>
              <a:defRPr sz="1200" b="1" i="0">
                <a:solidFill>
                  <a:srgbClr val="3F6B4A"/>
                </a:solidFill>
                <a:latin typeface="Arial"/>
                <a:ea typeface="Arial"/>
                <a:cs typeface="Arial"/>
              </a:defRPr>
            </a:pPr>
            <a:r>
              <a:rPr sz="1200" b="1" i="0">
                <a:solidFill>
                  <a:srgbClr val="3F6B4A"/>
                </a:solidFill>
                <a:latin typeface="Arial"/>
                <a:ea typeface="Arial"/>
                <a:cs typeface="Arial"/>
              </a:rPr>
              <a:t>SITUATION B</a:t>
            </a:r>
          </a:p>
        </p:txBody>
      </p:sp>
      <p:sp>
        <p:nvSpPr>
          <p:cNvPr id="2" name="Rectangle 1">
            <a:extLst>
              <a:ext uri="{FF2B5EF4-FFF2-40B4-BE49-F238E27FC236}">
                <a16:creationId xmlns:a16="http://schemas.microsoft.com/office/drawing/2014/main" id="{4671AF4E-7D14-449D-AF05-9381EEDFB7C6}"/>
              </a:ext>
            </a:extLst>
          </p:cNvPr>
          <p:cNvSpPr>
            <a:spLocks noGrp="1"/>
          </p:cNvSpPr>
          <p:nvPr/>
        </p:nvSpPr>
        <p:spPr>
          <a:xfrm>
            <a:off x="685800" y="742950"/>
            <a:ext cx="10820400" cy="609600"/>
          </a:xfrm>
          <a:prstGeom prst="rect">
            <a:avLst/>
          </a:prstGeom>
          <a:noFill/>
          <a:ln w="0">
            <a:noFill/>
          </a:ln>
        </p:spPr>
        <p:txBody>
          <a:bodyPr>
            <a:noAutofit/>
          </a:bodyPr>
          <a:lstStyle/>
          <a:p>
            <a:pPr>
              <a:defRPr sz="3150" b="1" i="0">
                <a:solidFill>
                  <a:srgbClr val="16324F"/>
                </a:solidFill>
                <a:latin typeface="Arial"/>
                <a:ea typeface="Arial"/>
                <a:cs typeface="Arial"/>
              </a:defRPr>
            </a:pPr>
            <a:r>
              <a:rPr sz="3150" b="1" i="0">
                <a:solidFill>
                  <a:srgbClr val="16324F"/>
                </a:solidFill>
                <a:latin typeface="Arial"/>
                <a:ea typeface="Arial"/>
                <a:cs typeface="Arial"/>
              </a:rPr>
              <a:t>Informations insuffisantes chez Global MAIS</a:t>
            </a:r>
          </a:p>
        </p:txBody>
      </p:sp>
      <p:sp>
        <p:nvSpPr>
          <p:cNvPr id="3" name="Rectangle 2">
            <a:extLst>
              <a:ext uri="{FF2B5EF4-FFF2-40B4-BE49-F238E27FC236}">
                <a16:creationId xmlns:a16="http://schemas.microsoft.com/office/drawing/2014/main" id="{5A70B789-FF4E-489B-8E20-89FE8CFF2548}"/>
              </a:ext>
            </a:extLst>
          </p:cNvPr>
          <p:cNvSpPr>
            <a:spLocks noGrp="1"/>
          </p:cNvSpPr>
          <p:nvPr/>
        </p:nvSpPr>
        <p:spPr>
          <a:xfrm>
            <a:off x="1000125" y="1781175"/>
            <a:ext cx="952500" cy="1190625"/>
          </a:xfrm>
          <a:prstGeom prst="rect">
            <a:avLst/>
          </a:prstGeom>
          <a:noFill/>
          <a:ln w="0">
            <a:noFill/>
          </a:ln>
        </p:spPr>
        <p:txBody>
          <a:bodyPr>
            <a:noAutofit/>
          </a:bodyPr>
          <a:lstStyle/>
          <a:p>
            <a:pPr>
              <a:defRPr sz="6600" b="1" i="0">
                <a:solidFill>
                  <a:srgbClr val="B24C3D"/>
                </a:solidFill>
                <a:latin typeface="Arial"/>
                <a:ea typeface="Arial"/>
                <a:cs typeface="Arial"/>
              </a:defRPr>
            </a:pPr>
            <a:r>
              <a:rPr sz="6600" b="1" i="0">
                <a:solidFill>
                  <a:srgbClr val="B24C3D"/>
                </a:solidFill>
                <a:latin typeface="Arial"/>
                <a:ea typeface="Arial"/>
                <a:cs typeface="Arial"/>
              </a:rPr>
              <a:t>!</a:t>
            </a:r>
          </a:p>
        </p:txBody>
      </p:sp>
      <p:sp>
        <p:nvSpPr>
          <p:cNvPr id="4" name="Rectangle 3">
            <a:extLst>
              <a:ext uri="{FF2B5EF4-FFF2-40B4-BE49-F238E27FC236}">
                <a16:creationId xmlns:a16="http://schemas.microsoft.com/office/drawing/2014/main" id="{D4789874-7849-4D12-992B-DC3A90EC092F}"/>
              </a:ext>
            </a:extLst>
          </p:cNvPr>
          <p:cNvSpPr>
            <a:spLocks noGrp="1"/>
          </p:cNvSpPr>
          <p:nvPr/>
        </p:nvSpPr>
        <p:spPr>
          <a:xfrm>
            <a:off x="2333625" y="1676400"/>
            <a:ext cx="8572500" cy="3238500"/>
          </a:xfrm>
          <a:prstGeom prst="rect">
            <a:avLst/>
          </a:prstGeom>
          <a:noFill/>
          <a:ln w="0">
            <a:noFill/>
          </a:ln>
        </p:spPr>
        <p:txBody>
          <a:bodyPr>
            <a:noAutofit/>
          </a:bodyPr>
          <a:lstStyle/>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Informations sur l’entreprise correctement collectées</a:t>
            </a:r>
          </a:p>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Preuves de certification disponibles et exploitables</a:t>
            </a:r>
          </a:p>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Informations du déclarant non renseignées</a:t>
            </a:r>
          </a:p>
          <a:p>
            <a:pPr marL="279400" indent="-127000">
              <a:spcAft>
                <a:spcPts val="1600"/>
              </a:spcAft>
              <a:buChar char="•"/>
              <a:defRPr sz="1875">
                <a:solidFill>
                  <a:srgbClr val="1E2B35"/>
                </a:solidFill>
                <a:latin typeface="Arial"/>
                <a:ea typeface="Arial"/>
                <a:cs typeface="Arial"/>
              </a:defRPr>
            </a:pPr>
            <a:r>
              <a:rPr sz="1875">
                <a:solidFill>
                  <a:srgbClr val="1E2B35"/>
                </a:solidFill>
                <a:latin typeface="Arial"/>
                <a:ea typeface="Arial"/>
                <a:cs typeface="Arial"/>
              </a:rPr>
              <a:t>Seul le numéro de téléphone du déclarant est disponible</a:t>
            </a:r>
          </a:p>
        </p:txBody>
      </p:sp>
      <p:sp>
        <p:nvSpPr>
          <p:cNvPr id="5" name="Rectangle 4">
            <a:extLst>
              <a:ext uri="{FF2B5EF4-FFF2-40B4-BE49-F238E27FC236}">
                <a16:creationId xmlns:a16="http://schemas.microsoft.com/office/drawing/2014/main" id="{A779FED5-AEBF-4996-AC68-22A4F529CCBD}"/>
              </a:ext>
            </a:extLst>
          </p:cNvPr>
          <p:cNvSpPr>
            <a:spLocks noGrp="1"/>
          </p:cNvSpPr>
          <p:nvPr/>
        </p:nvSpPr>
        <p:spPr>
          <a:xfrm>
            <a:off x="2333625" y="5095875"/>
            <a:ext cx="8572500" cy="590550"/>
          </a:xfrm>
          <a:prstGeom prst="rect">
            <a:avLst/>
          </a:prstGeom>
          <a:noFill/>
          <a:ln w="0">
            <a:noFill/>
          </a:ln>
        </p:spPr>
        <p:txBody>
          <a:bodyPr>
            <a:noAutofit/>
          </a:bodyPr>
          <a:lstStyle/>
          <a:p>
            <a:pPr>
              <a:defRPr sz="2175" b="1" i="0">
                <a:solidFill>
                  <a:srgbClr val="B24C3D"/>
                </a:solidFill>
                <a:latin typeface="Arial"/>
                <a:ea typeface="Arial"/>
                <a:cs typeface="Arial"/>
              </a:defRPr>
            </a:pPr>
            <a:r>
              <a:rPr sz="2175" b="1" i="0">
                <a:solidFill>
                  <a:srgbClr val="B24C3D"/>
                </a:solidFill>
                <a:latin typeface="Arial"/>
                <a:ea typeface="Arial"/>
                <a:cs typeface="Arial"/>
              </a:rPr>
              <a:t>Résultat : compléter la fiche du déclarant avant validation.</a:t>
            </a:r>
          </a:p>
        </p:txBody>
      </p:sp>
      <p:sp>
        <p:nvSpPr>
          <p:cNvPr id="6" name="Rectangle 5">
            <a:extLst>
              <a:ext uri="{FF2B5EF4-FFF2-40B4-BE49-F238E27FC236}">
                <a16:creationId xmlns:a16="http://schemas.microsoft.com/office/drawing/2014/main" id="{10D20BE4-14AE-4401-A67D-1DEA2E718C93}"/>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66727C"/>
                </a:solidFill>
                <a:latin typeface="Arial"/>
                <a:ea typeface="Arial"/>
                <a:cs typeface="Arial"/>
              </a:defRPr>
            </a:pPr>
            <a:r>
              <a:rPr sz="1050" b="1" i="0">
                <a:solidFill>
                  <a:srgbClr val="66727C"/>
                </a:solidFill>
                <a:latin typeface="Arial"/>
                <a:ea typeface="Arial"/>
                <a:cs typeface="Arial"/>
              </a:rPr>
              <a:t>06</a:t>
            </a:r>
          </a:p>
        </p:txBody>
      </p:sp>
    </p:spTree>
    <p:extLst>
      <p:ext uri="{BB962C8B-B14F-4D97-AF65-F5344CB8AC3E}">
        <p14:creationId xmlns:p14="http://schemas.microsoft.com/office/powerpoint/2010/main" val="465354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14B874-8D7A-480C-8E79-2308559BA193}"/>
              </a:ext>
            </a:extLst>
          </p:cNvPr>
          <p:cNvSpPr>
            <a:spLocks noGrp="1"/>
          </p:cNvSpPr>
          <p:nvPr/>
        </p:nvSpPr>
        <p:spPr>
          <a:xfrm>
            <a:off x="685800" y="457200"/>
            <a:ext cx="5715000" cy="285750"/>
          </a:xfrm>
          <a:prstGeom prst="rect">
            <a:avLst/>
          </a:prstGeom>
          <a:noFill/>
          <a:ln w="0">
            <a:noFill/>
          </a:ln>
        </p:spPr>
        <p:txBody>
          <a:bodyPr>
            <a:noAutofit/>
          </a:bodyPr>
          <a:lstStyle/>
          <a:p>
            <a:pPr>
              <a:defRPr sz="1200" b="1" i="0">
                <a:solidFill>
                  <a:srgbClr val="E8A62A"/>
                </a:solidFill>
                <a:latin typeface="Arial"/>
                <a:ea typeface="Arial"/>
                <a:cs typeface="Arial"/>
              </a:defRPr>
            </a:pPr>
            <a:r>
              <a:rPr sz="1200" b="1" i="0">
                <a:solidFill>
                  <a:srgbClr val="E8A62A"/>
                </a:solidFill>
                <a:latin typeface="Arial"/>
                <a:ea typeface="Arial"/>
                <a:cs typeface="Arial"/>
              </a:rPr>
              <a:t>DÉBRIEF DU CAS PRATIQUE</a:t>
            </a:r>
          </a:p>
        </p:txBody>
      </p:sp>
      <p:sp>
        <p:nvSpPr>
          <p:cNvPr id="2" name="Rectangle 1">
            <a:extLst>
              <a:ext uri="{FF2B5EF4-FFF2-40B4-BE49-F238E27FC236}">
                <a16:creationId xmlns:a16="http://schemas.microsoft.com/office/drawing/2014/main" id="{B86EB80E-D672-416F-82DF-48A8AFA649C9}"/>
              </a:ext>
            </a:extLst>
          </p:cNvPr>
          <p:cNvSpPr>
            <a:spLocks noGrp="1"/>
          </p:cNvSpPr>
          <p:nvPr/>
        </p:nvSpPr>
        <p:spPr>
          <a:xfrm>
            <a:off x="685800" y="857250"/>
            <a:ext cx="10001250" cy="619125"/>
          </a:xfrm>
          <a:prstGeom prst="rect">
            <a:avLst/>
          </a:prstGeom>
          <a:noFill/>
          <a:ln w="0">
            <a:noFill/>
          </a:ln>
        </p:spPr>
        <p:txBody>
          <a:bodyPr>
            <a:noAutofit/>
          </a:bodyPr>
          <a:lstStyle/>
          <a:p>
            <a:pPr>
              <a:defRPr sz="3300" b="1" i="0">
                <a:solidFill>
                  <a:srgbClr val="FFFFFF"/>
                </a:solidFill>
                <a:latin typeface="Arial"/>
                <a:ea typeface="Arial"/>
                <a:cs typeface="Arial"/>
              </a:defRPr>
            </a:pPr>
            <a:r>
              <a:rPr sz="3300" b="1" i="0">
                <a:solidFill>
                  <a:srgbClr val="FFFFFF"/>
                </a:solidFill>
                <a:latin typeface="Arial"/>
                <a:ea typeface="Arial"/>
                <a:cs typeface="Arial"/>
              </a:rPr>
              <a:t>Qu’allons-nous décider ?</a:t>
            </a:r>
          </a:p>
        </p:txBody>
      </p:sp>
      <p:sp>
        <p:nvSpPr>
          <p:cNvPr id="3" name="Rectangle 2">
            <a:extLst>
              <a:ext uri="{FF2B5EF4-FFF2-40B4-BE49-F238E27FC236}">
                <a16:creationId xmlns:a16="http://schemas.microsoft.com/office/drawing/2014/main" id="{A013384A-2711-40D9-9469-366A1B7DD0ED}"/>
              </a:ext>
            </a:extLst>
          </p:cNvPr>
          <p:cNvSpPr>
            <a:spLocks noGrp="1"/>
          </p:cNvSpPr>
          <p:nvPr/>
        </p:nvSpPr>
        <p:spPr>
          <a:xfrm>
            <a:off x="781050" y="1952625"/>
            <a:ext cx="10096500" cy="2857500"/>
          </a:xfrm>
          <a:prstGeom prst="rect">
            <a:avLst/>
          </a:prstGeom>
          <a:noFill/>
          <a:ln w="0">
            <a:noFill/>
          </a:ln>
        </p:spPr>
        <p:txBody>
          <a:bodyPr>
            <a:noAutofit/>
          </a:bodyPr>
          <a:lstStyle/>
          <a:p>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informations peut-on saisir immédiatement ?</a:t>
            </a:r>
          </a:p>
          <a:p>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preuves permettent d’engager le contrôle ?</a:t>
            </a:r>
          </a:p>
          <a:p>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Quelles informations faut-il demander au déclarant ?</a:t>
            </a:r>
          </a:p>
          <a:p>
            <a:pPr marL="279400" indent="-127000">
              <a:spcAft>
                <a:spcPts val="1800"/>
              </a:spcAft>
              <a:buChar char="•"/>
              <a:defRPr sz="2025">
                <a:solidFill>
                  <a:srgbClr val="FFFFFF"/>
                </a:solidFill>
                <a:latin typeface="Arial"/>
                <a:ea typeface="Arial"/>
                <a:cs typeface="Arial"/>
              </a:defRPr>
            </a:pPr>
            <a:r>
              <a:rPr sz="2025">
                <a:solidFill>
                  <a:srgbClr val="FFFFFF"/>
                </a:solidFill>
                <a:latin typeface="Arial"/>
                <a:ea typeface="Arial"/>
                <a:cs typeface="Arial"/>
              </a:rPr>
              <a:t>Quelle est la prochaine action et qui en est responsable ?</a:t>
            </a:r>
          </a:p>
        </p:txBody>
      </p:sp>
      <p:sp>
        <p:nvSpPr>
          <p:cNvPr id="4" name="Rectangle 3">
            <a:extLst>
              <a:ext uri="{FF2B5EF4-FFF2-40B4-BE49-F238E27FC236}">
                <a16:creationId xmlns:a16="http://schemas.microsoft.com/office/drawing/2014/main" id="{47570F13-3C26-4F31-AB95-5637176EF509}"/>
              </a:ext>
            </a:extLst>
          </p:cNvPr>
          <p:cNvSpPr>
            <a:spLocks noGrp="1"/>
          </p:cNvSpPr>
          <p:nvPr/>
        </p:nvSpPr>
        <p:spPr>
          <a:xfrm>
            <a:off x="781050" y="5191125"/>
            <a:ext cx="9525000" cy="838200"/>
          </a:xfrm>
          <a:prstGeom prst="rect">
            <a:avLst/>
          </a:prstGeom>
          <a:noFill/>
          <a:ln w="0">
            <a:noFill/>
          </a:ln>
        </p:spPr>
        <p:txBody>
          <a:bodyPr>
            <a:noAutofit/>
          </a:bodyPr>
          <a:lstStyle/>
          <a:p>
            <a:pPr>
              <a:defRPr sz="2250" b="1" i="0">
                <a:solidFill>
                  <a:srgbClr val="E8A62A"/>
                </a:solidFill>
                <a:latin typeface="Arial"/>
                <a:ea typeface="Arial"/>
                <a:cs typeface="Arial"/>
              </a:defRPr>
            </a:pPr>
            <a:r>
              <a:rPr sz="2250" b="1" i="0">
                <a:solidFill>
                  <a:srgbClr val="E8A62A"/>
                </a:solidFill>
                <a:latin typeface="Arial"/>
                <a:ea typeface="Arial"/>
                <a:cs typeface="Arial"/>
              </a:rPr>
              <a:t>Une donnée complète dès la collecte réduit les corrections</a:t>
            </a:r>
          </a:p>
          <a:p>
            <a:pPr>
              <a:defRPr sz="2250" b="1" i="0">
                <a:solidFill>
                  <a:srgbClr val="E8A62A"/>
                </a:solidFill>
                <a:latin typeface="Arial"/>
                <a:ea typeface="Arial"/>
                <a:cs typeface="Arial"/>
              </a:defRPr>
            </a:pPr>
            <a:r>
              <a:rPr sz="2250" b="1" i="0">
                <a:solidFill>
                  <a:srgbClr val="E8A62A"/>
                </a:solidFill>
                <a:latin typeface="Arial"/>
                <a:ea typeface="Arial"/>
                <a:cs typeface="Arial"/>
              </a:rPr>
              <a:t>et sécurise tout le traitement.</a:t>
            </a:r>
          </a:p>
        </p:txBody>
      </p:sp>
      <p:sp>
        <p:nvSpPr>
          <p:cNvPr id="5" name="Rectangle 4">
            <a:extLst>
              <a:ext uri="{FF2B5EF4-FFF2-40B4-BE49-F238E27FC236}">
                <a16:creationId xmlns:a16="http://schemas.microsoft.com/office/drawing/2014/main" id="{63ADBD25-0121-43A9-B599-098A61784B38}"/>
              </a:ext>
            </a:extLst>
          </p:cNvPr>
          <p:cNvSpPr>
            <a:spLocks noGrp="1"/>
          </p:cNvSpPr>
          <p:nvPr/>
        </p:nvSpPr>
        <p:spPr>
          <a:xfrm>
            <a:off x="11049000" y="6315075"/>
            <a:ext cx="514350" cy="228600"/>
          </a:xfrm>
          <a:prstGeom prst="rect">
            <a:avLst/>
          </a:prstGeom>
          <a:noFill/>
          <a:ln w="0">
            <a:noFill/>
          </a:ln>
        </p:spPr>
        <p:txBody>
          <a:bodyPr>
            <a:noAutofit/>
          </a:bodyPr>
          <a:lstStyle/>
          <a:p>
            <a:pPr>
              <a:defRPr sz="1050" b="1" i="0">
                <a:solidFill>
                  <a:srgbClr val="D9E3EA"/>
                </a:solidFill>
                <a:latin typeface="Arial"/>
                <a:ea typeface="Arial"/>
                <a:cs typeface="Arial"/>
              </a:defRPr>
            </a:pPr>
            <a:r>
              <a:rPr sz="1050" b="1" i="0">
                <a:solidFill>
                  <a:srgbClr val="D9E3EA"/>
                </a:solidFill>
                <a:latin typeface="Arial"/>
                <a:ea typeface="Arial"/>
                <a:cs typeface="Arial"/>
              </a:rPr>
              <a:t>07</a:t>
            </a:r>
          </a:p>
        </p:txBody>
      </p:sp>
    </p:spTree>
    <p:extLst>
      <p:ext uri="{BB962C8B-B14F-4D97-AF65-F5344CB8AC3E}">
        <p14:creationId xmlns:p14="http://schemas.microsoft.com/office/powerpoint/2010/main" val="1619813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711</Words>
  <Application>Microsoft Office PowerPoint</Application>
  <DocSecurity>0</DocSecurity>
  <PresentationFormat>Grand écran</PresentationFormat>
  <Paragraphs>92</Paragraphs>
  <Slides>9</Slides>
  <Notes>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9</vt:i4>
      </vt:variant>
    </vt:vector>
  </HeadingPairs>
  <TitlesOfParts>
    <vt:vector size="12" baseType="lpstr">
      <vt:lpstr>Aptos</vt:lpstr>
      <vt:lpstr>Arial</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Logan Wolverine</cp:lastModifiedBy>
  <cp:revision>2</cp:revision>
  <dcterms:created xsi:type="dcterms:W3CDTF">2026-09-23T00:46:14Z</dcterms:created>
  <dcterms:modified xsi:type="dcterms:W3CDTF">2026-09-23T08:29:38Z</dcterms:modified>
</cp:coreProperties>
</file>