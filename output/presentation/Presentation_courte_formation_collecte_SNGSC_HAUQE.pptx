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dba222e3454b6a" /><Relationship Type="http://schemas.openxmlformats.org/officeDocument/2006/relationships/extended-properties" Target="/docProps/app.xml" Id="Raba09ffc3f4144be" /><Relationship Type="http://schemas.openxmlformats.org/officeDocument/2006/relationships/officeDocument" Target="/ppt/presentation.xml" Id="Re711fd98013d49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d8ad1ad65e4e96"/>
  </p:sldMasterIdLst>
  <p:notesMasterIdLst>
    <p:notesMasterId xmlns:r="http://schemas.openxmlformats.org/officeDocument/2006/relationships" r:id="R91ae30af69c94829"/>
  </p:notesMasterIdLst>
  <p:sldIdLst>
    <p:sldId xmlns:r="http://schemas.openxmlformats.org/officeDocument/2006/relationships" id="256" r:id="Rc663c19041c7402b"/>
    <p:sldId xmlns:r="http://schemas.openxmlformats.org/officeDocument/2006/relationships" id="257" r:id="R5e6cd8f2c794405f"/>
    <p:sldId xmlns:r="http://schemas.openxmlformats.org/officeDocument/2006/relationships" id="258" r:id="R1955d4c0b9624346"/>
    <p:sldId xmlns:r="http://schemas.openxmlformats.org/officeDocument/2006/relationships" id="259" r:id="R7b249cd0bdfa4c4f"/>
    <p:sldId xmlns:r="http://schemas.openxmlformats.org/officeDocument/2006/relationships" id="260" r:id="Rc073f815716b467f"/>
    <p:sldId xmlns:r="http://schemas.openxmlformats.org/officeDocument/2006/relationships" id="261" r:id="Refd5ae9882064d17"/>
    <p:sldId xmlns:r="http://schemas.openxmlformats.org/officeDocument/2006/relationships" id="262" r:id="R14450cac98c746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a52f5f602940fb" /><Relationship Type="http://schemas.openxmlformats.org/officeDocument/2006/relationships/slideMaster" Target="/ppt/slideMasters/slideMaster1.xml" Id="Rcfd8ad1ad65e4e96" /><Relationship Type="http://schemas.openxmlformats.org/officeDocument/2006/relationships/notesMaster" Target="/ppt/notesMasters/notesMaster1.xml" Id="R91ae30af69c94829" /><Relationship Type="http://schemas.openxmlformats.org/officeDocument/2006/relationships/presProps" Target="/ppt/presProps.xml" Id="R4ee4b199c47c46d5" /><Relationship Type="http://schemas.openxmlformats.org/officeDocument/2006/relationships/tableStyles" Target="/ppt/tableStyles.xml" Id="Rc7b8c5d18f084217" /><Relationship Type="http://schemas.openxmlformats.org/officeDocument/2006/relationships/slide" Target="/ppt/slides/slide1.xml" Id="Rc663c19041c7402b" /><Relationship Type="http://schemas.openxmlformats.org/officeDocument/2006/relationships/slide" Target="/ppt/slides/slide2.xml" Id="R5e6cd8f2c794405f" /><Relationship Type="http://schemas.openxmlformats.org/officeDocument/2006/relationships/slide" Target="/ppt/slides/slide3.xml" Id="R1955d4c0b9624346" /><Relationship Type="http://schemas.openxmlformats.org/officeDocument/2006/relationships/slide" Target="/ppt/slides/slide4.xml" Id="R7b249cd0bdfa4c4f" /><Relationship Type="http://schemas.openxmlformats.org/officeDocument/2006/relationships/slide" Target="/ppt/slides/slide5.xml" Id="Rc073f815716b467f" /><Relationship Type="http://schemas.openxmlformats.org/officeDocument/2006/relationships/slide" Target="/ppt/slides/slide6.xml" Id="Refd5ae9882064d17" /><Relationship Type="http://schemas.openxmlformats.org/officeDocument/2006/relationships/slide" Target="/ppt/slides/slide7.xml" Id="R14450cac98c746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1c3624d5c049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28da7ff11a4d3a" /><Relationship Type="http://schemas.openxmlformats.org/officeDocument/2006/relationships/notesMaster" Target="/ppt/notesMasters/notesMaster1.xml" Id="Rb1b4e6458db548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8883d08718473e" /><Relationship Type="http://schemas.openxmlformats.org/officeDocument/2006/relationships/notesMaster" Target="/ppt/notesMasters/notesMaster1.xml" Id="R10b8908b446443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012c6cc35c4bfc" /><Relationship Type="http://schemas.openxmlformats.org/officeDocument/2006/relationships/notesMaster" Target="/ppt/notesMasters/notesMaster1.xml" Id="Rc943a837217d4e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b811540f084dda" /><Relationship Type="http://schemas.openxmlformats.org/officeDocument/2006/relationships/notesMaster" Target="/ppt/notesMasters/notesMaster1.xml" Id="Rc669c66575c040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482babcf4d40d7" /><Relationship Type="http://schemas.openxmlformats.org/officeDocument/2006/relationships/notesMaster" Target="/ppt/notesMasters/notesMaster1.xml" Id="R733f7f27aa9d4d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811d482c7b4220" /><Relationship Type="http://schemas.openxmlformats.org/officeDocument/2006/relationships/notesMaster" Target="/ppt/notesMasters/notesMaster1.xml" Id="R061303b8b93546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56a23ff894478e" /><Relationship Type="http://schemas.openxmlformats.org/officeDocument/2006/relationships/notesMaster" Target="/ppt/notesMasters/notesMaster1.xml" Id="Rf1662ca826004e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Ouvrir par l’idée centrale : une bonne base de données commence par une collecte complète, vérifiable et exploitable. Source : TDR de l’atelier de formation, version finale.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Insister sur le caractère pratique de l’atelier : démonstrations, manipulations individuelles, travail en binôme, cas pratiques et simulation complète. Source : TDR de l’atelier de formation, version finale.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 TDR présente le processus complet : collecter, vérifier, contrôler, corriger, valider, mettre à jour, suivre, analyser, restituer et décider. Ici, il est regroupé en cinq phases pour faciliter la mémorisation.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Scénario fictif pour la formation. Deux agents sont envoyés le même jour auprès de deux entreprises. L’objectif est de comparer les conséquences d’une collecte complète et d’une collecte insuffisante.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Demander aux participants quels champs et quelles pièces permettent de considérer la collecte comme complète. Préciser qu’une collecte complète ne signifie pas encore que la certification est validée : elle permet d’engager la vérification.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Scénario fictif. Les difficultés peuvent être liées à l’absence du responsable, aux documents non disponibles, à la qualité des copies, au manque de temps ou à la connectivité. L’agent ne doit pas deviner une information manquante : il la signale et organise la complétude.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Faire répondre les participants avant de conclure. Relier les réponses au cycle de traitement et rappeler la traçabilité : toute donnée incertaine doit être signalée, justifiée et suivie jusqu’à sa résolution.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d6cacf1014d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33378b87c8434d" /><Relationship Type="http://schemas.openxmlformats.org/officeDocument/2006/relationships/slideLayout" Target="/ppt/slideLayouts/slideLayout1.xml" Id="Rc861b2e0435643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61b2e0435643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00db55890458a" /><Relationship Type="http://schemas.openxmlformats.org/officeDocument/2006/relationships/notesSlide" Target="/ppt/notesSlides/notesSlide1.xml" Id="R86d1b33876774c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4c069f5b74bef" /><Relationship Type="http://schemas.openxmlformats.org/officeDocument/2006/relationships/notesSlide" Target="/ppt/notesSlides/notesSlide2.xml" Id="R478d719473984f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1589aa9424591" /><Relationship Type="http://schemas.openxmlformats.org/officeDocument/2006/relationships/notesSlide" Target="/ppt/notesSlides/notesSlide3.xml" Id="R70d297c1675d4e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527a6be144983" /><Relationship Type="http://schemas.openxmlformats.org/officeDocument/2006/relationships/image" Target="/ppt/media/image.png" Id="Rebcf5e6009fb4c35" /><Relationship Type="http://schemas.openxmlformats.org/officeDocument/2006/relationships/notesSlide" Target="/ppt/notesSlides/notesSlide4.xml" Id="R1a0c9ff3a50e4f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4646e092e4275" /><Relationship Type="http://schemas.openxmlformats.org/officeDocument/2006/relationships/notesSlide" Target="/ppt/notesSlides/notesSlide5.xml" Id="Re52c4cf6372a4b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1c90dc53842ba" /><Relationship Type="http://schemas.openxmlformats.org/officeDocument/2006/relationships/notesSlide" Target="/ppt/notesSlides/notesSlide6.xml" Id="R53bf24570d8d4b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8ee99c55a4660" /><Relationship Type="http://schemas.openxmlformats.org/officeDocument/2006/relationships/notesSlide" Target="/ppt/notesSlides/notesSlide7.xml" Id="Rccc57b6a443846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3C10D-2773-4DB7-8AB4-927F07F6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8A6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8A62A"/>
                </a:solidFill>
                <a:latin typeface="Arial"/>
                <a:ea typeface="Arial"/>
                <a:cs typeface="Arial"/>
              </a:rPr>
              <a:t>FORMATION PRATIQUE HAUQE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4D599-1D0B-425C-BD17-0479A6D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857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 terrain</a:t>
            </a:r>
          </a:p>
          <a:p xmlns:a="http://schemas.openxmlformats.org/drawingml/2006/main">
            <a:pPr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à la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D798D-2DB7-4645-86E6-3C43646D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866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DDE7EE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DDE7EE"/>
                </a:solidFill>
                <a:latin typeface="Arial"/>
                <a:ea typeface="Arial"/>
                <a:cs typeface="Arial"/>
              </a:rPr>
              <a:t>Collecter des informations fiables et les transformer</a:t>
            </a:r>
          </a:p>
          <a:p xmlns:a="http://schemas.openxmlformats.org/drawingml/2006/main">
            <a:pPr>
              <a:defRPr sz="2025" b="0" i="0">
                <a:solidFill>
                  <a:srgbClr val="DDE7EE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DDE7EE"/>
                </a:solidFill>
                <a:latin typeface="Arial"/>
                <a:ea typeface="Arial"/>
                <a:cs typeface="Arial"/>
              </a:rPr>
              <a:t>en données utiles pour le suivi des certifications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3A23C-92ED-41A4-91D4-37CE3EAA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E8A62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E8A62A"/>
                </a:solidFill>
                <a:latin typeface="Arial"/>
                <a:ea typeface="Arial"/>
                <a:cs typeface="Arial"/>
              </a:rPr>
              <a:t>22–24 septembre 2026  •  Lomé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660FE-3A52-4FAE-8D9A-881018B3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D9E3E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E3E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036275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98F1D-E01F-4D66-A598-1657856C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LE CADRE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9A449-395E-4759-BD28-91803358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La formation en bref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6A2C14-B96E-469B-8BFD-97991A19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E8A62A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E8A62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B379D5-A1C2-41A3-9791-7A08AF8A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agents HAUQE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39E2C-FCC7-4BA7-AECC-9048C79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42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E292A7-8FB4-495F-8C4C-CBA688AB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48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jours pratiques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D01C08-CEC5-473C-8D5E-98AD20AB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002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≈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34E3C-459F-4962-998A-8CFDECA6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entreprises déjà documentées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93AEF-2B4D-4C5F-BBD2-56856EFE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2B35"/>
                </a:solidFill>
                <a:latin typeface="Arial"/>
                <a:ea typeface="Arial"/>
                <a:cs typeface="Arial"/>
              </a:rPr>
              <a:t>Objectif : rendre les agents autonomes dans l’utilisation, le contrôle et l’exploitation du système.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63CEF-7378-490F-90B3-C726CA0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27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8312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9BB4D-A87D-498C-8B35-6AA45204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DU TERRAIN À LA DÉCISION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02A99-E11A-4C33-A9A2-017FC1E4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Le cycle de traitement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18E2F-FEC2-4C53-A67C-85675553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E8A62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E8A62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A7990-33EC-4BF9-B84A-DC990BF7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Collecter</a:t>
            </a:r>
          </a:p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et saisir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A3DB2-65FA-44D5-86ED-A2B78B0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000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E4F3F-3FE2-45DA-92D9-C3DCB277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781300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Vérifier</a:t>
            </a:r>
          </a:p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et contrôler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C19E9-37A2-4152-8981-79A7A4F0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BAC2E-F343-4D13-BD45-2554CAC9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Corriger</a:t>
            </a:r>
          </a:p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et valider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1A7E3A-BD99-4523-9DC2-E8D369A5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00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E8A62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E8A62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67A87-9804-4687-A8E0-9C1C1F1C4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81300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Mettre à jour</a:t>
            </a:r>
          </a:p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et suivre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C9D4B-E9C7-485C-A005-AC9B93E3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0250"/>
            <a:ext cx="1095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0121E-F955-4761-9F45-19B0692A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857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Analyser, restituer</a:t>
            </a:r>
          </a:p>
          <a:p xmlns:a="http://schemas.openxmlformats.org/drawingml/2006/main">
            <a:pPr>
              <a:defRPr sz="180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et décider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6D4A7-92BE-49E1-851D-43D1CEA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E2B35"/>
                </a:solidFill>
                <a:latin typeface="Arial"/>
                <a:ea typeface="Arial"/>
                <a:cs typeface="Arial"/>
              </a:rPr>
              <a:t>Chaque étape dépend de la qualité de la précédente.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565B2-3F9D-416C-B7D3-1862B0D7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2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10463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F9CF4-2EEB-4133-9B59-15B8E3DE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UNE MISSION, DEUX SITUATIONS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939C7-A7FF-4905-B80E-FB823B67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Cas pratique de collecte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f5e6009fb4c35"/>
          <a:srcRect xmlns:a="http://schemas.openxmlformats.org/drawingml/2006/main" l="0" t="17936" r="0" b="17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10820400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A1FF7-7577-41B2-9877-5C3C678A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769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Agent 1  •  KOLIKO Group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C31EC-E243-4BD7-B61B-CE44E395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56769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B24C3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24C3D"/>
                </a:solidFill>
                <a:latin typeface="Arial"/>
                <a:ea typeface="Arial"/>
                <a:cs typeface="Arial"/>
              </a:rPr>
              <a:t>Agent 2  •  Global MAIS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44D30-74BC-415F-9679-6F88D9BA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27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44649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158E3-5B68-41CC-9FE6-FE4B847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SITUATION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DF0DD-F70B-4987-9587-5299521D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Collecte complète chez KOLIKO Group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EC95F-7D65-4611-AF34-5AA350BC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123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66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FC172-656F-4350-BE25-17ACA54F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4500"/>
            <a:ext cx="857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600"/>
              </a:spcAft>
              <a:buChar char="•"/>
              <a:defRPr sz="1875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E2B35"/>
                </a:solidFill>
                <a:latin typeface="Arial"/>
                <a:ea typeface="Arial"/>
                <a:cs typeface="Arial"/>
              </a:rPr>
              <a:t>Entreprise et déclarant correctement identifiés</a:t>
            </a:r>
          </a:p>
          <a:p xmlns:a="http://schemas.openxmlformats.org/drawingml/2006/main">
            <a:pPr marL="279400" indent="-127000">
              <a:spcAft>
                <a:spcPts val="1600"/>
              </a:spcAft>
              <a:buChar char="•"/>
              <a:defRPr sz="1875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E2B35"/>
                </a:solidFill>
                <a:latin typeface="Arial"/>
                <a:ea typeface="Arial"/>
                <a:cs typeface="Arial"/>
              </a:rPr>
              <a:t>Activités, produits, contacts et marchés renseignés</a:t>
            </a:r>
          </a:p>
          <a:p xmlns:a="http://schemas.openxmlformats.org/drawingml/2006/main">
            <a:pPr marL="279400" indent="-127000">
              <a:spcAft>
                <a:spcPts val="1600"/>
              </a:spcAft>
              <a:buChar char="•"/>
              <a:defRPr sz="1875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E2B35"/>
                </a:solidFill>
                <a:latin typeface="Arial"/>
                <a:ea typeface="Arial"/>
                <a:cs typeface="Arial"/>
              </a:rPr>
              <a:t>Certification : référentiel, organisme, numéro, dates et portée</a:t>
            </a:r>
          </a:p>
          <a:p xmlns:a="http://schemas.openxmlformats.org/drawingml/2006/main">
            <a:pPr marL="279400" indent="-127000">
              <a:spcAft>
                <a:spcPts val="1600"/>
              </a:spcAft>
              <a:buChar char="•"/>
              <a:defRPr sz="1875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E2B35"/>
                </a:solidFill>
                <a:latin typeface="Arial"/>
                <a:ea typeface="Arial"/>
                <a:cs typeface="Arial"/>
              </a:rPr>
              <a:t>Preuves jointes, consentement et observations complétés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F7835-1657-48E3-8CBB-6DD37F67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958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Résultat : le dossier peut passer à l’étape de vérification.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072E2-C433-48FA-922B-05AA2A0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2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9995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8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42036-AEDE-47DD-82D5-57B0015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3F6B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F6B4A"/>
                </a:solidFill>
                <a:latin typeface="Arial"/>
                <a:ea typeface="Arial"/>
                <a:cs typeface="Arial"/>
              </a:rPr>
              <a:t>SITUATION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CB6FE-4DF7-4D52-A404-69DFD22B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Informations insuffisantes chez Global MAIS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0E912-CBE0-4DF6-AA67-AF28C0CE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81175"/>
            <a:ext cx="95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 i="0">
                <a:solidFill>
                  <a:srgbClr val="B24C3D"/>
                </a:solidFill>
                <a:latin typeface="Arial"/>
                <a:ea typeface="Arial"/>
                <a:cs typeface="Arial"/>
              </a:defRPr>
            </a:pPr>
            <a:r>
              <a:rPr sz="6600" b="1" i="0">
                <a:solidFill>
                  <a:srgbClr val="B24C3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54C77-5C95-4763-AE57-7B2D3CD3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76400"/>
            <a:ext cx="857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600"/>
              </a:spcAft>
              <a:buChar char="•"/>
              <a:defRPr sz="1875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E2B35"/>
                </a:solidFill>
                <a:latin typeface="Arial"/>
                <a:ea typeface="Arial"/>
                <a:cs typeface="Arial"/>
              </a:rPr>
              <a:t>Identité et contacts de l’entreprise partiellement confirmés</a:t>
            </a:r>
          </a:p>
          <a:p xmlns:a="http://schemas.openxmlformats.org/drawingml/2006/main">
            <a:pPr marL="279400" indent="-127000">
              <a:spcAft>
                <a:spcPts val="1600"/>
              </a:spcAft>
              <a:buChar char="•"/>
              <a:defRPr sz="1875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E2B35"/>
                </a:solidFill>
                <a:latin typeface="Arial"/>
                <a:ea typeface="Arial"/>
                <a:cs typeface="Arial"/>
              </a:rPr>
              <a:t>Numéro, organisme émetteur ou dates du certificat non vérifiés</a:t>
            </a:r>
          </a:p>
          <a:p xmlns:a="http://schemas.openxmlformats.org/drawingml/2006/main">
            <a:pPr marL="279400" indent="-127000">
              <a:spcAft>
                <a:spcPts val="1600"/>
              </a:spcAft>
              <a:buChar char="•"/>
              <a:defRPr sz="1875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E2B35"/>
                </a:solidFill>
                <a:latin typeface="Arial"/>
                <a:ea typeface="Arial"/>
                <a:cs typeface="Arial"/>
              </a:rPr>
              <a:t>Pièces justificatives absentes, incomplètes ou illisibles</a:t>
            </a:r>
          </a:p>
          <a:p xmlns:a="http://schemas.openxmlformats.org/drawingml/2006/main">
            <a:pPr marL="279400" indent="-127000">
              <a:spcAft>
                <a:spcPts val="1600"/>
              </a:spcAft>
              <a:buChar char="•"/>
              <a:defRPr sz="1875">
                <a:solidFill>
                  <a:srgbClr val="1E2B35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1E2B35"/>
                </a:solidFill>
                <a:latin typeface="Arial"/>
                <a:ea typeface="Arial"/>
                <a:cs typeface="Arial"/>
              </a:rPr>
              <a:t>Responsable indisponible et documents non préparés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3C50B-D56A-409E-83E2-DF96BD8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95875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B24C3D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24C3D"/>
                </a:solidFill>
                <a:latin typeface="Arial"/>
                <a:ea typeface="Arial"/>
                <a:cs typeface="Arial"/>
              </a:rPr>
              <a:t>Résultat : compléter la collecte avant toute vérification.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F3A89-D1AD-445C-888E-41A11CCC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66727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6672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87418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0BE42-23AA-4A88-9A2C-0393E0D1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E8A62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E8A62A"/>
                </a:solidFill>
                <a:latin typeface="Arial"/>
                <a:ea typeface="Arial"/>
                <a:cs typeface="Arial"/>
              </a:rPr>
              <a:t>DÉBRIEF DU CAS PRATIQUE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4FB37-B8D3-4DFF-91D4-56EBE54A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Qu’allons-nous décider 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0F7D5-AFA7-4F72-B54C-A4DF32F1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1009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79400" indent="-127000">
              <a:spcAft>
                <a:spcPts val="1800"/>
              </a:spcAft>
              <a:buChar char="•"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Quelles informations peut-on saisir immédiatement ?</a:t>
            </a:r>
          </a:p>
          <a:p xmlns:a="http://schemas.openxmlformats.org/drawingml/2006/main">
            <a:pPr marL="279400" indent="-127000">
              <a:spcAft>
                <a:spcPts val="1800"/>
              </a:spcAft>
              <a:buChar char="•"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Quelles données doivent rester « À vérifier » ?</a:t>
            </a:r>
          </a:p>
          <a:p xmlns:a="http://schemas.openxmlformats.org/drawingml/2006/main">
            <a:pPr marL="279400" indent="-127000">
              <a:spcAft>
                <a:spcPts val="1800"/>
              </a:spcAft>
              <a:buChar char="•"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Quelles preuves faut-il demander ?</a:t>
            </a:r>
          </a:p>
          <a:p xmlns:a="http://schemas.openxmlformats.org/drawingml/2006/main">
            <a:pPr marL="279400" indent="-127000">
              <a:spcAft>
                <a:spcPts val="1800"/>
              </a:spcAft>
              <a:buChar char="•"/>
              <a:defRPr sz="20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FFFFFF"/>
                </a:solidFill>
                <a:latin typeface="Arial"/>
                <a:ea typeface="Arial"/>
                <a:cs typeface="Arial"/>
              </a:rPr>
              <a:t>Quelle est la prochaine action — et qui en est responsable 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A0865-76D8-477F-B50C-DA0B90ED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9525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E8A62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E8A62A"/>
                </a:solidFill>
                <a:latin typeface="Arial"/>
                <a:ea typeface="Arial"/>
                <a:cs typeface="Arial"/>
              </a:rPr>
              <a:t>Une donnée complète dès la collecte réduit les corrections</a:t>
            </a:r>
          </a:p>
          <a:p xmlns:a="http://schemas.openxmlformats.org/drawingml/2006/main">
            <a:pPr>
              <a:defRPr sz="2250" b="1" i="0">
                <a:solidFill>
                  <a:srgbClr val="E8A62A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E8A62A"/>
                </a:solidFill>
                <a:latin typeface="Arial"/>
                <a:ea typeface="Arial"/>
                <a:cs typeface="Arial"/>
              </a:rPr>
              <a:t>et sécurise tout le traitement.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06FD0-EDE1-4E71-BE58-46030319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D9E3E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E3E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4902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2026-09-23T00:07:51.1660000Z</dcterms:created>
  <dcterms:modified xsi:type="dcterms:W3CDTF">2026-09-23T00:07:51.1660000Z</dcterms:modified>
</coreProperties>
</file>