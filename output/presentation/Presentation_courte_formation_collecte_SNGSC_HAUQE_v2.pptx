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c7fe0ab857480a" /><Relationship Type="http://schemas.openxmlformats.org/officeDocument/2006/relationships/extended-properties" Target="/docProps/app.xml" Id="R387f3eda996941da" /><Relationship Type="http://schemas.openxmlformats.org/officeDocument/2006/relationships/officeDocument" Target="/ppt/presentation.xml" Id="Rdd27df84fbc941c6" /></Relationships>
</file>

<file path=ppt/presentation.xml><?xml version="1.0" encoding="utf-8"?>
<p:presentation xmlns:p="http://schemas.openxmlformats.org/presentationml/2006/main">
  <p:sldMasterIdLst>
    <p:sldMasterId xmlns:r="http://schemas.openxmlformats.org/officeDocument/2006/relationships" id="2147483648" r:id="Raafa5d36a7aa46a6"/>
  </p:sldMasterIdLst>
  <p:notesMasterIdLst>
    <p:notesMasterId xmlns:r="http://schemas.openxmlformats.org/officeDocument/2006/relationships" r:id="R832b10c2925441d8"/>
  </p:notesMasterIdLst>
  <p:sldIdLst>
    <p:sldId xmlns:r="http://schemas.openxmlformats.org/officeDocument/2006/relationships" id="256" r:id="R193e6279bd724203"/>
    <p:sldId xmlns:r="http://schemas.openxmlformats.org/officeDocument/2006/relationships" id="257" r:id="R6885cf2a5cea4326"/>
    <p:sldId xmlns:r="http://schemas.openxmlformats.org/officeDocument/2006/relationships" id="258" r:id="R10ae6b1245a14235"/>
    <p:sldId xmlns:r="http://schemas.openxmlformats.org/officeDocument/2006/relationships" id="259" r:id="R6a0807c6459845a7"/>
    <p:sldId xmlns:r="http://schemas.openxmlformats.org/officeDocument/2006/relationships" id="260" r:id="R70411c0b47564fa5"/>
    <p:sldId xmlns:r="http://schemas.openxmlformats.org/officeDocument/2006/relationships" id="261" r:id="Rfc3592eef0c342c5"/>
    <p:sldId xmlns:r="http://schemas.openxmlformats.org/officeDocument/2006/relationships" id="262" r:id="R165653bec2b245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d56c2cb5da44392" /><Relationship Type="http://schemas.openxmlformats.org/officeDocument/2006/relationships/slideMaster" Target="/ppt/slideMasters/slideMaster1.xml" Id="Raafa5d36a7aa46a6" /><Relationship Type="http://schemas.openxmlformats.org/officeDocument/2006/relationships/notesMaster" Target="/ppt/notesMasters/notesMaster1.xml" Id="R832b10c2925441d8" /><Relationship Type="http://schemas.openxmlformats.org/officeDocument/2006/relationships/presProps" Target="/ppt/presProps.xml" Id="R6024b3d8e1b94b1d" /><Relationship Type="http://schemas.openxmlformats.org/officeDocument/2006/relationships/tableStyles" Target="/ppt/tableStyles.xml" Id="Rc6dbe69458654a12" /><Relationship Type="http://schemas.openxmlformats.org/officeDocument/2006/relationships/slide" Target="/ppt/slides/slide1.xml" Id="R193e6279bd724203" /><Relationship Type="http://schemas.openxmlformats.org/officeDocument/2006/relationships/slide" Target="/ppt/slides/slide2.xml" Id="R6885cf2a5cea4326" /><Relationship Type="http://schemas.openxmlformats.org/officeDocument/2006/relationships/slide" Target="/ppt/slides/slide3.xml" Id="R10ae6b1245a14235" /><Relationship Type="http://schemas.openxmlformats.org/officeDocument/2006/relationships/slide" Target="/ppt/slides/slide4.xml" Id="R6a0807c6459845a7" /><Relationship Type="http://schemas.openxmlformats.org/officeDocument/2006/relationships/slide" Target="/ppt/slides/slide5.xml" Id="R70411c0b47564fa5" /><Relationship Type="http://schemas.openxmlformats.org/officeDocument/2006/relationships/slide" Target="/ppt/slides/slide6.xml" Id="Rfc3592eef0c342c5" /><Relationship Type="http://schemas.openxmlformats.org/officeDocument/2006/relationships/slide" Target="/ppt/slides/slide7.xml" Id="R165653bec2b245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028d7c054c43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fabf9444454d29" /><Relationship Type="http://schemas.openxmlformats.org/officeDocument/2006/relationships/notesMaster" Target="/ppt/notesMasters/notesMaster1.xml" Id="Red12e3070ab244e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2600f9a2c949f6" /><Relationship Type="http://schemas.openxmlformats.org/officeDocument/2006/relationships/notesMaster" Target="/ppt/notesMasters/notesMaster1.xml" Id="Rdb5d350007af49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aa7166feb34333" /><Relationship Type="http://schemas.openxmlformats.org/officeDocument/2006/relationships/notesMaster" Target="/ppt/notesMasters/notesMaster1.xml" Id="R1a4dc1ee233540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f1416c6af645bb" /><Relationship Type="http://schemas.openxmlformats.org/officeDocument/2006/relationships/notesMaster" Target="/ppt/notesMasters/notesMaster1.xml" Id="Rc929bcccb8b440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90549f92794170" /><Relationship Type="http://schemas.openxmlformats.org/officeDocument/2006/relationships/notesMaster" Target="/ppt/notesMasters/notesMaster1.xml" Id="R6860349620574b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bc336cb01a4c5c" /><Relationship Type="http://schemas.openxmlformats.org/officeDocument/2006/relationships/notesMaster" Target="/ppt/notesMasters/notesMaster1.xml" Id="Rbe6971d14bd447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1527645c634cc5" /><Relationship Type="http://schemas.openxmlformats.org/officeDocument/2006/relationships/notesMaster" Target="/ppt/notesMasters/notesMaster1.xml" Id="R8a37c71d8b4742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Ouvrir par l’idée centrale : une bonne base de données commence par une collecte complète, vérifiable et exploitable. Source : TDR de l’atelier de formation, version finale.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Court rappel d’ouverture. L’activité R1.3.5 porte sur la base de données des entreprises certifiées. L’activité R1.4.3 concerne le contrôle des certifications et l’exploitation des résultats. Le système permet aussi le suivi des échéances, des renouvellements, des suspensions, des retraits et des anomalies. Source : TDR de l’atelier de formation, version finale.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TDR présente le processus complet : collecter, vérifier, contrôler, corriger, valider, mettre à jour, suivre, analyser, restituer et décider. Ici, il est regroupé en cinq phases pour faciliter la mémorisation.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Scénario fictif pour la formation. Deux agents sont envoyés le même jour auprès de deux entreprises. L’objectif est de comparer les conséquences d’une collecte complète et d’une collecte insuffisante.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Demander aux participants quels champs et quelles pièces permettent de considérer la collecte comme complète. Préciser qu’une collecte complète ne signifie pas encore que la certification est validée : elle permet d’engager la vérification.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Dans ce scénario, les preuves de certification sont disponibles. Le seul problème concerne la fiche du déclarant : son identité, sa fonction et ses autres coordonnées manquent, tandis que son numéro de téléphone est enregistré. L’agent signale ces champs manquants et organise leur complétude sans remettre en cause les preuves déjà collectées.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Faire répondre les participants avant de conclure. Relier les réponses au cycle de traitement et rappeler la traçabilité : toute donnée incertaine doit être signalée, justifiée et suivie jusqu’à sa résolution.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bf33cc5ac643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54890b13e443b3" /><Relationship Type="http://schemas.openxmlformats.org/officeDocument/2006/relationships/slideLayout" Target="/ppt/slideLayouts/slideLayout1.xml" Id="R15f37f94ec354b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f37f94ec354b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87fa72d90494ccc" /><Relationship Type="http://schemas.openxmlformats.org/officeDocument/2006/relationships/notesSlide" Target="/ppt/notesSlides/notesSlide1.xml" Id="R034e6d055e0947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430ce849d4a44a9" /><Relationship Type="http://schemas.openxmlformats.org/officeDocument/2006/relationships/notesSlide" Target="/ppt/notesSlides/notesSlide2.xml" Id="R20de5b232ac74c5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036bb3c83c6405d" /><Relationship Type="http://schemas.openxmlformats.org/officeDocument/2006/relationships/notesSlide" Target="/ppt/notesSlides/notesSlide3.xml" Id="R6e99e5ff27b34d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69c23c20f574971" /><Relationship Type="http://schemas.openxmlformats.org/officeDocument/2006/relationships/image" Target="/ppt/media/image.png" Id="R60d2ab9c87d34179" /><Relationship Type="http://schemas.openxmlformats.org/officeDocument/2006/relationships/notesSlide" Target="/ppt/notesSlides/notesSlide4.xml" Id="R7e26d28dad904a4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35d766bfc74c79" /><Relationship Type="http://schemas.openxmlformats.org/officeDocument/2006/relationships/notesSlide" Target="/ppt/notesSlides/notesSlide5.xml" Id="R4615f590b9f344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5a445013474743" /><Relationship Type="http://schemas.openxmlformats.org/officeDocument/2006/relationships/notesSlide" Target="/ppt/notesSlides/notesSlide6.xml" Id="R603aef4cec7944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a29a80e5e6349dd" /><Relationship Type="http://schemas.openxmlformats.org/officeDocument/2006/relationships/notesSlide" Target="/ppt/notesSlides/notesSlide7.xml" Id="R1a8c128b1a354ad1" /></Relationships>
</file>

<file path=ppt/slides/slide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47CA887-0961-40EF-9D2A-74C62A522524}"/>
              </a:ext>
            </a:extLst>
          </p:cNvPr>
          <p:cNvSpPr>
            <a:spLocks xmlns:a="http://schemas.openxmlformats.org/drawingml/2006/main" noGrp="1"/>
          </p:cNvSpPr>
          <p:nvPr/>
        </p:nvSpPr>
        <p:spPr>
          <a:xfrm xmlns:a="http://schemas.openxmlformats.org/drawingml/2006/main">
            <a:off x="742950" y="628650"/>
            <a:ext cx="619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E8A62A"/>
                </a:solidFill>
                <a:latin typeface="Arial"/>
                <a:ea typeface="Arial"/>
                <a:cs typeface="Arial"/>
              </a:defRPr>
            </a:pPr>
            <a:r>
              <a:rPr sz="1200" b="1" i="0">
                <a:solidFill>
                  <a:srgbClr val="E8A62A"/>
                </a:solidFill>
                <a:latin typeface="Arial"/>
                <a:ea typeface="Arial"/>
                <a:cs typeface="Arial"/>
              </a:rPr>
              <a:t>FORMATION PRATIQUE HAUQE</a:t>
            </a:r>
          </a:p>
        </p:txBody>
      </p:sp>
      <p:sp>
        <p:nvSpPr>
          <p:cNvPr id="2" name="">
            <a:extLst xmlns:a="http://schemas.openxmlformats.org/drawingml/2006/main">
              <a:ext uri="{FF2B5EF4-FFF2-40B4-BE49-F238E27FC236}">
                <a16:creationId xmlns:a16="http://schemas.microsoft.com/office/drawing/2014/main" id="{36159575-6DB3-4F20-BCCA-6FB729656147}"/>
              </a:ext>
            </a:extLst>
          </p:cNvPr>
          <p:cNvSpPr>
            <a:spLocks xmlns:a="http://schemas.openxmlformats.org/drawingml/2006/main" noGrp="1"/>
          </p:cNvSpPr>
          <p:nvPr/>
        </p:nvSpPr>
        <p:spPr>
          <a:xfrm xmlns:a="http://schemas.openxmlformats.org/drawingml/2006/main">
            <a:off x="742950" y="1428750"/>
            <a:ext cx="8572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i="0">
                <a:solidFill>
                  <a:srgbClr val="FFFFFF"/>
                </a:solidFill>
                <a:latin typeface="Arial"/>
                <a:ea typeface="Arial"/>
                <a:cs typeface="Arial"/>
              </a:defRPr>
            </a:pPr>
            <a:r>
              <a:rPr sz="4950" b="1" i="0">
                <a:solidFill>
                  <a:srgbClr val="FFFFFF"/>
                </a:solidFill>
                <a:latin typeface="Arial"/>
                <a:ea typeface="Arial"/>
                <a:cs typeface="Arial"/>
              </a:rPr>
              <a:t>Du terrain</a:t>
            </a:r>
          </a:p>
          <a:p xmlns:a="http://schemas.openxmlformats.org/drawingml/2006/main">
            <a:pPr>
              <a:defRPr sz="4950" b="1" i="0">
                <a:solidFill>
                  <a:srgbClr val="FFFFFF"/>
                </a:solidFill>
                <a:latin typeface="Arial"/>
                <a:ea typeface="Arial"/>
                <a:cs typeface="Arial"/>
              </a:defRPr>
            </a:pPr>
            <a:r>
              <a:rPr sz="4950" b="1" i="0">
                <a:solidFill>
                  <a:srgbClr val="FFFFFF"/>
                </a:solidFill>
                <a:latin typeface="Arial"/>
                <a:ea typeface="Arial"/>
                <a:cs typeface="Arial"/>
              </a:rPr>
              <a:t>à la base</a:t>
            </a:r>
          </a:p>
        </p:txBody>
      </p:sp>
      <p:sp>
        <p:nvSpPr>
          <p:cNvPr id="3" name="">
            <a:extLst xmlns:a="http://schemas.openxmlformats.org/drawingml/2006/main">
              <a:ext uri="{FF2B5EF4-FFF2-40B4-BE49-F238E27FC236}">
                <a16:creationId xmlns:a16="http://schemas.microsoft.com/office/drawing/2014/main" id="{A5944CED-862B-41E8-990F-DAE47647D6CE}"/>
              </a:ext>
            </a:extLst>
          </p:cNvPr>
          <p:cNvSpPr>
            <a:spLocks xmlns:a="http://schemas.openxmlformats.org/drawingml/2006/main" noGrp="1"/>
          </p:cNvSpPr>
          <p:nvPr/>
        </p:nvSpPr>
        <p:spPr>
          <a:xfrm xmlns:a="http://schemas.openxmlformats.org/drawingml/2006/main">
            <a:off x="781050" y="3714750"/>
            <a:ext cx="866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i="0">
                <a:solidFill>
                  <a:srgbClr val="DDE7EE"/>
                </a:solidFill>
                <a:latin typeface="Arial"/>
                <a:ea typeface="Arial"/>
                <a:cs typeface="Arial"/>
              </a:defRPr>
            </a:pPr>
            <a:r>
              <a:rPr sz="2025" b="0" i="0">
                <a:solidFill>
                  <a:srgbClr val="DDE7EE"/>
                </a:solidFill>
                <a:latin typeface="Arial"/>
                <a:ea typeface="Arial"/>
                <a:cs typeface="Arial"/>
              </a:rPr>
              <a:t>Collecter des informations fiables et les transformer</a:t>
            </a:r>
          </a:p>
          <a:p xmlns:a="http://schemas.openxmlformats.org/drawingml/2006/main">
            <a:pPr>
              <a:defRPr sz="2025" b="0" i="0">
                <a:solidFill>
                  <a:srgbClr val="DDE7EE"/>
                </a:solidFill>
                <a:latin typeface="Arial"/>
                <a:ea typeface="Arial"/>
                <a:cs typeface="Arial"/>
              </a:defRPr>
            </a:pPr>
            <a:r>
              <a:rPr sz="2025" b="0" i="0">
                <a:solidFill>
                  <a:srgbClr val="DDE7EE"/>
                </a:solidFill>
                <a:latin typeface="Arial"/>
                <a:ea typeface="Arial"/>
                <a:cs typeface="Arial"/>
              </a:rPr>
              <a:t>en données utiles pour le suivi des certifications</a:t>
            </a:r>
          </a:p>
        </p:txBody>
      </p:sp>
      <p:sp>
        <p:nvSpPr>
          <p:cNvPr id="4" name="">
            <a:extLst xmlns:a="http://schemas.openxmlformats.org/drawingml/2006/main">
              <a:ext uri="{FF2B5EF4-FFF2-40B4-BE49-F238E27FC236}">
                <a16:creationId xmlns:a16="http://schemas.microsoft.com/office/drawing/2014/main" id="{12FBB260-73A6-4E1D-98D7-E95A7E39A704}"/>
              </a:ext>
            </a:extLst>
          </p:cNvPr>
          <p:cNvSpPr>
            <a:spLocks xmlns:a="http://schemas.openxmlformats.org/drawingml/2006/main" noGrp="1"/>
          </p:cNvSpPr>
          <p:nvPr/>
        </p:nvSpPr>
        <p:spPr>
          <a:xfrm xmlns:a="http://schemas.openxmlformats.org/drawingml/2006/main">
            <a:off x="781050" y="5572125"/>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i="0">
                <a:solidFill>
                  <a:srgbClr val="E8A62A"/>
                </a:solidFill>
                <a:latin typeface="Arial"/>
                <a:ea typeface="Arial"/>
                <a:cs typeface="Arial"/>
              </a:defRPr>
            </a:pPr>
            <a:r>
              <a:rPr sz="1425" b="1" i="0">
                <a:solidFill>
                  <a:srgbClr val="E8A62A"/>
                </a:solidFill>
                <a:latin typeface="Arial"/>
                <a:ea typeface="Arial"/>
                <a:cs typeface="Arial"/>
              </a:rPr>
              <a:t>22–24 septembre 2026  •  Lomé</a:t>
            </a:r>
          </a:p>
        </p:txBody>
      </p:sp>
      <p:sp>
        <p:nvSpPr>
          <p:cNvPr id="5" name="">
            <a:extLst xmlns:a="http://schemas.openxmlformats.org/drawingml/2006/main">
              <a:ext uri="{FF2B5EF4-FFF2-40B4-BE49-F238E27FC236}">
                <a16:creationId xmlns:a16="http://schemas.microsoft.com/office/drawing/2014/main" id="{73849CC7-5489-4F2F-880A-61B8FF114A7F}"/>
              </a:ext>
            </a:extLst>
          </p:cNvPr>
          <p:cNvSpPr>
            <a:spLocks xmlns:a="http://schemas.openxmlformats.org/drawingml/2006/main" noGrp="1"/>
          </p:cNvSpPr>
          <p:nvPr/>
        </p:nvSpPr>
        <p:spPr>
          <a:xfrm xmlns:a="http://schemas.openxmlformats.org/drawingml/2006/main">
            <a:off x="11049000" y="63150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D9E3EA"/>
                </a:solidFill>
                <a:latin typeface="Arial"/>
                <a:ea typeface="Arial"/>
                <a:cs typeface="Arial"/>
              </a:defRPr>
            </a:pPr>
            <a:r>
              <a:rPr sz="1050" b="1" i="0">
                <a:solidFill>
                  <a:srgbClr val="D9E3EA"/>
                </a:solidFill>
                <a:latin typeface="Arial"/>
                <a:ea typeface="Arial"/>
                <a:cs typeface="Arial"/>
              </a:rPr>
              <a:t>01</a:t>
            </a:r>
          </a:p>
        </p:txBody>
      </p:sp>
    </p:spTree>
    <p:extLst>
      <p:ext uri="{BB962C8B-B14F-4D97-AF65-F5344CB8AC3E}">
        <p14:creationId xmlns:p14="http://schemas.microsoft.com/office/powerpoint/2010/main" val="1358175450"/>
      </p:ext>
    </p:extLst>
  </p:cSld>
</p:sld>
</file>

<file path=ppt/slides/slide2.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D3A9E1D-960D-4ACF-BE46-E0BA253AF7A9}"/>
              </a:ext>
            </a:extLst>
          </p:cNvPr>
          <p:cNvSpPr>
            <a:spLocks xmlns:a="http://schemas.openxmlformats.org/drawingml/2006/main" noGrp="1"/>
          </p:cNvSpPr>
          <p:nvPr/>
        </p:nvSpPr>
        <p:spPr>
          <a:xfrm xmlns:a="http://schemas.openxmlformats.org/drawingml/2006/main">
            <a:off x="685800" y="4000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3F6B4A"/>
                </a:solidFill>
                <a:latin typeface="Arial"/>
                <a:ea typeface="Arial"/>
                <a:cs typeface="Arial"/>
              </a:defRPr>
            </a:pPr>
            <a:r>
              <a:rPr sz="1200" b="1" i="0">
                <a:solidFill>
                  <a:srgbClr val="3F6B4A"/>
                </a:solidFill>
                <a:latin typeface="Arial"/>
                <a:ea typeface="Arial"/>
                <a:cs typeface="Arial"/>
              </a:rPr>
              <a:t>LE PROJET</a:t>
            </a:r>
          </a:p>
        </p:txBody>
      </p:sp>
      <p:sp>
        <p:nvSpPr>
          <p:cNvPr id="2" name="">
            <a:extLst xmlns:a="http://schemas.openxmlformats.org/drawingml/2006/main">
              <a:ext uri="{FF2B5EF4-FFF2-40B4-BE49-F238E27FC236}">
                <a16:creationId xmlns:a16="http://schemas.microsoft.com/office/drawing/2014/main" id="{4767BF1A-BD5D-4653-86D0-07D6DD31A1DA}"/>
              </a:ext>
            </a:extLst>
          </p:cNvPr>
          <p:cNvSpPr>
            <a:spLocks xmlns:a="http://schemas.openxmlformats.org/drawingml/2006/main" noGrp="1"/>
          </p:cNvSpPr>
          <p:nvPr/>
        </p:nvSpPr>
        <p:spPr>
          <a:xfrm xmlns:a="http://schemas.openxmlformats.org/drawingml/2006/main">
            <a:off x="685800" y="742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6324F"/>
                </a:solidFill>
                <a:latin typeface="Arial"/>
                <a:ea typeface="Arial"/>
                <a:cs typeface="Arial"/>
              </a:defRPr>
            </a:pPr>
            <a:r>
              <a:rPr sz="3150" b="1" i="0">
                <a:solidFill>
                  <a:srgbClr val="16324F"/>
                </a:solidFill>
                <a:latin typeface="Arial"/>
                <a:ea typeface="Arial"/>
                <a:cs typeface="Arial"/>
              </a:rPr>
              <a:t>Rappel des activités R1.3.5 et R1.4.3</a:t>
            </a:r>
          </a:p>
        </p:txBody>
      </p:sp>
      <p:sp>
        <p:nvSpPr>
          <p:cNvPr id="3" name="">
            <a:extLst xmlns:a="http://schemas.openxmlformats.org/drawingml/2006/main">
              <a:ext uri="{FF2B5EF4-FFF2-40B4-BE49-F238E27FC236}">
                <a16:creationId xmlns:a16="http://schemas.microsoft.com/office/drawing/2014/main" id="{03B26976-0CA7-4C2C-B5B1-0BFB3B316523}"/>
              </a:ext>
            </a:extLst>
          </p:cNvPr>
          <p:cNvSpPr>
            <a:spLocks xmlns:a="http://schemas.openxmlformats.org/drawingml/2006/main" noGrp="1"/>
          </p:cNvSpPr>
          <p:nvPr/>
        </p:nvSpPr>
        <p:spPr>
          <a:xfrm xmlns:a="http://schemas.openxmlformats.org/drawingml/2006/main">
            <a:off x="838200" y="1952625"/>
            <a:ext cx="238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i="0">
                <a:solidFill>
                  <a:srgbClr val="E8A62A"/>
                </a:solidFill>
                <a:latin typeface="Arial"/>
                <a:ea typeface="Arial"/>
                <a:cs typeface="Arial"/>
              </a:defRPr>
            </a:pPr>
            <a:r>
              <a:rPr sz="3450" b="1" i="0">
                <a:solidFill>
                  <a:srgbClr val="E8A62A"/>
                </a:solidFill>
                <a:latin typeface="Arial"/>
                <a:ea typeface="Arial"/>
                <a:cs typeface="Arial"/>
              </a:rPr>
              <a:t>R1.3.5</a:t>
            </a:r>
          </a:p>
        </p:txBody>
      </p:sp>
      <p:sp>
        <p:nvSpPr>
          <p:cNvPr id="4" name="">
            <a:extLst xmlns:a="http://schemas.openxmlformats.org/drawingml/2006/main">
              <a:ext uri="{FF2B5EF4-FFF2-40B4-BE49-F238E27FC236}">
                <a16:creationId xmlns:a16="http://schemas.microsoft.com/office/drawing/2014/main" id="{34744813-A8CA-422B-A144-952BDECF1E00}"/>
              </a:ext>
            </a:extLst>
          </p:cNvPr>
          <p:cNvSpPr>
            <a:spLocks xmlns:a="http://schemas.openxmlformats.org/drawingml/2006/main" noGrp="1"/>
          </p:cNvSpPr>
          <p:nvPr/>
        </p:nvSpPr>
        <p:spPr>
          <a:xfrm xmlns:a="http://schemas.openxmlformats.org/drawingml/2006/main">
            <a:off x="838200" y="2743200"/>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i="0">
                <a:solidFill>
                  <a:srgbClr val="16324F"/>
                </a:solidFill>
                <a:latin typeface="Arial"/>
                <a:ea typeface="Arial"/>
                <a:cs typeface="Arial"/>
              </a:defRPr>
            </a:pPr>
            <a:r>
              <a:rPr sz="2175" b="1" i="0">
                <a:solidFill>
                  <a:srgbClr val="16324F"/>
                </a:solidFill>
                <a:latin typeface="Arial"/>
                <a:ea typeface="Arial"/>
                <a:cs typeface="Arial"/>
              </a:rPr>
              <a:t>Base de données des</a:t>
            </a:r>
          </a:p>
          <a:p xmlns:a="http://schemas.openxmlformats.org/drawingml/2006/main">
            <a:pPr>
              <a:defRPr sz="2175" b="1" i="0">
                <a:solidFill>
                  <a:srgbClr val="16324F"/>
                </a:solidFill>
                <a:latin typeface="Arial"/>
                <a:ea typeface="Arial"/>
                <a:cs typeface="Arial"/>
              </a:defRPr>
            </a:pPr>
            <a:r>
              <a:rPr sz="2175" b="1" i="0">
                <a:solidFill>
                  <a:srgbClr val="16324F"/>
                </a:solidFill>
                <a:latin typeface="Arial"/>
                <a:ea typeface="Arial"/>
                <a:cs typeface="Arial"/>
              </a:rPr>
              <a:t>entreprises certifiées</a:t>
            </a:r>
          </a:p>
        </p:txBody>
      </p:sp>
      <p:sp>
        <p:nvSpPr>
          <p:cNvPr id="5" name="">
            <a:extLst xmlns:a="http://schemas.openxmlformats.org/drawingml/2006/main">
              <a:ext uri="{FF2B5EF4-FFF2-40B4-BE49-F238E27FC236}">
                <a16:creationId xmlns:a16="http://schemas.microsoft.com/office/drawing/2014/main" id="{054A0BDC-7D64-4B3F-90AE-D7C4CA1B1861}"/>
              </a:ext>
            </a:extLst>
          </p:cNvPr>
          <p:cNvSpPr>
            <a:spLocks xmlns:a="http://schemas.openxmlformats.org/drawingml/2006/main" noGrp="1"/>
          </p:cNvSpPr>
          <p:nvPr/>
        </p:nvSpPr>
        <p:spPr>
          <a:xfrm xmlns:a="http://schemas.openxmlformats.org/drawingml/2006/main">
            <a:off x="838200" y="3857625"/>
            <a:ext cx="4572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27000">
              <a:spcAft>
                <a:spcPts val="1200"/>
              </a:spcAft>
              <a:buChar char="•"/>
              <a:defRPr sz="1650">
                <a:solidFill>
                  <a:srgbClr val="1E2B35"/>
                </a:solidFill>
                <a:latin typeface="Arial"/>
                <a:ea typeface="Arial"/>
                <a:cs typeface="Arial"/>
              </a:defRPr>
            </a:pPr>
            <a:r>
              <a:rPr sz="1650">
                <a:solidFill>
                  <a:srgbClr val="1E2B35"/>
                </a:solidFill>
                <a:latin typeface="Arial"/>
                <a:ea typeface="Arial"/>
                <a:cs typeface="Arial"/>
              </a:rPr>
              <a:t>Centralisation des informations sur les entreprises et leurs certificats</a:t>
            </a:r>
          </a:p>
          <a:p xmlns:a="http://schemas.openxmlformats.org/drawingml/2006/main">
            <a:pPr marL="279400" indent="-127000">
              <a:spcAft>
                <a:spcPts val="1200"/>
              </a:spcAft>
              <a:buChar char="•"/>
              <a:defRPr sz="1650">
                <a:solidFill>
                  <a:srgbClr val="1E2B35"/>
                </a:solidFill>
                <a:latin typeface="Arial"/>
                <a:ea typeface="Arial"/>
                <a:cs typeface="Arial"/>
              </a:defRPr>
            </a:pPr>
            <a:r>
              <a:rPr sz="1650">
                <a:solidFill>
                  <a:srgbClr val="1E2B35"/>
                </a:solidFill>
                <a:latin typeface="Arial"/>
                <a:ea typeface="Arial"/>
                <a:cs typeface="Arial"/>
              </a:rPr>
              <a:t>Mise à jour, recherche et exploitation des données</a:t>
            </a:r>
          </a:p>
        </p:txBody>
      </p:sp>
      <p:sp>
        <p:nvSpPr>
          <p:cNvPr id="6" name="">
            <a:extLst xmlns:a="http://schemas.openxmlformats.org/drawingml/2006/main">
              <a:ext uri="{FF2B5EF4-FFF2-40B4-BE49-F238E27FC236}">
                <a16:creationId xmlns:a16="http://schemas.microsoft.com/office/drawing/2014/main" id="{9289A03C-62E1-4FBF-80A7-72E093672237}"/>
              </a:ext>
            </a:extLst>
          </p:cNvPr>
          <p:cNvSpPr>
            <a:spLocks xmlns:a="http://schemas.openxmlformats.org/drawingml/2006/main" noGrp="1"/>
          </p:cNvSpPr>
          <p:nvPr/>
        </p:nvSpPr>
        <p:spPr>
          <a:xfrm xmlns:a="http://schemas.openxmlformats.org/drawingml/2006/main">
            <a:off x="6524625" y="1952625"/>
            <a:ext cx="238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i="0">
                <a:solidFill>
                  <a:srgbClr val="3F6B4A"/>
                </a:solidFill>
                <a:latin typeface="Arial"/>
                <a:ea typeface="Arial"/>
                <a:cs typeface="Arial"/>
              </a:defRPr>
            </a:pPr>
            <a:r>
              <a:rPr sz="3450" b="1" i="0">
                <a:solidFill>
                  <a:srgbClr val="3F6B4A"/>
                </a:solidFill>
                <a:latin typeface="Arial"/>
                <a:ea typeface="Arial"/>
                <a:cs typeface="Arial"/>
              </a:rPr>
              <a:t>R1.4.3</a:t>
            </a:r>
          </a:p>
        </p:txBody>
      </p:sp>
      <p:sp>
        <p:nvSpPr>
          <p:cNvPr id="7" name="">
            <a:extLst xmlns:a="http://schemas.openxmlformats.org/drawingml/2006/main">
              <a:ext uri="{FF2B5EF4-FFF2-40B4-BE49-F238E27FC236}">
                <a16:creationId xmlns:a16="http://schemas.microsoft.com/office/drawing/2014/main" id="{75B51152-1F7F-4084-A7E1-532200379861}"/>
              </a:ext>
            </a:extLst>
          </p:cNvPr>
          <p:cNvSpPr>
            <a:spLocks xmlns:a="http://schemas.openxmlformats.org/drawingml/2006/main" noGrp="1"/>
          </p:cNvSpPr>
          <p:nvPr/>
        </p:nvSpPr>
        <p:spPr>
          <a:xfrm xmlns:a="http://schemas.openxmlformats.org/drawingml/2006/main">
            <a:off x="6524625" y="27432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i="0">
                <a:solidFill>
                  <a:srgbClr val="16324F"/>
                </a:solidFill>
                <a:latin typeface="Arial"/>
                <a:ea typeface="Arial"/>
                <a:cs typeface="Arial"/>
              </a:defRPr>
            </a:pPr>
            <a:r>
              <a:rPr sz="2175" b="1" i="0">
                <a:solidFill>
                  <a:srgbClr val="16324F"/>
                </a:solidFill>
                <a:latin typeface="Arial"/>
                <a:ea typeface="Arial"/>
                <a:cs typeface="Arial"/>
              </a:rPr>
              <a:t>Contrôle des certifications</a:t>
            </a:r>
          </a:p>
          <a:p xmlns:a="http://schemas.openxmlformats.org/drawingml/2006/main">
            <a:pPr>
              <a:defRPr sz="2175" b="1" i="0">
                <a:solidFill>
                  <a:srgbClr val="16324F"/>
                </a:solidFill>
                <a:latin typeface="Arial"/>
                <a:ea typeface="Arial"/>
                <a:cs typeface="Arial"/>
              </a:defRPr>
            </a:pPr>
            <a:r>
              <a:rPr sz="2175" b="1" i="0">
                <a:solidFill>
                  <a:srgbClr val="16324F"/>
                </a:solidFill>
                <a:latin typeface="Arial"/>
                <a:ea typeface="Arial"/>
                <a:cs typeface="Arial"/>
              </a:rPr>
              <a:t>et exploitation des résultats</a:t>
            </a:r>
          </a:p>
        </p:txBody>
      </p:sp>
      <p:sp>
        <p:nvSpPr>
          <p:cNvPr id="8" name="">
            <a:extLst xmlns:a="http://schemas.openxmlformats.org/drawingml/2006/main">
              <a:ext uri="{FF2B5EF4-FFF2-40B4-BE49-F238E27FC236}">
                <a16:creationId xmlns:a16="http://schemas.microsoft.com/office/drawing/2014/main" id="{A1EC3AAF-F14C-4FBC-8008-AB0C5BD0A034}"/>
              </a:ext>
            </a:extLst>
          </p:cNvPr>
          <p:cNvSpPr>
            <a:spLocks xmlns:a="http://schemas.openxmlformats.org/drawingml/2006/main" noGrp="1"/>
          </p:cNvSpPr>
          <p:nvPr/>
        </p:nvSpPr>
        <p:spPr>
          <a:xfrm xmlns:a="http://schemas.openxmlformats.org/drawingml/2006/main">
            <a:off x="6524625" y="3857625"/>
            <a:ext cx="4762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27000">
              <a:spcAft>
                <a:spcPts val="1200"/>
              </a:spcAft>
              <a:buChar char="•"/>
              <a:defRPr sz="1650">
                <a:solidFill>
                  <a:srgbClr val="1E2B35"/>
                </a:solidFill>
                <a:latin typeface="Arial"/>
                <a:ea typeface="Arial"/>
                <a:cs typeface="Arial"/>
              </a:defRPr>
            </a:pPr>
            <a:r>
              <a:rPr sz="1650">
                <a:solidFill>
                  <a:srgbClr val="1E2B35"/>
                </a:solidFill>
                <a:latin typeface="Arial"/>
                <a:ea typeface="Arial"/>
                <a:cs typeface="Arial"/>
              </a:rPr>
              <a:t>Vérification de la cohérence et de la validité des certificats</a:t>
            </a:r>
          </a:p>
          <a:p xmlns:a="http://schemas.openxmlformats.org/drawingml/2006/main">
            <a:pPr marL="279400" indent="-127000">
              <a:spcAft>
                <a:spcPts val="1200"/>
              </a:spcAft>
              <a:buChar char="•"/>
              <a:defRPr sz="1650">
                <a:solidFill>
                  <a:srgbClr val="1E2B35"/>
                </a:solidFill>
                <a:latin typeface="Arial"/>
                <a:ea typeface="Arial"/>
                <a:cs typeface="Arial"/>
              </a:defRPr>
            </a:pPr>
            <a:r>
              <a:rPr sz="1650">
                <a:solidFill>
                  <a:srgbClr val="1E2B35"/>
                </a:solidFill>
                <a:latin typeface="Arial"/>
                <a:ea typeface="Arial"/>
                <a:cs typeface="Arial"/>
              </a:rPr>
              <a:t>Suivi des échéances, anomalies et décisions</a:t>
            </a:r>
          </a:p>
        </p:txBody>
      </p:sp>
      <p:sp>
        <p:nvSpPr>
          <p:cNvPr id="9" name="">
            <a:extLst xmlns:a="http://schemas.openxmlformats.org/drawingml/2006/main">
              <a:ext uri="{FF2B5EF4-FFF2-40B4-BE49-F238E27FC236}">
                <a16:creationId xmlns:a16="http://schemas.microsoft.com/office/drawing/2014/main" id="{7E5772B6-FEF7-445A-B08A-D6144E2E104B}"/>
              </a:ext>
            </a:extLst>
          </p:cNvPr>
          <p:cNvSpPr>
            <a:spLocks xmlns:a="http://schemas.openxmlformats.org/drawingml/2006/main" noGrp="1"/>
          </p:cNvSpPr>
          <p:nvPr/>
        </p:nvSpPr>
        <p:spPr>
          <a:xfrm xmlns:a="http://schemas.openxmlformats.org/drawingml/2006/main">
            <a:off x="11049000" y="63150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66727C"/>
                </a:solidFill>
                <a:latin typeface="Arial"/>
                <a:ea typeface="Arial"/>
                <a:cs typeface="Arial"/>
              </a:defRPr>
            </a:pPr>
            <a:r>
              <a:rPr sz="1050" b="1" i="0">
                <a:solidFill>
                  <a:srgbClr val="66727C"/>
                </a:solidFill>
                <a:latin typeface="Arial"/>
                <a:ea typeface="Arial"/>
                <a:cs typeface="Arial"/>
              </a:rPr>
              <a:t>02</a:t>
            </a:r>
          </a:p>
        </p:txBody>
      </p:sp>
    </p:spTree>
    <p:extLst>
      <p:ext uri="{BB962C8B-B14F-4D97-AF65-F5344CB8AC3E}">
        <p14:creationId xmlns:p14="http://schemas.microsoft.com/office/powerpoint/2010/main" val="8938948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1B86FF4-5199-4E20-BB4C-45DB2B7E7E54}"/>
              </a:ext>
            </a:extLst>
          </p:cNvPr>
          <p:cNvSpPr>
            <a:spLocks xmlns:a="http://schemas.openxmlformats.org/drawingml/2006/main" noGrp="1"/>
          </p:cNvSpPr>
          <p:nvPr/>
        </p:nvSpPr>
        <p:spPr>
          <a:xfrm xmlns:a="http://schemas.openxmlformats.org/drawingml/2006/main">
            <a:off x="685800" y="4000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3F6B4A"/>
                </a:solidFill>
                <a:latin typeface="Arial"/>
                <a:ea typeface="Arial"/>
                <a:cs typeface="Arial"/>
              </a:defRPr>
            </a:pPr>
            <a:r>
              <a:rPr sz="1200" b="1" i="0">
                <a:solidFill>
                  <a:srgbClr val="3F6B4A"/>
                </a:solidFill>
                <a:latin typeface="Arial"/>
                <a:ea typeface="Arial"/>
                <a:cs typeface="Arial"/>
              </a:rPr>
              <a:t>DU TERRAIN À LA DÉCISION</a:t>
            </a:r>
          </a:p>
        </p:txBody>
      </p:sp>
      <p:sp>
        <p:nvSpPr>
          <p:cNvPr id="2" name="">
            <a:extLst xmlns:a="http://schemas.openxmlformats.org/drawingml/2006/main">
              <a:ext uri="{FF2B5EF4-FFF2-40B4-BE49-F238E27FC236}">
                <a16:creationId xmlns:a16="http://schemas.microsoft.com/office/drawing/2014/main" id="{B0A69DCA-CA95-42DD-96E1-FD47348AC03D}"/>
              </a:ext>
            </a:extLst>
          </p:cNvPr>
          <p:cNvSpPr>
            <a:spLocks xmlns:a="http://schemas.openxmlformats.org/drawingml/2006/main" noGrp="1"/>
          </p:cNvSpPr>
          <p:nvPr/>
        </p:nvSpPr>
        <p:spPr>
          <a:xfrm xmlns:a="http://schemas.openxmlformats.org/drawingml/2006/main">
            <a:off x="685800" y="742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6324F"/>
                </a:solidFill>
                <a:latin typeface="Arial"/>
                <a:ea typeface="Arial"/>
                <a:cs typeface="Arial"/>
              </a:defRPr>
            </a:pPr>
            <a:r>
              <a:rPr sz="3150" b="1" i="0">
                <a:solidFill>
                  <a:srgbClr val="16324F"/>
                </a:solidFill>
                <a:latin typeface="Arial"/>
                <a:ea typeface="Arial"/>
                <a:cs typeface="Arial"/>
              </a:rPr>
              <a:t>Le cycle de traitement</a:t>
            </a:r>
          </a:p>
        </p:txBody>
      </p:sp>
      <p:sp>
        <p:nvSpPr>
          <p:cNvPr id="3" name="">
            <a:extLst xmlns:a="http://schemas.openxmlformats.org/drawingml/2006/main">
              <a:ext uri="{FF2B5EF4-FFF2-40B4-BE49-F238E27FC236}">
                <a16:creationId xmlns:a16="http://schemas.microsoft.com/office/drawing/2014/main" id="{C388287E-01E5-4303-94CB-385128CBC268}"/>
              </a:ext>
            </a:extLst>
          </p:cNvPr>
          <p:cNvSpPr>
            <a:spLocks xmlns:a="http://schemas.openxmlformats.org/drawingml/2006/main" noGrp="1"/>
          </p:cNvSpPr>
          <p:nvPr/>
        </p:nvSpPr>
        <p:spPr>
          <a:xfrm xmlns:a="http://schemas.openxmlformats.org/drawingml/2006/main">
            <a:off x="628650" y="2000250"/>
            <a:ext cx="1095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i="0">
                <a:solidFill>
                  <a:srgbClr val="E8A62A"/>
                </a:solidFill>
                <a:latin typeface="Arial"/>
                <a:ea typeface="Arial"/>
                <a:cs typeface="Arial"/>
              </a:defRPr>
            </a:pPr>
            <a:r>
              <a:rPr sz="3300" b="1" i="0">
                <a:solidFill>
                  <a:srgbClr val="E8A62A"/>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ACDAD4F8-5806-4F98-AD67-D20052A6574E}"/>
              </a:ext>
            </a:extLst>
          </p:cNvPr>
          <p:cNvSpPr>
            <a:spLocks xmlns:a="http://schemas.openxmlformats.org/drawingml/2006/main" noGrp="1"/>
          </p:cNvSpPr>
          <p:nvPr/>
        </p:nvSpPr>
        <p:spPr>
          <a:xfrm xmlns:a="http://schemas.openxmlformats.org/drawingml/2006/main">
            <a:off x="628650" y="2781300"/>
            <a:ext cx="1857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16324F"/>
                </a:solidFill>
                <a:latin typeface="Arial"/>
                <a:ea typeface="Arial"/>
                <a:cs typeface="Arial"/>
              </a:defRPr>
            </a:pPr>
            <a:r>
              <a:rPr sz="1800" b="1" i="0">
                <a:solidFill>
                  <a:srgbClr val="16324F"/>
                </a:solidFill>
                <a:latin typeface="Arial"/>
                <a:ea typeface="Arial"/>
                <a:cs typeface="Arial"/>
              </a:rPr>
              <a:t>Collecter</a:t>
            </a:r>
          </a:p>
          <a:p xmlns:a="http://schemas.openxmlformats.org/drawingml/2006/main">
            <a:pPr>
              <a:defRPr sz="1800" b="1" i="0">
                <a:solidFill>
                  <a:srgbClr val="16324F"/>
                </a:solidFill>
                <a:latin typeface="Arial"/>
                <a:ea typeface="Arial"/>
                <a:cs typeface="Arial"/>
              </a:defRPr>
            </a:pPr>
            <a:r>
              <a:rPr sz="1800" b="1" i="0">
                <a:solidFill>
                  <a:srgbClr val="16324F"/>
                </a:solidFill>
                <a:latin typeface="Arial"/>
                <a:ea typeface="Arial"/>
                <a:cs typeface="Arial"/>
              </a:rPr>
              <a:t>et saisir</a:t>
            </a:r>
          </a:p>
        </p:txBody>
      </p:sp>
      <p:sp>
        <p:nvSpPr>
          <p:cNvPr id="5" name="">
            <a:extLst xmlns:a="http://schemas.openxmlformats.org/drawingml/2006/main">
              <a:ext uri="{FF2B5EF4-FFF2-40B4-BE49-F238E27FC236}">
                <a16:creationId xmlns:a16="http://schemas.microsoft.com/office/drawing/2014/main" id="{489C5896-D43B-438A-BCA3-CAAAA21E6350}"/>
              </a:ext>
            </a:extLst>
          </p:cNvPr>
          <p:cNvSpPr>
            <a:spLocks xmlns:a="http://schemas.openxmlformats.org/drawingml/2006/main" noGrp="1"/>
          </p:cNvSpPr>
          <p:nvPr/>
        </p:nvSpPr>
        <p:spPr>
          <a:xfrm xmlns:a="http://schemas.openxmlformats.org/drawingml/2006/main">
            <a:off x="2924175" y="2000250"/>
            <a:ext cx="1095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i="0">
                <a:solidFill>
                  <a:srgbClr val="3F6B4A"/>
                </a:solidFill>
                <a:latin typeface="Arial"/>
                <a:ea typeface="Arial"/>
                <a:cs typeface="Arial"/>
              </a:defRPr>
            </a:pPr>
            <a:r>
              <a:rPr sz="3300" b="1" i="0">
                <a:solidFill>
                  <a:srgbClr val="3F6B4A"/>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CC9DAFBB-2849-48CE-AF07-8E5BEE790EA1}"/>
              </a:ext>
            </a:extLst>
          </p:cNvPr>
          <p:cNvSpPr>
            <a:spLocks xmlns:a="http://schemas.openxmlformats.org/drawingml/2006/main" noGrp="1"/>
          </p:cNvSpPr>
          <p:nvPr/>
        </p:nvSpPr>
        <p:spPr>
          <a:xfrm xmlns:a="http://schemas.openxmlformats.org/drawingml/2006/main">
            <a:off x="2924175" y="2781300"/>
            <a:ext cx="1857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16324F"/>
                </a:solidFill>
                <a:latin typeface="Arial"/>
                <a:ea typeface="Arial"/>
                <a:cs typeface="Arial"/>
              </a:defRPr>
            </a:pPr>
            <a:r>
              <a:rPr sz="1800" b="1" i="0">
                <a:solidFill>
                  <a:srgbClr val="16324F"/>
                </a:solidFill>
                <a:latin typeface="Arial"/>
                <a:ea typeface="Arial"/>
                <a:cs typeface="Arial"/>
              </a:rPr>
              <a:t>Vérifier</a:t>
            </a:r>
          </a:p>
          <a:p xmlns:a="http://schemas.openxmlformats.org/drawingml/2006/main">
            <a:pPr>
              <a:defRPr sz="1800" b="1" i="0">
                <a:solidFill>
                  <a:srgbClr val="16324F"/>
                </a:solidFill>
                <a:latin typeface="Arial"/>
                <a:ea typeface="Arial"/>
                <a:cs typeface="Arial"/>
              </a:defRPr>
            </a:pPr>
            <a:r>
              <a:rPr sz="1800" b="1" i="0">
                <a:solidFill>
                  <a:srgbClr val="16324F"/>
                </a:solidFill>
                <a:latin typeface="Arial"/>
                <a:ea typeface="Arial"/>
                <a:cs typeface="Arial"/>
              </a:rPr>
              <a:t>et contrôler</a:t>
            </a:r>
          </a:p>
        </p:txBody>
      </p:sp>
      <p:sp>
        <p:nvSpPr>
          <p:cNvPr id="7" name="">
            <a:extLst xmlns:a="http://schemas.openxmlformats.org/drawingml/2006/main">
              <a:ext uri="{FF2B5EF4-FFF2-40B4-BE49-F238E27FC236}">
                <a16:creationId xmlns:a16="http://schemas.microsoft.com/office/drawing/2014/main" id="{CF236115-0FA2-46D7-A89A-416807D6C7D0}"/>
              </a:ext>
            </a:extLst>
          </p:cNvPr>
          <p:cNvSpPr>
            <a:spLocks xmlns:a="http://schemas.openxmlformats.org/drawingml/2006/main" noGrp="1"/>
          </p:cNvSpPr>
          <p:nvPr/>
        </p:nvSpPr>
        <p:spPr>
          <a:xfrm xmlns:a="http://schemas.openxmlformats.org/drawingml/2006/main">
            <a:off x="5219700" y="2000250"/>
            <a:ext cx="1095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i="0">
                <a:solidFill>
                  <a:srgbClr val="16324F"/>
                </a:solidFill>
                <a:latin typeface="Arial"/>
                <a:ea typeface="Arial"/>
                <a:cs typeface="Arial"/>
              </a:defRPr>
            </a:pPr>
            <a:r>
              <a:rPr sz="3300" b="1" i="0">
                <a:solidFill>
                  <a:srgbClr val="16324F"/>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BA213FF4-675C-430B-8440-342E8836FC86}"/>
              </a:ext>
            </a:extLst>
          </p:cNvPr>
          <p:cNvSpPr>
            <a:spLocks xmlns:a="http://schemas.openxmlformats.org/drawingml/2006/main" noGrp="1"/>
          </p:cNvSpPr>
          <p:nvPr/>
        </p:nvSpPr>
        <p:spPr>
          <a:xfrm xmlns:a="http://schemas.openxmlformats.org/drawingml/2006/main">
            <a:off x="5219700" y="2781300"/>
            <a:ext cx="1857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16324F"/>
                </a:solidFill>
                <a:latin typeface="Arial"/>
                <a:ea typeface="Arial"/>
                <a:cs typeface="Arial"/>
              </a:defRPr>
            </a:pPr>
            <a:r>
              <a:rPr sz="1800" b="1" i="0">
                <a:solidFill>
                  <a:srgbClr val="16324F"/>
                </a:solidFill>
                <a:latin typeface="Arial"/>
                <a:ea typeface="Arial"/>
                <a:cs typeface="Arial"/>
              </a:rPr>
              <a:t>Corriger</a:t>
            </a:r>
          </a:p>
          <a:p xmlns:a="http://schemas.openxmlformats.org/drawingml/2006/main">
            <a:pPr>
              <a:defRPr sz="1800" b="1" i="0">
                <a:solidFill>
                  <a:srgbClr val="16324F"/>
                </a:solidFill>
                <a:latin typeface="Arial"/>
                <a:ea typeface="Arial"/>
                <a:cs typeface="Arial"/>
              </a:defRPr>
            </a:pPr>
            <a:r>
              <a:rPr sz="1800" b="1" i="0">
                <a:solidFill>
                  <a:srgbClr val="16324F"/>
                </a:solidFill>
                <a:latin typeface="Arial"/>
                <a:ea typeface="Arial"/>
                <a:cs typeface="Arial"/>
              </a:rPr>
              <a:t>et valider</a:t>
            </a:r>
          </a:p>
        </p:txBody>
      </p:sp>
      <p:sp>
        <p:nvSpPr>
          <p:cNvPr id="9" name="">
            <a:extLst xmlns:a="http://schemas.openxmlformats.org/drawingml/2006/main">
              <a:ext uri="{FF2B5EF4-FFF2-40B4-BE49-F238E27FC236}">
                <a16:creationId xmlns:a16="http://schemas.microsoft.com/office/drawing/2014/main" id="{BEDF38A1-1C42-4671-9A61-17094A8DCFD9}"/>
              </a:ext>
            </a:extLst>
          </p:cNvPr>
          <p:cNvSpPr>
            <a:spLocks xmlns:a="http://schemas.openxmlformats.org/drawingml/2006/main" noGrp="1"/>
          </p:cNvSpPr>
          <p:nvPr/>
        </p:nvSpPr>
        <p:spPr>
          <a:xfrm xmlns:a="http://schemas.openxmlformats.org/drawingml/2006/main">
            <a:off x="7515225" y="2000250"/>
            <a:ext cx="1095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i="0">
                <a:solidFill>
                  <a:srgbClr val="E8A62A"/>
                </a:solidFill>
                <a:latin typeface="Arial"/>
                <a:ea typeface="Arial"/>
                <a:cs typeface="Arial"/>
              </a:defRPr>
            </a:pPr>
            <a:r>
              <a:rPr sz="3300" b="1" i="0">
                <a:solidFill>
                  <a:srgbClr val="E8A62A"/>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3B0F56EB-460B-4166-B7A7-A4411188463F}"/>
              </a:ext>
            </a:extLst>
          </p:cNvPr>
          <p:cNvSpPr>
            <a:spLocks xmlns:a="http://schemas.openxmlformats.org/drawingml/2006/main" noGrp="1"/>
          </p:cNvSpPr>
          <p:nvPr/>
        </p:nvSpPr>
        <p:spPr>
          <a:xfrm xmlns:a="http://schemas.openxmlformats.org/drawingml/2006/main">
            <a:off x="7515225" y="2781300"/>
            <a:ext cx="1857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16324F"/>
                </a:solidFill>
                <a:latin typeface="Arial"/>
                <a:ea typeface="Arial"/>
                <a:cs typeface="Arial"/>
              </a:defRPr>
            </a:pPr>
            <a:r>
              <a:rPr sz="1800" b="1" i="0">
                <a:solidFill>
                  <a:srgbClr val="16324F"/>
                </a:solidFill>
                <a:latin typeface="Arial"/>
                <a:ea typeface="Arial"/>
                <a:cs typeface="Arial"/>
              </a:rPr>
              <a:t>Mettre à jour</a:t>
            </a:r>
          </a:p>
          <a:p xmlns:a="http://schemas.openxmlformats.org/drawingml/2006/main">
            <a:pPr>
              <a:defRPr sz="1800" b="1" i="0">
                <a:solidFill>
                  <a:srgbClr val="16324F"/>
                </a:solidFill>
                <a:latin typeface="Arial"/>
                <a:ea typeface="Arial"/>
                <a:cs typeface="Arial"/>
              </a:defRPr>
            </a:pPr>
            <a:r>
              <a:rPr sz="1800" b="1" i="0">
                <a:solidFill>
                  <a:srgbClr val="16324F"/>
                </a:solidFill>
                <a:latin typeface="Arial"/>
                <a:ea typeface="Arial"/>
                <a:cs typeface="Arial"/>
              </a:rPr>
              <a:t>et suivre</a:t>
            </a:r>
          </a:p>
        </p:txBody>
      </p:sp>
      <p:sp>
        <p:nvSpPr>
          <p:cNvPr id="11" name="">
            <a:extLst xmlns:a="http://schemas.openxmlformats.org/drawingml/2006/main">
              <a:ext uri="{FF2B5EF4-FFF2-40B4-BE49-F238E27FC236}">
                <a16:creationId xmlns:a16="http://schemas.microsoft.com/office/drawing/2014/main" id="{AA9C82D1-C2A1-459F-BA3E-94ADD4884778}"/>
              </a:ext>
            </a:extLst>
          </p:cNvPr>
          <p:cNvSpPr>
            <a:spLocks xmlns:a="http://schemas.openxmlformats.org/drawingml/2006/main" noGrp="1"/>
          </p:cNvSpPr>
          <p:nvPr/>
        </p:nvSpPr>
        <p:spPr>
          <a:xfrm xmlns:a="http://schemas.openxmlformats.org/drawingml/2006/main">
            <a:off x="9810750" y="2000250"/>
            <a:ext cx="1095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i="0">
                <a:solidFill>
                  <a:srgbClr val="3F6B4A"/>
                </a:solidFill>
                <a:latin typeface="Arial"/>
                <a:ea typeface="Arial"/>
                <a:cs typeface="Arial"/>
              </a:defRPr>
            </a:pPr>
            <a:r>
              <a:rPr sz="3300" b="1" i="0">
                <a:solidFill>
                  <a:srgbClr val="3F6B4A"/>
                </a:solidFill>
                <a:latin typeface="Arial"/>
                <a:ea typeface="Arial"/>
                <a:cs typeface="Arial"/>
              </a:rPr>
              <a:t>05</a:t>
            </a:r>
          </a:p>
        </p:txBody>
      </p:sp>
      <p:sp>
        <p:nvSpPr>
          <p:cNvPr id="12" name="">
            <a:extLst xmlns:a="http://schemas.openxmlformats.org/drawingml/2006/main">
              <a:ext uri="{FF2B5EF4-FFF2-40B4-BE49-F238E27FC236}">
                <a16:creationId xmlns:a16="http://schemas.microsoft.com/office/drawing/2014/main" id="{2ABB1FAA-CA38-473B-A408-490B0BD34C78}"/>
              </a:ext>
            </a:extLst>
          </p:cNvPr>
          <p:cNvSpPr>
            <a:spLocks xmlns:a="http://schemas.openxmlformats.org/drawingml/2006/main" noGrp="1"/>
          </p:cNvSpPr>
          <p:nvPr/>
        </p:nvSpPr>
        <p:spPr>
          <a:xfrm xmlns:a="http://schemas.openxmlformats.org/drawingml/2006/main">
            <a:off x="9810750" y="2781300"/>
            <a:ext cx="1857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16324F"/>
                </a:solidFill>
                <a:latin typeface="Arial"/>
                <a:ea typeface="Arial"/>
                <a:cs typeface="Arial"/>
              </a:defRPr>
            </a:pPr>
            <a:r>
              <a:rPr sz="1800" b="1" i="0">
                <a:solidFill>
                  <a:srgbClr val="16324F"/>
                </a:solidFill>
                <a:latin typeface="Arial"/>
                <a:ea typeface="Arial"/>
                <a:cs typeface="Arial"/>
              </a:rPr>
              <a:t>Analyser, restituer</a:t>
            </a:r>
          </a:p>
          <a:p xmlns:a="http://schemas.openxmlformats.org/drawingml/2006/main">
            <a:pPr>
              <a:defRPr sz="1800" b="1" i="0">
                <a:solidFill>
                  <a:srgbClr val="16324F"/>
                </a:solidFill>
                <a:latin typeface="Arial"/>
                <a:ea typeface="Arial"/>
                <a:cs typeface="Arial"/>
              </a:defRPr>
            </a:pPr>
            <a:r>
              <a:rPr sz="1800" b="1" i="0">
                <a:solidFill>
                  <a:srgbClr val="16324F"/>
                </a:solidFill>
                <a:latin typeface="Arial"/>
                <a:ea typeface="Arial"/>
                <a:cs typeface="Arial"/>
              </a:rPr>
              <a:t>et décider</a:t>
            </a:r>
          </a:p>
        </p:txBody>
      </p:sp>
      <p:sp>
        <p:nvSpPr>
          <p:cNvPr id="13" name="">
            <a:extLst xmlns:a="http://schemas.openxmlformats.org/drawingml/2006/main">
              <a:ext uri="{FF2B5EF4-FFF2-40B4-BE49-F238E27FC236}">
                <a16:creationId xmlns:a16="http://schemas.microsoft.com/office/drawing/2014/main" id="{8ECC966B-6A9E-4217-B964-2CEA2E361265}"/>
              </a:ext>
            </a:extLst>
          </p:cNvPr>
          <p:cNvSpPr>
            <a:spLocks xmlns:a="http://schemas.openxmlformats.org/drawingml/2006/main" noGrp="1"/>
          </p:cNvSpPr>
          <p:nvPr/>
        </p:nvSpPr>
        <p:spPr>
          <a:xfrm xmlns:a="http://schemas.openxmlformats.org/drawingml/2006/main">
            <a:off x="685800" y="49530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i="0">
                <a:solidFill>
                  <a:srgbClr val="1E2B35"/>
                </a:solidFill>
                <a:latin typeface="Arial"/>
                <a:ea typeface="Arial"/>
                <a:cs typeface="Arial"/>
              </a:defRPr>
            </a:pPr>
            <a:r>
              <a:rPr sz="2400" b="1" i="0">
                <a:solidFill>
                  <a:srgbClr val="1E2B35"/>
                </a:solidFill>
                <a:latin typeface="Arial"/>
                <a:ea typeface="Arial"/>
                <a:cs typeface="Arial"/>
              </a:rPr>
              <a:t>Chaque étape dépend de la qualité de la précédente.</a:t>
            </a:r>
          </a:p>
        </p:txBody>
      </p:sp>
      <p:sp>
        <p:nvSpPr>
          <p:cNvPr id="14" name="">
            <a:extLst xmlns:a="http://schemas.openxmlformats.org/drawingml/2006/main">
              <a:ext uri="{FF2B5EF4-FFF2-40B4-BE49-F238E27FC236}">
                <a16:creationId xmlns:a16="http://schemas.microsoft.com/office/drawing/2014/main" id="{77FAF854-6597-4C5C-8A19-990DF643218D}"/>
              </a:ext>
            </a:extLst>
          </p:cNvPr>
          <p:cNvSpPr>
            <a:spLocks xmlns:a="http://schemas.openxmlformats.org/drawingml/2006/main" noGrp="1"/>
          </p:cNvSpPr>
          <p:nvPr/>
        </p:nvSpPr>
        <p:spPr>
          <a:xfrm xmlns:a="http://schemas.openxmlformats.org/drawingml/2006/main">
            <a:off x="11049000" y="63150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66727C"/>
                </a:solidFill>
                <a:latin typeface="Arial"/>
                <a:ea typeface="Arial"/>
                <a:cs typeface="Arial"/>
              </a:defRPr>
            </a:pPr>
            <a:r>
              <a:rPr sz="1050" b="1" i="0">
                <a:solidFill>
                  <a:srgbClr val="66727C"/>
                </a:solidFill>
                <a:latin typeface="Arial"/>
                <a:ea typeface="Arial"/>
                <a:cs typeface="Arial"/>
              </a:rPr>
              <a:t>03</a:t>
            </a:r>
          </a:p>
        </p:txBody>
      </p:sp>
    </p:spTree>
    <p:extLst>
      <p:ext uri="{BB962C8B-B14F-4D97-AF65-F5344CB8AC3E}">
        <p14:creationId xmlns:p14="http://schemas.microsoft.com/office/powerpoint/2010/main" val="527373813"/>
      </p:ext>
    </p:extLst>
  </p:cSld>
</p:sld>
</file>

<file path=ppt/slides/slide4.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80CEAED-B9CD-4D2A-AEAB-EC38E7AEAC75}"/>
              </a:ext>
            </a:extLst>
          </p:cNvPr>
          <p:cNvSpPr>
            <a:spLocks xmlns:a="http://schemas.openxmlformats.org/drawingml/2006/main" noGrp="1"/>
          </p:cNvSpPr>
          <p:nvPr/>
        </p:nvSpPr>
        <p:spPr>
          <a:xfrm xmlns:a="http://schemas.openxmlformats.org/drawingml/2006/main">
            <a:off x="685800" y="4000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3F6B4A"/>
                </a:solidFill>
                <a:latin typeface="Arial"/>
                <a:ea typeface="Arial"/>
                <a:cs typeface="Arial"/>
              </a:defRPr>
            </a:pPr>
            <a:r>
              <a:rPr sz="1200" b="1" i="0">
                <a:solidFill>
                  <a:srgbClr val="3F6B4A"/>
                </a:solidFill>
                <a:latin typeface="Arial"/>
                <a:ea typeface="Arial"/>
                <a:cs typeface="Arial"/>
              </a:rPr>
              <a:t>UNE MISSION, DEUX SITUATIONS</a:t>
            </a:r>
          </a:p>
        </p:txBody>
      </p:sp>
      <p:sp>
        <p:nvSpPr>
          <p:cNvPr id="2" name="">
            <a:extLst xmlns:a="http://schemas.openxmlformats.org/drawingml/2006/main">
              <a:ext uri="{FF2B5EF4-FFF2-40B4-BE49-F238E27FC236}">
                <a16:creationId xmlns:a16="http://schemas.microsoft.com/office/drawing/2014/main" id="{6D98C101-F085-4E70-94B1-8809E04294C8}"/>
              </a:ext>
            </a:extLst>
          </p:cNvPr>
          <p:cNvSpPr>
            <a:spLocks xmlns:a="http://schemas.openxmlformats.org/drawingml/2006/main" noGrp="1"/>
          </p:cNvSpPr>
          <p:nvPr/>
        </p:nvSpPr>
        <p:spPr>
          <a:xfrm xmlns:a="http://schemas.openxmlformats.org/drawingml/2006/main">
            <a:off x="685800" y="742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6324F"/>
                </a:solidFill>
                <a:latin typeface="Arial"/>
                <a:ea typeface="Arial"/>
                <a:cs typeface="Arial"/>
              </a:defRPr>
            </a:pPr>
            <a:r>
              <a:rPr sz="3150" b="1" i="0">
                <a:solidFill>
                  <a:srgbClr val="16324F"/>
                </a:solidFill>
                <a:latin typeface="Arial"/>
                <a:ea typeface="Arial"/>
                <a:cs typeface="Arial"/>
              </a:rPr>
              <a:t>Cas pratique de collecte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0d2ab9c87d34179"/>
          <a:srcRect xmlns:a="http://schemas.openxmlformats.org/drawingml/2006/main" l="0" t="17936" r="0" b="17936"/>
          <a:stretch xmlns:a="http://schemas.openxmlformats.org/drawingml/2006/main">
            <a:fillRect l="0" t="0" r="0" b="0"/>
          </a:stretch>
        </p:blipFill>
        <p:spPr>
          <a:xfrm xmlns:a="http://schemas.openxmlformats.org/drawingml/2006/main">
            <a:off x="685800" y="1571625"/>
            <a:ext cx="10820400" cy="3905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C2EF69A-EEC7-42C6-8BBF-B71D1C18E552}"/>
              </a:ext>
            </a:extLst>
          </p:cNvPr>
          <p:cNvSpPr>
            <a:spLocks xmlns:a="http://schemas.openxmlformats.org/drawingml/2006/main" noGrp="1"/>
          </p:cNvSpPr>
          <p:nvPr/>
        </p:nvSpPr>
        <p:spPr>
          <a:xfrm xmlns:a="http://schemas.openxmlformats.org/drawingml/2006/main">
            <a:off x="838200" y="56769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i="0">
                <a:solidFill>
                  <a:srgbClr val="3F6B4A"/>
                </a:solidFill>
                <a:latin typeface="Arial"/>
                <a:ea typeface="Arial"/>
                <a:cs typeface="Arial"/>
              </a:defRPr>
            </a:pPr>
            <a:r>
              <a:rPr sz="1725" b="1" i="0">
                <a:solidFill>
                  <a:srgbClr val="3F6B4A"/>
                </a:solidFill>
                <a:latin typeface="Arial"/>
                <a:ea typeface="Arial"/>
                <a:cs typeface="Arial"/>
              </a:rPr>
              <a:t>Agent 1  •  KOLIKO Group</a:t>
            </a:r>
          </a:p>
        </p:txBody>
      </p:sp>
      <p:sp>
        <p:nvSpPr>
          <p:cNvPr id="5" name="">
            <a:extLst xmlns:a="http://schemas.openxmlformats.org/drawingml/2006/main">
              <a:ext uri="{FF2B5EF4-FFF2-40B4-BE49-F238E27FC236}">
                <a16:creationId xmlns:a16="http://schemas.microsoft.com/office/drawing/2014/main" id="{67A04C1C-7906-489C-8C44-FFC9E7EC4655}"/>
              </a:ext>
            </a:extLst>
          </p:cNvPr>
          <p:cNvSpPr>
            <a:spLocks xmlns:a="http://schemas.openxmlformats.org/drawingml/2006/main" noGrp="1"/>
          </p:cNvSpPr>
          <p:nvPr/>
        </p:nvSpPr>
        <p:spPr>
          <a:xfrm xmlns:a="http://schemas.openxmlformats.org/drawingml/2006/main">
            <a:off x="6619875" y="56769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i="0">
                <a:solidFill>
                  <a:srgbClr val="B24C3D"/>
                </a:solidFill>
                <a:latin typeface="Arial"/>
                <a:ea typeface="Arial"/>
                <a:cs typeface="Arial"/>
              </a:defRPr>
            </a:pPr>
            <a:r>
              <a:rPr sz="1725" b="1" i="0">
                <a:solidFill>
                  <a:srgbClr val="B24C3D"/>
                </a:solidFill>
                <a:latin typeface="Arial"/>
                <a:ea typeface="Arial"/>
                <a:cs typeface="Arial"/>
              </a:rPr>
              <a:t>Agent 2  •  Global MAIS</a:t>
            </a:r>
          </a:p>
        </p:txBody>
      </p:sp>
      <p:sp>
        <p:nvSpPr>
          <p:cNvPr id="6" name="">
            <a:extLst xmlns:a="http://schemas.openxmlformats.org/drawingml/2006/main">
              <a:ext uri="{FF2B5EF4-FFF2-40B4-BE49-F238E27FC236}">
                <a16:creationId xmlns:a16="http://schemas.microsoft.com/office/drawing/2014/main" id="{F7055DE1-954C-4C13-9A81-58B26F733AFC}"/>
              </a:ext>
            </a:extLst>
          </p:cNvPr>
          <p:cNvSpPr>
            <a:spLocks xmlns:a="http://schemas.openxmlformats.org/drawingml/2006/main" noGrp="1"/>
          </p:cNvSpPr>
          <p:nvPr/>
        </p:nvSpPr>
        <p:spPr>
          <a:xfrm xmlns:a="http://schemas.openxmlformats.org/drawingml/2006/main">
            <a:off x="11049000" y="63150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66727C"/>
                </a:solidFill>
                <a:latin typeface="Arial"/>
                <a:ea typeface="Arial"/>
                <a:cs typeface="Arial"/>
              </a:defRPr>
            </a:pPr>
            <a:r>
              <a:rPr sz="1050" b="1" i="0">
                <a:solidFill>
                  <a:srgbClr val="66727C"/>
                </a:solidFill>
                <a:latin typeface="Arial"/>
                <a:ea typeface="Arial"/>
                <a:cs typeface="Arial"/>
              </a:rPr>
              <a:t>04</a:t>
            </a:r>
          </a:p>
        </p:txBody>
      </p:sp>
    </p:spTree>
    <p:extLst>
      <p:ext uri="{BB962C8B-B14F-4D97-AF65-F5344CB8AC3E}">
        <p14:creationId xmlns:p14="http://schemas.microsoft.com/office/powerpoint/2010/main" val="1459616505"/>
      </p:ext>
    </p:extLst>
  </p:cSld>
</p:sld>
</file>

<file path=ppt/slides/slide5.xml><?xml version="1.0" encoding="utf-8"?>
<p:sld xmlns:p="http://schemas.openxmlformats.org/presentationml/2006/main">
  <p:cSld>
    <p:bg>
      <p:bgPr>
        <a:solidFill xmlns:a="http://schemas.openxmlformats.org/drawingml/2006/main">
          <a:srgbClr val="EAF2E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AB102B-1E2D-474E-AD25-568DC4075941}"/>
              </a:ext>
            </a:extLst>
          </p:cNvPr>
          <p:cNvSpPr>
            <a:spLocks xmlns:a="http://schemas.openxmlformats.org/drawingml/2006/main" noGrp="1"/>
          </p:cNvSpPr>
          <p:nvPr/>
        </p:nvSpPr>
        <p:spPr>
          <a:xfrm xmlns:a="http://schemas.openxmlformats.org/drawingml/2006/main">
            <a:off x="685800" y="4000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3F6B4A"/>
                </a:solidFill>
                <a:latin typeface="Arial"/>
                <a:ea typeface="Arial"/>
                <a:cs typeface="Arial"/>
              </a:defRPr>
            </a:pPr>
            <a:r>
              <a:rPr sz="1200" b="1" i="0">
                <a:solidFill>
                  <a:srgbClr val="3F6B4A"/>
                </a:solidFill>
                <a:latin typeface="Arial"/>
                <a:ea typeface="Arial"/>
                <a:cs typeface="Arial"/>
              </a:rPr>
              <a:t>SITUATION A</a:t>
            </a:r>
          </a:p>
        </p:txBody>
      </p:sp>
      <p:sp>
        <p:nvSpPr>
          <p:cNvPr id="2" name="">
            <a:extLst xmlns:a="http://schemas.openxmlformats.org/drawingml/2006/main">
              <a:ext uri="{FF2B5EF4-FFF2-40B4-BE49-F238E27FC236}">
                <a16:creationId xmlns:a16="http://schemas.microsoft.com/office/drawing/2014/main" id="{711C00A3-8C37-476E-BCF1-A789123FDC60}"/>
              </a:ext>
            </a:extLst>
          </p:cNvPr>
          <p:cNvSpPr>
            <a:spLocks xmlns:a="http://schemas.openxmlformats.org/drawingml/2006/main" noGrp="1"/>
          </p:cNvSpPr>
          <p:nvPr/>
        </p:nvSpPr>
        <p:spPr>
          <a:xfrm xmlns:a="http://schemas.openxmlformats.org/drawingml/2006/main">
            <a:off x="685800" y="742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6324F"/>
                </a:solidFill>
                <a:latin typeface="Arial"/>
                <a:ea typeface="Arial"/>
                <a:cs typeface="Arial"/>
              </a:defRPr>
            </a:pPr>
            <a:r>
              <a:rPr sz="3150" b="1" i="0">
                <a:solidFill>
                  <a:srgbClr val="16324F"/>
                </a:solidFill>
                <a:latin typeface="Arial"/>
                <a:ea typeface="Arial"/>
                <a:cs typeface="Arial"/>
              </a:rPr>
              <a:t>Collecte complète chez KOLIKO Group</a:t>
            </a:r>
          </a:p>
        </p:txBody>
      </p:sp>
      <p:sp>
        <p:nvSpPr>
          <p:cNvPr id="3" name="">
            <a:extLst xmlns:a="http://schemas.openxmlformats.org/drawingml/2006/main">
              <a:ext uri="{FF2B5EF4-FFF2-40B4-BE49-F238E27FC236}">
                <a16:creationId xmlns:a16="http://schemas.microsoft.com/office/drawing/2014/main" id="{7CA2E582-8663-4787-90C6-F23F7D641D66}"/>
              </a:ext>
            </a:extLst>
          </p:cNvPr>
          <p:cNvSpPr>
            <a:spLocks xmlns:a="http://schemas.openxmlformats.org/drawingml/2006/main" noGrp="1"/>
          </p:cNvSpPr>
          <p:nvPr/>
        </p:nvSpPr>
        <p:spPr>
          <a:xfrm xmlns:a="http://schemas.openxmlformats.org/drawingml/2006/main">
            <a:off x="809625" y="1790700"/>
            <a:ext cx="1238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i="0">
                <a:solidFill>
                  <a:srgbClr val="3F6B4A"/>
                </a:solidFill>
                <a:latin typeface="Arial"/>
                <a:ea typeface="Arial"/>
                <a:cs typeface="Arial"/>
              </a:defRPr>
            </a:pPr>
            <a:r>
              <a:rPr sz="6600" b="1" i="0">
                <a:solidFill>
                  <a:srgbClr val="3F6B4A"/>
                </a:solidFill>
                <a:latin typeface="Arial"/>
                <a:ea typeface="Arial"/>
                <a:cs typeface="Arial"/>
              </a:rPr>
              <a:t>✓</a:t>
            </a:r>
          </a:p>
        </p:txBody>
      </p:sp>
      <p:sp>
        <p:nvSpPr>
          <p:cNvPr id="4" name="">
            <a:extLst xmlns:a="http://schemas.openxmlformats.org/drawingml/2006/main">
              <a:ext uri="{FF2B5EF4-FFF2-40B4-BE49-F238E27FC236}">
                <a16:creationId xmlns:a16="http://schemas.microsoft.com/office/drawing/2014/main" id="{BAC76748-F2CB-460E-9E56-D2724A62570B}"/>
              </a:ext>
            </a:extLst>
          </p:cNvPr>
          <p:cNvSpPr>
            <a:spLocks xmlns:a="http://schemas.openxmlformats.org/drawingml/2006/main" noGrp="1"/>
          </p:cNvSpPr>
          <p:nvPr/>
        </p:nvSpPr>
        <p:spPr>
          <a:xfrm xmlns:a="http://schemas.openxmlformats.org/drawingml/2006/main">
            <a:off x="2333625" y="1714500"/>
            <a:ext cx="8572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Entreprise et déclarant correctement identifiés</a:t>
            </a:r>
          </a:p>
          <a:p xmlns:a="http://schemas.openxmlformats.org/drawingml/2006/main">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Activités, produits, contacts et marchés renseignés</a:t>
            </a:r>
          </a:p>
          <a:p xmlns:a="http://schemas.openxmlformats.org/drawingml/2006/main">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Certification : référentiel, organisme, numéro, dates et portée</a:t>
            </a:r>
          </a:p>
          <a:p xmlns:a="http://schemas.openxmlformats.org/drawingml/2006/main">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Preuves jointes, consentement et observations complétés</a:t>
            </a:r>
          </a:p>
        </p:txBody>
      </p:sp>
      <p:sp>
        <p:nvSpPr>
          <p:cNvPr id="5" name="">
            <a:extLst xmlns:a="http://schemas.openxmlformats.org/drawingml/2006/main">
              <a:ext uri="{FF2B5EF4-FFF2-40B4-BE49-F238E27FC236}">
                <a16:creationId xmlns:a16="http://schemas.microsoft.com/office/drawing/2014/main" id="{D9A43A76-CC18-499F-AEF1-C7A3CED88D50}"/>
              </a:ext>
            </a:extLst>
          </p:cNvPr>
          <p:cNvSpPr>
            <a:spLocks xmlns:a="http://schemas.openxmlformats.org/drawingml/2006/main" noGrp="1"/>
          </p:cNvSpPr>
          <p:nvPr/>
        </p:nvSpPr>
        <p:spPr>
          <a:xfrm xmlns:a="http://schemas.openxmlformats.org/drawingml/2006/main">
            <a:off x="2333625" y="5095875"/>
            <a:ext cx="857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i="0">
                <a:solidFill>
                  <a:srgbClr val="3F6B4A"/>
                </a:solidFill>
                <a:latin typeface="Arial"/>
                <a:ea typeface="Arial"/>
                <a:cs typeface="Arial"/>
              </a:defRPr>
            </a:pPr>
            <a:r>
              <a:rPr sz="2175" b="1" i="0">
                <a:solidFill>
                  <a:srgbClr val="3F6B4A"/>
                </a:solidFill>
                <a:latin typeface="Arial"/>
                <a:ea typeface="Arial"/>
                <a:cs typeface="Arial"/>
              </a:rPr>
              <a:t>Résultat : le dossier peut passer à l’étape de vérification.</a:t>
            </a:r>
          </a:p>
        </p:txBody>
      </p:sp>
      <p:sp>
        <p:nvSpPr>
          <p:cNvPr id="6" name="">
            <a:extLst xmlns:a="http://schemas.openxmlformats.org/drawingml/2006/main">
              <a:ext uri="{FF2B5EF4-FFF2-40B4-BE49-F238E27FC236}">
                <a16:creationId xmlns:a16="http://schemas.microsoft.com/office/drawing/2014/main" id="{6E325088-6F91-4AD2-863C-EC3659FCCED7}"/>
              </a:ext>
            </a:extLst>
          </p:cNvPr>
          <p:cNvSpPr>
            <a:spLocks xmlns:a="http://schemas.openxmlformats.org/drawingml/2006/main" noGrp="1"/>
          </p:cNvSpPr>
          <p:nvPr/>
        </p:nvSpPr>
        <p:spPr>
          <a:xfrm xmlns:a="http://schemas.openxmlformats.org/drawingml/2006/main">
            <a:off x="11049000" y="63150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66727C"/>
                </a:solidFill>
                <a:latin typeface="Arial"/>
                <a:ea typeface="Arial"/>
                <a:cs typeface="Arial"/>
              </a:defRPr>
            </a:pPr>
            <a:r>
              <a:rPr sz="1050" b="1" i="0">
                <a:solidFill>
                  <a:srgbClr val="66727C"/>
                </a:solidFill>
                <a:latin typeface="Arial"/>
                <a:ea typeface="Arial"/>
                <a:cs typeface="Arial"/>
              </a:rPr>
              <a:t>05</a:t>
            </a:r>
          </a:p>
        </p:txBody>
      </p:sp>
    </p:spTree>
    <p:extLst>
      <p:ext uri="{BB962C8B-B14F-4D97-AF65-F5344CB8AC3E}">
        <p14:creationId xmlns:p14="http://schemas.microsoft.com/office/powerpoint/2010/main" val="1163256088"/>
      </p:ext>
    </p:extLst>
  </p:cSld>
</p:sld>
</file>

<file path=ppt/slides/slide6.xml><?xml version="1.0" encoding="utf-8"?>
<p:sld xmlns:p="http://schemas.openxmlformats.org/presentationml/2006/main">
  <p:cSld>
    <p:bg>
      <p:bgPr>
        <a:solidFill xmlns:a="http://schemas.openxmlformats.org/drawingml/2006/main">
          <a:srgbClr val="F7E8E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F9D5EC9-96B8-4003-AD1B-40B6879095E0}"/>
              </a:ext>
            </a:extLst>
          </p:cNvPr>
          <p:cNvSpPr>
            <a:spLocks xmlns:a="http://schemas.openxmlformats.org/drawingml/2006/main" noGrp="1"/>
          </p:cNvSpPr>
          <p:nvPr/>
        </p:nvSpPr>
        <p:spPr>
          <a:xfrm xmlns:a="http://schemas.openxmlformats.org/drawingml/2006/main">
            <a:off x="685800" y="4000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3F6B4A"/>
                </a:solidFill>
                <a:latin typeface="Arial"/>
                <a:ea typeface="Arial"/>
                <a:cs typeface="Arial"/>
              </a:defRPr>
            </a:pPr>
            <a:r>
              <a:rPr sz="1200" b="1" i="0">
                <a:solidFill>
                  <a:srgbClr val="3F6B4A"/>
                </a:solidFill>
                <a:latin typeface="Arial"/>
                <a:ea typeface="Arial"/>
                <a:cs typeface="Arial"/>
              </a:rPr>
              <a:t>SITUATION B</a:t>
            </a:r>
          </a:p>
        </p:txBody>
      </p:sp>
      <p:sp>
        <p:nvSpPr>
          <p:cNvPr id="2" name="">
            <a:extLst xmlns:a="http://schemas.openxmlformats.org/drawingml/2006/main">
              <a:ext uri="{FF2B5EF4-FFF2-40B4-BE49-F238E27FC236}">
                <a16:creationId xmlns:a16="http://schemas.microsoft.com/office/drawing/2014/main" id="{A7A9421D-3E41-4068-A9E8-F0CB810FDF76}"/>
              </a:ext>
            </a:extLst>
          </p:cNvPr>
          <p:cNvSpPr>
            <a:spLocks xmlns:a="http://schemas.openxmlformats.org/drawingml/2006/main" noGrp="1"/>
          </p:cNvSpPr>
          <p:nvPr/>
        </p:nvSpPr>
        <p:spPr>
          <a:xfrm xmlns:a="http://schemas.openxmlformats.org/drawingml/2006/main">
            <a:off x="685800" y="742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6324F"/>
                </a:solidFill>
                <a:latin typeface="Arial"/>
                <a:ea typeface="Arial"/>
                <a:cs typeface="Arial"/>
              </a:defRPr>
            </a:pPr>
            <a:r>
              <a:rPr sz="3150" b="1" i="0">
                <a:solidFill>
                  <a:srgbClr val="16324F"/>
                </a:solidFill>
                <a:latin typeface="Arial"/>
                <a:ea typeface="Arial"/>
                <a:cs typeface="Arial"/>
              </a:rPr>
              <a:t>Informations insuffisantes chez Global MAIS</a:t>
            </a:r>
          </a:p>
        </p:txBody>
      </p:sp>
      <p:sp>
        <p:nvSpPr>
          <p:cNvPr id="3" name="">
            <a:extLst xmlns:a="http://schemas.openxmlformats.org/drawingml/2006/main">
              <a:ext uri="{FF2B5EF4-FFF2-40B4-BE49-F238E27FC236}">
                <a16:creationId xmlns:a16="http://schemas.microsoft.com/office/drawing/2014/main" id="{09CBED73-4CC2-4F1B-8800-A8D808E03AA0}"/>
              </a:ext>
            </a:extLst>
          </p:cNvPr>
          <p:cNvSpPr>
            <a:spLocks xmlns:a="http://schemas.openxmlformats.org/drawingml/2006/main" noGrp="1"/>
          </p:cNvSpPr>
          <p:nvPr/>
        </p:nvSpPr>
        <p:spPr>
          <a:xfrm xmlns:a="http://schemas.openxmlformats.org/drawingml/2006/main">
            <a:off x="1000125" y="1781175"/>
            <a:ext cx="95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i="0">
                <a:solidFill>
                  <a:srgbClr val="B24C3D"/>
                </a:solidFill>
                <a:latin typeface="Arial"/>
                <a:ea typeface="Arial"/>
                <a:cs typeface="Arial"/>
              </a:defRPr>
            </a:pPr>
            <a:r>
              <a:rPr sz="6600" b="1" i="0">
                <a:solidFill>
                  <a:srgbClr val="B24C3D"/>
                </a:solidFill>
                <a:latin typeface="Arial"/>
                <a:ea typeface="Arial"/>
                <a:cs typeface="Arial"/>
              </a:rPr>
              <a:t>!</a:t>
            </a:r>
          </a:p>
        </p:txBody>
      </p:sp>
      <p:sp>
        <p:nvSpPr>
          <p:cNvPr id="4" name="">
            <a:extLst xmlns:a="http://schemas.openxmlformats.org/drawingml/2006/main">
              <a:ext uri="{FF2B5EF4-FFF2-40B4-BE49-F238E27FC236}">
                <a16:creationId xmlns:a16="http://schemas.microsoft.com/office/drawing/2014/main" id="{93C41D76-AAA0-4B7F-9322-64DBB6B7E13A}"/>
              </a:ext>
            </a:extLst>
          </p:cNvPr>
          <p:cNvSpPr>
            <a:spLocks xmlns:a="http://schemas.openxmlformats.org/drawingml/2006/main" noGrp="1"/>
          </p:cNvSpPr>
          <p:nvPr/>
        </p:nvSpPr>
        <p:spPr>
          <a:xfrm xmlns:a="http://schemas.openxmlformats.org/drawingml/2006/main">
            <a:off x="2333625" y="1676400"/>
            <a:ext cx="8572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Informations sur l’entreprise correctement collectées</a:t>
            </a:r>
          </a:p>
          <a:p xmlns:a="http://schemas.openxmlformats.org/drawingml/2006/main">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Preuves de certification disponibles et exploitables</a:t>
            </a:r>
          </a:p>
          <a:p xmlns:a="http://schemas.openxmlformats.org/drawingml/2006/main">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Informations du déclarant non renseignées</a:t>
            </a:r>
          </a:p>
          <a:p xmlns:a="http://schemas.openxmlformats.org/drawingml/2006/main">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Seul le numéro de téléphone du déclarant est disponible</a:t>
            </a:r>
          </a:p>
        </p:txBody>
      </p:sp>
      <p:sp>
        <p:nvSpPr>
          <p:cNvPr id="5" name="">
            <a:extLst xmlns:a="http://schemas.openxmlformats.org/drawingml/2006/main">
              <a:ext uri="{FF2B5EF4-FFF2-40B4-BE49-F238E27FC236}">
                <a16:creationId xmlns:a16="http://schemas.microsoft.com/office/drawing/2014/main" id="{04FA7EE0-58C9-4760-87DF-35155A588739}"/>
              </a:ext>
            </a:extLst>
          </p:cNvPr>
          <p:cNvSpPr>
            <a:spLocks xmlns:a="http://schemas.openxmlformats.org/drawingml/2006/main" noGrp="1"/>
          </p:cNvSpPr>
          <p:nvPr/>
        </p:nvSpPr>
        <p:spPr>
          <a:xfrm xmlns:a="http://schemas.openxmlformats.org/drawingml/2006/main">
            <a:off x="2333625" y="5095875"/>
            <a:ext cx="857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i="0">
                <a:solidFill>
                  <a:srgbClr val="B24C3D"/>
                </a:solidFill>
                <a:latin typeface="Arial"/>
                <a:ea typeface="Arial"/>
                <a:cs typeface="Arial"/>
              </a:defRPr>
            </a:pPr>
            <a:r>
              <a:rPr sz="2175" b="1" i="0">
                <a:solidFill>
                  <a:srgbClr val="B24C3D"/>
                </a:solidFill>
                <a:latin typeface="Arial"/>
                <a:ea typeface="Arial"/>
                <a:cs typeface="Arial"/>
              </a:rPr>
              <a:t>Résultat : compléter la fiche du déclarant avant validation.</a:t>
            </a:r>
          </a:p>
        </p:txBody>
      </p:sp>
      <p:sp>
        <p:nvSpPr>
          <p:cNvPr id="6" name="">
            <a:extLst xmlns:a="http://schemas.openxmlformats.org/drawingml/2006/main">
              <a:ext uri="{FF2B5EF4-FFF2-40B4-BE49-F238E27FC236}">
                <a16:creationId xmlns:a16="http://schemas.microsoft.com/office/drawing/2014/main" id="{FCB73A70-8779-4116-986C-66F4F77EF2E8}"/>
              </a:ext>
            </a:extLst>
          </p:cNvPr>
          <p:cNvSpPr>
            <a:spLocks xmlns:a="http://schemas.openxmlformats.org/drawingml/2006/main" noGrp="1"/>
          </p:cNvSpPr>
          <p:nvPr/>
        </p:nvSpPr>
        <p:spPr>
          <a:xfrm xmlns:a="http://schemas.openxmlformats.org/drawingml/2006/main">
            <a:off x="11049000" y="63150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66727C"/>
                </a:solidFill>
                <a:latin typeface="Arial"/>
                <a:ea typeface="Arial"/>
                <a:cs typeface="Arial"/>
              </a:defRPr>
            </a:pPr>
            <a:r>
              <a:rPr sz="1050" b="1" i="0">
                <a:solidFill>
                  <a:srgbClr val="66727C"/>
                </a:solidFill>
                <a:latin typeface="Arial"/>
                <a:ea typeface="Arial"/>
                <a:cs typeface="Arial"/>
              </a:rPr>
              <a:t>06</a:t>
            </a:r>
          </a:p>
        </p:txBody>
      </p:sp>
    </p:spTree>
    <p:extLst>
      <p:ext uri="{BB962C8B-B14F-4D97-AF65-F5344CB8AC3E}">
        <p14:creationId xmlns:p14="http://schemas.microsoft.com/office/powerpoint/2010/main" val="33969955"/>
      </p:ext>
    </p:extLst>
  </p:cSld>
</p:sld>
</file>

<file path=ppt/slides/slide7.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97B054-2D60-402D-8B90-4AB46B4FD8CC}"/>
              </a:ext>
            </a:extLst>
          </p:cNvPr>
          <p:cNvSpPr>
            <a:spLocks xmlns:a="http://schemas.openxmlformats.org/drawingml/2006/main" noGrp="1"/>
          </p:cNvSpPr>
          <p:nvPr/>
        </p:nvSpPr>
        <p:spPr>
          <a:xfrm xmlns:a="http://schemas.openxmlformats.org/drawingml/2006/main">
            <a:off x="685800" y="4572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E8A62A"/>
                </a:solidFill>
                <a:latin typeface="Arial"/>
                <a:ea typeface="Arial"/>
                <a:cs typeface="Arial"/>
              </a:defRPr>
            </a:pPr>
            <a:r>
              <a:rPr sz="1200" b="1" i="0">
                <a:solidFill>
                  <a:srgbClr val="E8A62A"/>
                </a:solidFill>
                <a:latin typeface="Arial"/>
                <a:ea typeface="Arial"/>
                <a:cs typeface="Arial"/>
              </a:rPr>
              <a:t>DÉBRIEF DU CAS PRATIQUE</a:t>
            </a:r>
          </a:p>
        </p:txBody>
      </p:sp>
      <p:sp>
        <p:nvSpPr>
          <p:cNvPr id="2" name="">
            <a:extLst xmlns:a="http://schemas.openxmlformats.org/drawingml/2006/main">
              <a:ext uri="{FF2B5EF4-FFF2-40B4-BE49-F238E27FC236}">
                <a16:creationId xmlns:a16="http://schemas.microsoft.com/office/drawing/2014/main" id="{78D5D3D6-4532-486A-BBF3-6B2EC8F09C1A}"/>
              </a:ext>
            </a:extLst>
          </p:cNvPr>
          <p:cNvSpPr>
            <a:spLocks xmlns:a="http://schemas.openxmlformats.org/drawingml/2006/main" noGrp="1"/>
          </p:cNvSpPr>
          <p:nvPr/>
        </p:nvSpPr>
        <p:spPr>
          <a:xfrm xmlns:a="http://schemas.openxmlformats.org/drawingml/2006/main">
            <a:off x="685800" y="85725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i="0">
                <a:solidFill>
                  <a:srgbClr val="FFFFFF"/>
                </a:solidFill>
                <a:latin typeface="Arial"/>
                <a:ea typeface="Arial"/>
                <a:cs typeface="Arial"/>
              </a:defRPr>
            </a:pPr>
            <a:r>
              <a:rPr sz="3300" b="1" i="0">
                <a:solidFill>
                  <a:srgbClr val="FFFFFF"/>
                </a:solidFill>
                <a:latin typeface="Arial"/>
                <a:ea typeface="Arial"/>
                <a:cs typeface="Arial"/>
              </a:rPr>
              <a:t>Qu’allons-nous décider ?</a:t>
            </a:r>
          </a:p>
        </p:txBody>
      </p:sp>
      <p:sp>
        <p:nvSpPr>
          <p:cNvPr id="3" name="">
            <a:extLst xmlns:a="http://schemas.openxmlformats.org/drawingml/2006/main">
              <a:ext uri="{FF2B5EF4-FFF2-40B4-BE49-F238E27FC236}">
                <a16:creationId xmlns:a16="http://schemas.microsoft.com/office/drawing/2014/main" id="{EB952E3B-D3C8-4866-B479-04EE066C7673}"/>
              </a:ext>
            </a:extLst>
          </p:cNvPr>
          <p:cNvSpPr>
            <a:spLocks xmlns:a="http://schemas.openxmlformats.org/drawingml/2006/main" noGrp="1"/>
          </p:cNvSpPr>
          <p:nvPr/>
        </p:nvSpPr>
        <p:spPr>
          <a:xfrm xmlns:a="http://schemas.openxmlformats.org/drawingml/2006/main">
            <a:off x="781050" y="1952625"/>
            <a:ext cx="10096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27000">
              <a:spcAft>
                <a:spcPts val="1800"/>
              </a:spcAft>
              <a:buChar char="•"/>
              <a:defRPr sz="2025">
                <a:solidFill>
                  <a:srgbClr val="FFFFFF"/>
                </a:solidFill>
                <a:latin typeface="Arial"/>
                <a:ea typeface="Arial"/>
                <a:cs typeface="Arial"/>
              </a:defRPr>
            </a:pPr>
            <a:r>
              <a:rPr sz="2025">
                <a:solidFill>
                  <a:srgbClr val="FFFFFF"/>
                </a:solidFill>
                <a:latin typeface="Arial"/>
                <a:ea typeface="Arial"/>
                <a:cs typeface="Arial"/>
              </a:rPr>
              <a:t>Quelles informations peut-on saisir immédiatement ?</a:t>
            </a:r>
          </a:p>
          <a:p xmlns:a="http://schemas.openxmlformats.org/drawingml/2006/main">
            <a:pPr marL="279400" indent="-127000">
              <a:spcAft>
                <a:spcPts val="1800"/>
              </a:spcAft>
              <a:buChar char="•"/>
              <a:defRPr sz="2025">
                <a:solidFill>
                  <a:srgbClr val="FFFFFF"/>
                </a:solidFill>
                <a:latin typeface="Arial"/>
                <a:ea typeface="Arial"/>
                <a:cs typeface="Arial"/>
              </a:defRPr>
            </a:pPr>
            <a:r>
              <a:rPr sz="2025">
                <a:solidFill>
                  <a:srgbClr val="FFFFFF"/>
                </a:solidFill>
                <a:latin typeface="Arial"/>
                <a:ea typeface="Arial"/>
                <a:cs typeface="Arial"/>
              </a:rPr>
              <a:t>Quelles données doivent rester « À vérifier » ?</a:t>
            </a:r>
          </a:p>
          <a:p xmlns:a="http://schemas.openxmlformats.org/drawingml/2006/main">
            <a:pPr marL="279400" indent="-127000">
              <a:spcAft>
                <a:spcPts val="1800"/>
              </a:spcAft>
              <a:buChar char="•"/>
              <a:defRPr sz="2025">
                <a:solidFill>
                  <a:srgbClr val="FFFFFF"/>
                </a:solidFill>
                <a:latin typeface="Arial"/>
                <a:ea typeface="Arial"/>
                <a:cs typeface="Arial"/>
              </a:defRPr>
            </a:pPr>
            <a:r>
              <a:rPr sz="2025">
                <a:solidFill>
                  <a:srgbClr val="FFFFFF"/>
                </a:solidFill>
                <a:latin typeface="Arial"/>
                <a:ea typeface="Arial"/>
                <a:cs typeface="Arial"/>
              </a:rPr>
              <a:t>Quelles preuves faut-il demander ?</a:t>
            </a:r>
          </a:p>
          <a:p xmlns:a="http://schemas.openxmlformats.org/drawingml/2006/main">
            <a:pPr marL="279400" indent="-127000">
              <a:spcAft>
                <a:spcPts val="1800"/>
              </a:spcAft>
              <a:buChar char="•"/>
              <a:defRPr sz="2025">
                <a:solidFill>
                  <a:srgbClr val="FFFFFF"/>
                </a:solidFill>
                <a:latin typeface="Arial"/>
                <a:ea typeface="Arial"/>
                <a:cs typeface="Arial"/>
              </a:defRPr>
            </a:pPr>
            <a:r>
              <a:rPr sz="2025">
                <a:solidFill>
                  <a:srgbClr val="FFFFFF"/>
                </a:solidFill>
                <a:latin typeface="Arial"/>
                <a:ea typeface="Arial"/>
                <a:cs typeface="Arial"/>
              </a:rPr>
              <a:t>Quelle est la prochaine action — et qui en est responsable ?</a:t>
            </a:r>
          </a:p>
        </p:txBody>
      </p:sp>
      <p:sp>
        <p:nvSpPr>
          <p:cNvPr id="4" name="">
            <a:extLst xmlns:a="http://schemas.openxmlformats.org/drawingml/2006/main">
              <a:ext uri="{FF2B5EF4-FFF2-40B4-BE49-F238E27FC236}">
                <a16:creationId xmlns:a16="http://schemas.microsoft.com/office/drawing/2014/main" id="{0AC38365-6571-4B70-B345-9D71526E9924}"/>
              </a:ext>
            </a:extLst>
          </p:cNvPr>
          <p:cNvSpPr>
            <a:spLocks xmlns:a="http://schemas.openxmlformats.org/drawingml/2006/main" noGrp="1"/>
          </p:cNvSpPr>
          <p:nvPr/>
        </p:nvSpPr>
        <p:spPr>
          <a:xfrm xmlns:a="http://schemas.openxmlformats.org/drawingml/2006/main">
            <a:off x="781050" y="5191125"/>
            <a:ext cx="9525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i="0">
                <a:solidFill>
                  <a:srgbClr val="E8A62A"/>
                </a:solidFill>
                <a:latin typeface="Arial"/>
                <a:ea typeface="Arial"/>
                <a:cs typeface="Arial"/>
              </a:defRPr>
            </a:pPr>
            <a:r>
              <a:rPr sz="2250" b="1" i="0">
                <a:solidFill>
                  <a:srgbClr val="E8A62A"/>
                </a:solidFill>
                <a:latin typeface="Arial"/>
                <a:ea typeface="Arial"/>
                <a:cs typeface="Arial"/>
              </a:rPr>
              <a:t>Une donnée complète dès la collecte réduit les corrections</a:t>
            </a:r>
          </a:p>
          <a:p xmlns:a="http://schemas.openxmlformats.org/drawingml/2006/main">
            <a:pPr>
              <a:defRPr sz="2250" b="1" i="0">
                <a:solidFill>
                  <a:srgbClr val="E8A62A"/>
                </a:solidFill>
                <a:latin typeface="Arial"/>
                <a:ea typeface="Arial"/>
                <a:cs typeface="Arial"/>
              </a:defRPr>
            </a:pPr>
            <a:r>
              <a:rPr sz="2250" b="1" i="0">
                <a:solidFill>
                  <a:srgbClr val="E8A62A"/>
                </a:solidFill>
                <a:latin typeface="Arial"/>
                <a:ea typeface="Arial"/>
                <a:cs typeface="Arial"/>
              </a:rPr>
              <a:t>et sécurise tout le traitement.</a:t>
            </a:r>
          </a:p>
        </p:txBody>
      </p:sp>
      <p:sp>
        <p:nvSpPr>
          <p:cNvPr id="5" name="">
            <a:extLst xmlns:a="http://schemas.openxmlformats.org/drawingml/2006/main">
              <a:ext uri="{FF2B5EF4-FFF2-40B4-BE49-F238E27FC236}">
                <a16:creationId xmlns:a16="http://schemas.microsoft.com/office/drawing/2014/main" id="{AD5E179A-629F-4780-96A7-98D713BC5D46}"/>
              </a:ext>
            </a:extLst>
          </p:cNvPr>
          <p:cNvSpPr>
            <a:spLocks xmlns:a="http://schemas.openxmlformats.org/drawingml/2006/main" noGrp="1"/>
          </p:cNvSpPr>
          <p:nvPr/>
        </p:nvSpPr>
        <p:spPr>
          <a:xfrm xmlns:a="http://schemas.openxmlformats.org/drawingml/2006/main">
            <a:off x="11049000" y="63150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D9E3EA"/>
                </a:solidFill>
                <a:latin typeface="Arial"/>
                <a:ea typeface="Arial"/>
                <a:cs typeface="Arial"/>
              </a:defRPr>
            </a:pPr>
            <a:r>
              <a:rPr sz="1050" b="1" i="0">
                <a:solidFill>
                  <a:srgbClr val="D9E3EA"/>
                </a:solidFill>
                <a:latin typeface="Arial"/>
                <a:ea typeface="Arial"/>
                <a:cs typeface="Arial"/>
              </a:rPr>
              <a:t>07</a:t>
            </a:r>
          </a:p>
        </p:txBody>
      </p:sp>
    </p:spTree>
    <p:extLst>
      <p:ext uri="{BB962C8B-B14F-4D97-AF65-F5344CB8AC3E}">
        <p14:creationId xmlns:p14="http://schemas.microsoft.com/office/powerpoint/2010/main" val="17475308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2026-09-23T00:45:03.8530000Z</dcterms:created>
  <dcterms:modified xsi:type="dcterms:W3CDTF">2026-09-23T00:45:03.8530000Z</dcterms:modified>
</coreProperties>
</file>